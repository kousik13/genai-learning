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3354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05840" cy="658368"/>
          </a:xfrm>
          <a:prstGeom prst="rect">
            <a:avLst/>
          </a:prstGeom>
          <a:solidFill>
            <a:srgbClr val="4E9AF1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9728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Agents &amp; Tool Calling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589520" y="91440"/>
            <a:ext cx="1417320" cy="475488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0" y="9144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Training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4592" y="749808"/>
            <a:ext cx="5285232" cy="950976"/>
          </a:xfrm>
          <a:prstGeom prst="rect">
            <a:avLst/>
          </a:prstGeom>
          <a:solidFill>
            <a:srgbClr val="132338"/>
          </a:solidFill>
          <a:ln w="10160">
            <a:solidFill>
              <a:srgbClr val="1C33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749808"/>
            <a:ext cx="64008" cy="950976"/>
          </a:xfrm>
          <a:prstGeom prst="rect">
            <a:avLst/>
          </a:prstGeom>
          <a:solidFill>
            <a:srgbClr val="4E9AF1"/>
          </a:solidFill>
          <a:ln w="12700">
            <a:solidFill>
              <a:srgbClr val="4E9AF1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752" y="978408"/>
            <a:ext cx="310896" cy="31089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13232" y="8412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E9A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Agent Fundamentals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13232" y="1115568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AI Agent: intelligent autonomous system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Components: reasoning loop, tool access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538728" y="1024128"/>
            <a:ext cx="1847088" cy="320040"/>
          </a:xfrm>
          <a:prstGeom prst="rect">
            <a:avLst/>
          </a:prstGeom>
          <a:solidFill>
            <a:srgbClr val="1C3354"/>
          </a:solidFill>
          <a:ln w="8890">
            <a:solidFill>
              <a:srgbClr val="007F8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538728" y="1024128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of autonomous AI systems</a:t>
            </a:r>
            <a:endParaRPr lang="en-US" sz="760" dirty="0"/>
          </a:p>
        </p:txBody>
      </p:sp>
      <p:sp>
        <p:nvSpPr>
          <p:cNvPr id="15" name="Shape 12"/>
          <p:cNvSpPr/>
          <p:nvPr/>
        </p:nvSpPr>
        <p:spPr>
          <a:xfrm>
            <a:off x="164592" y="1755648"/>
            <a:ext cx="5285232" cy="950976"/>
          </a:xfrm>
          <a:prstGeom prst="rect">
            <a:avLst/>
          </a:prstGeom>
          <a:solidFill>
            <a:srgbClr val="132338"/>
          </a:solidFill>
          <a:ln w="10160">
            <a:solidFill>
              <a:srgbClr val="1C335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64592" y="1755648"/>
            <a:ext cx="64008" cy="950976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" y="1984248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13232" y="18470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Making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713232" y="2121408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&amp; Reasoning: breaking down complex tasks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Execution: step-by-step autonomy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3538728" y="2029968"/>
            <a:ext cx="1847088" cy="320040"/>
          </a:xfrm>
          <a:prstGeom prst="rect">
            <a:avLst/>
          </a:prstGeom>
          <a:solidFill>
            <a:srgbClr val="1C3354"/>
          </a:solidFill>
          <a:ln w="8890">
            <a:solidFill>
              <a:srgbClr val="007F85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538728" y="2029968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intelligent action selection</a:t>
            </a:r>
            <a:endParaRPr lang="en-US" sz="760" dirty="0"/>
          </a:p>
        </p:txBody>
      </p:sp>
      <p:sp>
        <p:nvSpPr>
          <p:cNvPr id="22" name="Shape 18"/>
          <p:cNvSpPr/>
          <p:nvPr/>
        </p:nvSpPr>
        <p:spPr>
          <a:xfrm>
            <a:off x="164592" y="2761488"/>
            <a:ext cx="5285232" cy="950976"/>
          </a:xfrm>
          <a:prstGeom prst="rect">
            <a:avLst/>
          </a:prstGeom>
          <a:solidFill>
            <a:srgbClr val="132338"/>
          </a:solidFill>
          <a:ln w="10160">
            <a:solidFill>
              <a:srgbClr val="1C3354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64592" y="2761488"/>
            <a:ext cx="64008" cy="950976"/>
          </a:xfrm>
          <a:prstGeom prst="rect">
            <a:avLst/>
          </a:prstGeom>
          <a:solidFill>
            <a:srgbClr val="4E9AF1"/>
          </a:solidFill>
          <a:ln w="12700">
            <a:solidFill>
              <a:srgbClr val="4E9AF1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" y="2990088"/>
            <a:ext cx="310896" cy="31089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13232" y="28529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E9A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 Integration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713232" y="3127248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 &amp; Function Calling: LLM → external functions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Tool Usage: APIs, databases, services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3538728" y="3035808"/>
            <a:ext cx="1847088" cy="320040"/>
          </a:xfrm>
          <a:prstGeom prst="rect">
            <a:avLst/>
          </a:prstGeom>
          <a:solidFill>
            <a:srgbClr val="1C3354"/>
          </a:solidFill>
          <a:ln w="8890">
            <a:solidFill>
              <a:srgbClr val="007F85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3538728" y="3035808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AI beyond text generation</a:t>
            </a:r>
            <a:endParaRPr lang="en-US" sz="760" dirty="0"/>
          </a:p>
        </p:txBody>
      </p:sp>
      <p:sp>
        <p:nvSpPr>
          <p:cNvPr id="29" name="Shape 24"/>
          <p:cNvSpPr/>
          <p:nvPr/>
        </p:nvSpPr>
        <p:spPr>
          <a:xfrm>
            <a:off x="164592" y="3767328"/>
            <a:ext cx="5285232" cy="950976"/>
          </a:xfrm>
          <a:prstGeom prst="rect">
            <a:avLst/>
          </a:prstGeom>
          <a:solidFill>
            <a:srgbClr val="132338"/>
          </a:solidFill>
          <a:ln w="10160">
            <a:solidFill>
              <a:srgbClr val="1C3354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164592" y="3767328"/>
            <a:ext cx="64008" cy="95097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2" y="3995928"/>
            <a:ext cx="310896" cy="310896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13232" y="38587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Intelligence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713232" y="4133088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Basics: conversation history &amp; state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ReAct: Reasoning + Acting framework</a:t>
            </a:r>
            <a:endParaRPr lang="en-US" sz="850" dirty="0"/>
          </a:p>
        </p:txBody>
      </p:sp>
      <p:sp>
        <p:nvSpPr>
          <p:cNvPr id="34" name="Shape 28"/>
          <p:cNvSpPr/>
          <p:nvPr/>
        </p:nvSpPr>
        <p:spPr>
          <a:xfrm>
            <a:off x="3538728" y="4041648"/>
            <a:ext cx="1847088" cy="320040"/>
          </a:xfrm>
          <a:prstGeom prst="rect">
            <a:avLst/>
          </a:prstGeom>
          <a:solidFill>
            <a:srgbClr val="1C3354"/>
          </a:solidFill>
          <a:ln w="8890">
            <a:solidFill>
              <a:srgbClr val="007F85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3538728" y="4041648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Stateful, contextual decision-making</a:t>
            </a:r>
            <a:endParaRPr lang="en-US" sz="760" dirty="0"/>
          </a:p>
        </p:txBody>
      </p:sp>
      <p:sp>
        <p:nvSpPr>
          <p:cNvPr id="36" name="Shape 30"/>
          <p:cNvSpPr/>
          <p:nvPr/>
        </p:nvSpPr>
        <p:spPr>
          <a:xfrm>
            <a:off x="5614416" y="749808"/>
            <a:ext cx="3364992" cy="4315968"/>
          </a:xfrm>
          <a:prstGeom prst="rect">
            <a:avLst/>
          </a:prstGeom>
          <a:solidFill>
            <a:srgbClr val="132338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5614416" y="804672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4E9A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FLOW ARCHITECTURE</a:t>
            </a:r>
            <a:endParaRPr lang="en-US" sz="850" dirty="0"/>
          </a:p>
        </p:txBody>
      </p:sp>
      <p:sp>
        <p:nvSpPr>
          <p:cNvPr id="38" name="Shape 32"/>
          <p:cNvSpPr/>
          <p:nvPr/>
        </p:nvSpPr>
        <p:spPr>
          <a:xfrm>
            <a:off x="5971032" y="1133856"/>
            <a:ext cx="2651760" cy="438912"/>
          </a:xfrm>
          <a:prstGeom prst="rect">
            <a:avLst/>
          </a:prstGeom>
          <a:solidFill>
            <a:srgbClr val="1C3354"/>
          </a:solidFill>
          <a:ln w="19050">
            <a:solidFill>
              <a:srgbClr val="F4A727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28000"/>
              </a:srgbClr>
            </a:outerShdw>
          </a:effectLst>
        </p:spPr>
      </p:sp>
      <p:sp>
        <p:nvSpPr>
          <p:cNvPr id="39" name="Shape 33"/>
          <p:cNvSpPr/>
          <p:nvPr/>
        </p:nvSpPr>
        <p:spPr>
          <a:xfrm>
            <a:off x="5952744" y="1271016"/>
            <a:ext cx="164592" cy="164592"/>
          </a:xfrm>
          <a:prstGeom prst="ellipse">
            <a:avLst/>
          </a:prstGeom>
          <a:solidFill>
            <a:srgbClr val="F4A727"/>
          </a:solidFill>
          <a:ln w="12700">
            <a:solidFill>
              <a:srgbClr val="F4A727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6172200" y="1170432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Query</a:t>
            </a:r>
            <a:endParaRPr lang="en-US" sz="950" dirty="0"/>
          </a:p>
        </p:txBody>
      </p:sp>
      <p:sp>
        <p:nvSpPr>
          <p:cNvPr id="41" name="Text 35"/>
          <p:cNvSpPr/>
          <p:nvPr/>
        </p:nvSpPr>
        <p:spPr>
          <a:xfrm>
            <a:off x="6172200" y="1380744"/>
            <a:ext cx="24140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input</a:t>
            </a:r>
            <a:endParaRPr lang="en-US" sz="760" dirty="0"/>
          </a:p>
        </p:txBody>
      </p:sp>
      <p:sp>
        <p:nvSpPr>
          <p:cNvPr id="42" name="Shape 36"/>
          <p:cNvSpPr/>
          <p:nvPr/>
        </p:nvSpPr>
        <p:spPr>
          <a:xfrm>
            <a:off x="7269480" y="1572768"/>
            <a:ext cx="54864" cy="91440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43" name="Shape 37"/>
          <p:cNvSpPr/>
          <p:nvPr/>
        </p:nvSpPr>
        <p:spPr>
          <a:xfrm>
            <a:off x="5971032" y="1700784"/>
            <a:ext cx="2651760" cy="438912"/>
          </a:xfrm>
          <a:prstGeom prst="rect">
            <a:avLst/>
          </a:prstGeom>
          <a:solidFill>
            <a:srgbClr val="1C3354"/>
          </a:solidFill>
          <a:ln w="19050">
            <a:solidFill>
              <a:srgbClr val="4E9AF1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28000"/>
              </a:srgbClr>
            </a:outerShdw>
          </a:effectLst>
        </p:spPr>
      </p:sp>
      <p:sp>
        <p:nvSpPr>
          <p:cNvPr id="44" name="Shape 38"/>
          <p:cNvSpPr/>
          <p:nvPr/>
        </p:nvSpPr>
        <p:spPr>
          <a:xfrm>
            <a:off x="5952744" y="1837944"/>
            <a:ext cx="164592" cy="164592"/>
          </a:xfrm>
          <a:prstGeom prst="ellipse">
            <a:avLst/>
          </a:prstGeom>
          <a:solidFill>
            <a:srgbClr val="4E9AF1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6172200" y="1737360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Processing</a:t>
            </a:r>
            <a:endParaRPr lang="en-US" sz="950" dirty="0"/>
          </a:p>
        </p:txBody>
      </p:sp>
      <p:sp>
        <p:nvSpPr>
          <p:cNvPr id="46" name="Text 40"/>
          <p:cNvSpPr/>
          <p:nvPr/>
        </p:nvSpPr>
        <p:spPr>
          <a:xfrm>
            <a:off x="6172200" y="1947672"/>
            <a:ext cx="24140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&amp; planning</a:t>
            </a:r>
            <a:endParaRPr lang="en-US" sz="760" dirty="0"/>
          </a:p>
        </p:txBody>
      </p:sp>
      <p:sp>
        <p:nvSpPr>
          <p:cNvPr id="47" name="Shape 41"/>
          <p:cNvSpPr/>
          <p:nvPr/>
        </p:nvSpPr>
        <p:spPr>
          <a:xfrm>
            <a:off x="7269480" y="2139696"/>
            <a:ext cx="54864" cy="91440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48" name="Shape 42"/>
          <p:cNvSpPr/>
          <p:nvPr/>
        </p:nvSpPr>
        <p:spPr>
          <a:xfrm>
            <a:off x="5971032" y="2267712"/>
            <a:ext cx="2651760" cy="438912"/>
          </a:xfrm>
          <a:prstGeom prst="rect">
            <a:avLst/>
          </a:prstGeom>
          <a:solidFill>
            <a:srgbClr val="1C3354"/>
          </a:solidFill>
          <a:ln w="19050">
            <a:solidFill>
              <a:srgbClr val="00C2CB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28000"/>
              </a:srgbClr>
            </a:outerShdw>
          </a:effectLst>
        </p:spPr>
      </p:sp>
      <p:sp>
        <p:nvSpPr>
          <p:cNvPr id="49" name="Shape 43"/>
          <p:cNvSpPr/>
          <p:nvPr/>
        </p:nvSpPr>
        <p:spPr>
          <a:xfrm>
            <a:off x="5952744" y="2404872"/>
            <a:ext cx="164592" cy="164592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50" name="Text 44"/>
          <p:cNvSpPr/>
          <p:nvPr/>
        </p:nvSpPr>
        <p:spPr>
          <a:xfrm>
            <a:off x="6172200" y="2304288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Reasoning Loop</a:t>
            </a:r>
            <a:endParaRPr lang="en-US" sz="950" dirty="0"/>
          </a:p>
        </p:txBody>
      </p:sp>
      <p:sp>
        <p:nvSpPr>
          <p:cNvPr id="51" name="Text 45"/>
          <p:cNvSpPr/>
          <p:nvPr/>
        </p:nvSpPr>
        <p:spPr>
          <a:xfrm>
            <a:off x="6172200" y="2514600"/>
            <a:ext cx="24140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 → Action → Result</a:t>
            </a:r>
            <a:endParaRPr lang="en-US" sz="760" dirty="0"/>
          </a:p>
        </p:txBody>
      </p:sp>
      <p:sp>
        <p:nvSpPr>
          <p:cNvPr id="52" name="Shape 46"/>
          <p:cNvSpPr/>
          <p:nvPr/>
        </p:nvSpPr>
        <p:spPr>
          <a:xfrm>
            <a:off x="7269480" y="2706624"/>
            <a:ext cx="54864" cy="91440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53" name="Shape 47"/>
          <p:cNvSpPr/>
          <p:nvPr/>
        </p:nvSpPr>
        <p:spPr>
          <a:xfrm>
            <a:off x="5971032" y="2834640"/>
            <a:ext cx="2651760" cy="438912"/>
          </a:xfrm>
          <a:prstGeom prst="rect">
            <a:avLst/>
          </a:prstGeom>
          <a:solidFill>
            <a:srgbClr val="1C3354"/>
          </a:solidFill>
          <a:ln w="19050">
            <a:solidFill>
              <a:srgbClr val="29B6A8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28000"/>
              </a:srgbClr>
            </a:outerShdw>
          </a:effectLst>
        </p:spPr>
      </p:sp>
      <p:sp>
        <p:nvSpPr>
          <p:cNvPr id="54" name="Shape 48"/>
          <p:cNvSpPr/>
          <p:nvPr/>
        </p:nvSpPr>
        <p:spPr>
          <a:xfrm>
            <a:off x="5952744" y="2971800"/>
            <a:ext cx="164592" cy="164592"/>
          </a:xfrm>
          <a:prstGeom prst="ellipse">
            <a:avLst/>
          </a:prstGeom>
          <a:solidFill>
            <a:srgbClr val="29B6A8"/>
          </a:solidFill>
          <a:ln w="12700">
            <a:solidFill>
              <a:srgbClr val="29B6A8"/>
            </a:solidFill>
            <a:prstDash val="solid"/>
          </a:ln>
        </p:spPr>
      </p:sp>
      <p:sp>
        <p:nvSpPr>
          <p:cNvPr id="55" name="Text 49"/>
          <p:cNvSpPr/>
          <p:nvPr/>
        </p:nvSpPr>
        <p:spPr>
          <a:xfrm>
            <a:off x="6172200" y="2871216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 Selection</a:t>
            </a:r>
            <a:endParaRPr lang="en-US" sz="950" dirty="0"/>
          </a:p>
        </p:txBody>
      </p:sp>
      <p:sp>
        <p:nvSpPr>
          <p:cNvPr id="56" name="Text 50"/>
          <p:cNvSpPr/>
          <p:nvPr/>
        </p:nvSpPr>
        <p:spPr>
          <a:xfrm>
            <a:off x="6172200" y="3081528"/>
            <a:ext cx="24140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tool to call?</a:t>
            </a:r>
            <a:endParaRPr lang="en-US" sz="760" dirty="0"/>
          </a:p>
        </p:txBody>
      </p:sp>
      <p:sp>
        <p:nvSpPr>
          <p:cNvPr id="57" name="Shape 51"/>
          <p:cNvSpPr/>
          <p:nvPr/>
        </p:nvSpPr>
        <p:spPr>
          <a:xfrm>
            <a:off x="7269480" y="3273552"/>
            <a:ext cx="54864" cy="91440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58" name="Shape 52"/>
          <p:cNvSpPr/>
          <p:nvPr/>
        </p:nvSpPr>
        <p:spPr>
          <a:xfrm>
            <a:off x="5971032" y="3401568"/>
            <a:ext cx="2651760" cy="438912"/>
          </a:xfrm>
          <a:prstGeom prst="rect">
            <a:avLst/>
          </a:prstGeom>
          <a:solidFill>
            <a:srgbClr val="1C3354"/>
          </a:solidFill>
          <a:ln w="19050">
            <a:solidFill>
              <a:srgbClr val="F4A727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28000"/>
              </a:srgbClr>
            </a:outerShdw>
          </a:effectLst>
        </p:spPr>
      </p:sp>
      <p:sp>
        <p:nvSpPr>
          <p:cNvPr id="59" name="Shape 53"/>
          <p:cNvSpPr/>
          <p:nvPr/>
        </p:nvSpPr>
        <p:spPr>
          <a:xfrm>
            <a:off x="5952744" y="3538728"/>
            <a:ext cx="164592" cy="164592"/>
          </a:xfrm>
          <a:prstGeom prst="ellipse">
            <a:avLst/>
          </a:prstGeom>
          <a:solidFill>
            <a:srgbClr val="F4A727"/>
          </a:solidFill>
          <a:ln w="12700">
            <a:solidFill>
              <a:srgbClr val="F4A727"/>
            </a:solidFill>
            <a:prstDash val="solid"/>
          </a:ln>
        </p:spPr>
      </p:sp>
      <p:sp>
        <p:nvSpPr>
          <p:cNvPr id="60" name="Text 54"/>
          <p:cNvSpPr/>
          <p:nvPr/>
        </p:nvSpPr>
        <p:spPr>
          <a:xfrm>
            <a:off x="6172200" y="3438144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 Execution</a:t>
            </a:r>
            <a:endParaRPr lang="en-US" sz="950" dirty="0"/>
          </a:p>
        </p:txBody>
      </p:sp>
      <p:sp>
        <p:nvSpPr>
          <p:cNvPr id="61" name="Text 55"/>
          <p:cNvSpPr/>
          <p:nvPr/>
        </p:nvSpPr>
        <p:spPr>
          <a:xfrm>
            <a:off x="6172200" y="3648456"/>
            <a:ext cx="24140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Calculator / Search / API</a:t>
            </a:r>
            <a:endParaRPr lang="en-US" sz="760" dirty="0"/>
          </a:p>
        </p:txBody>
      </p:sp>
      <p:sp>
        <p:nvSpPr>
          <p:cNvPr id="62" name="Shape 56"/>
          <p:cNvSpPr/>
          <p:nvPr/>
        </p:nvSpPr>
        <p:spPr>
          <a:xfrm>
            <a:off x="7269480" y="3840480"/>
            <a:ext cx="54864" cy="91440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63" name="Shape 57"/>
          <p:cNvSpPr/>
          <p:nvPr/>
        </p:nvSpPr>
        <p:spPr>
          <a:xfrm>
            <a:off x="5971032" y="3968496"/>
            <a:ext cx="2651760" cy="438912"/>
          </a:xfrm>
          <a:prstGeom prst="rect">
            <a:avLst/>
          </a:prstGeom>
          <a:solidFill>
            <a:srgbClr val="1C3354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28000"/>
              </a:srgbClr>
            </a:outerShdw>
          </a:effectLst>
        </p:spPr>
      </p:sp>
      <p:sp>
        <p:nvSpPr>
          <p:cNvPr id="64" name="Shape 58"/>
          <p:cNvSpPr/>
          <p:nvPr/>
        </p:nvSpPr>
        <p:spPr>
          <a:xfrm>
            <a:off x="5952744" y="4105656"/>
            <a:ext cx="164592" cy="16459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5" name="Text 59"/>
          <p:cNvSpPr/>
          <p:nvPr/>
        </p:nvSpPr>
        <p:spPr>
          <a:xfrm>
            <a:off x="6172200" y="4005072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Response Generation</a:t>
            </a:r>
            <a:endParaRPr lang="en-US" sz="950" dirty="0"/>
          </a:p>
        </p:txBody>
      </p:sp>
      <p:sp>
        <p:nvSpPr>
          <p:cNvPr id="66" name="Text 60"/>
          <p:cNvSpPr/>
          <p:nvPr/>
        </p:nvSpPr>
        <p:spPr>
          <a:xfrm>
            <a:off x="6172200" y="4215384"/>
            <a:ext cx="24140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Synthesised answer to user</a:t>
            </a:r>
            <a:endParaRPr lang="en-US" sz="760" dirty="0"/>
          </a:p>
        </p:txBody>
      </p:sp>
      <p:sp>
        <p:nvSpPr>
          <p:cNvPr id="67" name="Shape 61"/>
          <p:cNvSpPr/>
          <p:nvPr/>
        </p:nvSpPr>
        <p:spPr>
          <a:xfrm>
            <a:off x="5815584" y="4663440"/>
            <a:ext cx="2706624" cy="237744"/>
          </a:xfrm>
          <a:prstGeom prst="rect">
            <a:avLst/>
          </a:prstGeom>
          <a:solidFill>
            <a:srgbClr val="4E9AF1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68" name="Text 62"/>
          <p:cNvSpPr/>
          <p:nvPr/>
        </p:nvSpPr>
        <p:spPr>
          <a:xfrm>
            <a:off x="5815584" y="4663440"/>
            <a:ext cx="2706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Autonomous · Tool-Augmented · Intelligent Response</a:t>
            </a:r>
            <a:endParaRPr lang="en-US" sz="780" dirty="0"/>
          </a:p>
        </p:txBody>
      </p:sp>
      <p:sp>
        <p:nvSpPr>
          <p:cNvPr id="69" name="Text 6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Engineering Training Series  ·  Session 4 of 5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3354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05840" cy="658368"/>
          </a:xfrm>
          <a:prstGeom prst="rect">
            <a:avLst/>
          </a:prstGeom>
          <a:solidFill>
            <a:srgbClr val="F4A727"/>
          </a:solidFill>
          <a:ln w="12700">
            <a:solidFill>
              <a:srgbClr val="F4A7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9728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Practical Labs &amp; Hands-On Learning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589520" y="91440"/>
            <a:ext cx="1417320" cy="475488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0" y="9144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Training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4592" y="749808"/>
            <a:ext cx="4279392" cy="1298448"/>
          </a:xfrm>
          <a:prstGeom prst="rect">
            <a:avLst/>
          </a:prstGeom>
          <a:solidFill>
            <a:srgbClr val="132338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749808"/>
            <a:ext cx="4279392" cy="256032"/>
          </a:xfrm>
          <a:prstGeom prst="rect">
            <a:avLst/>
          </a:prstGeom>
          <a:solidFill>
            <a:srgbClr val="1C3354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592" y="749808"/>
            <a:ext cx="566928" cy="256032"/>
          </a:xfrm>
          <a:prstGeom prst="rect">
            <a:avLst/>
          </a:prstGeom>
          <a:solidFill>
            <a:srgbClr val="4E9AF1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" y="74980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 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86384" y="749808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Calculator Tool</a:t>
            </a:r>
            <a:endParaRPr lang="en-US" sz="10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152144"/>
            <a:ext cx="292608" cy="29260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03504" y="1060704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4E9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 </a:t>
            </a:r>
            <a:pPr indent="0" marL="0">
              <a:buNone/>
            </a:pPr>
            <a:r>
              <a:rPr lang="en-US" sz="88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tool that performs arithmetic operations
</a:t>
            </a:r>
            <a:pPr indent="0" marL="0">
              <a:buNone/>
            </a:pPr>
            <a:r>
              <a:rPr lang="en-US" sz="880" b="1" dirty="0">
                <a:solidFill>
                  <a:srgbClr val="4E9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Implemented:  </a:t>
            </a:r>
            <a:pPr indent="0" marL="0">
              <a:buNone/>
            </a:pPr>
            <a:r>
              <a:rPr lang="en-US" sz="88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definition · parameter parsing · result return
</a:t>
            </a:r>
            <a:pPr indent="0" marL="0">
              <a:buNone/>
            </a:pPr>
            <a:r>
              <a:rPr lang="en-US" sz="880" dirty="0">
                <a:solidFill>
                  <a:srgbClr val="F4A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Key Learning:  </a:t>
            </a:r>
            <a:pPr indent="0" marL="0">
              <a:buNone/>
            </a:pPr>
            <a:r>
              <a:rPr lang="en-US" sz="880" i="1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= LLM-callable function with defined schema</a:t>
            </a:r>
            <a:endParaRPr lang="en-US" sz="880" dirty="0"/>
          </a:p>
        </p:txBody>
      </p:sp>
      <p:sp>
        <p:nvSpPr>
          <p:cNvPr id="15" name="Shape 12"/>
          <p:cNvSpPr/>
          <p:nvPr/>
        </p:nvSpPr>
        <p:spPr>
          <a:xfrm>
            <a:off x="164592" y="2167128"/>
            <a:ext cx="4279392" cy="1298448"/>
          </a:xfrm>
          <a:prstGeom prst="rect">
            <a:avLst/>
          </a:prstGeom>
          <a:solidFill>
            <a:srgbClr val="132338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64592" y="2167128"/>
            <a:ext cx="4279392" cy="256032"/>
          </a:xfrm>
          <a:prstGeom prst="rect">
            <a:avLst/>
          </a:prstGeom>
          <a:solidFill>
            <a:srgbClr val="1C3354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64592" y="2167128"/>
            <a:ext cx="566928" cy="25603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64592" y="216712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 2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786384" y="2167128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Search Tool</a:t>
            </a:r>
            <a:endParaRPr lang="en-US" sz="105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2569464"/>
            <a:ext cx="292608" cy="29260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03504" y="2478024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 </a:t>
            </a:r>
            <a:pPr indent="0" marL="0">
              <a:buNone/>
            </a:pPr>
            <a:r>
              <a:rPr lang="en-US" sz="88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information from a knowledge source
</a:t>
            </a:r>
            <a:pPr indent="0" marL="0">
              <a:buNone/>
            </a:pPr>
            <a:r>
              <a:rPr lang="en-US" sz="88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Implemented:  </a:t>
            </a:r>
            <a:pPr indent="0" marL="0">
              <a:buNone/>
            </a:pPr>
            <a:r>
              <a:rPr lang="en-US" sz="88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processing · knowledge base search · ranking
</a:t>
            </a:r>
            <a:pPr indent="0" marL="0">
              <a:buNone/>
            </a:pPr>
            <a:r>
              <a:rPr lang="en-US" sz="880" dirty="0">
                <a:solidFill>
                  <a:srgbClr val="F4A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Key Learning:  </a:t>
            </a:r>
            <a:pPr indent="0" marL="0">
              <a:buNone/>
            </a:pPr>
            <a:r>
              <a:rPr lang="en-US" sz="880" i="1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extend agents beyond model knowledge</a:t>
            </a:r>
            <a:endParaRPr lang="en-US" sz="880" dirty="0"/>
          </a:p>
        </p:txBody>
      </p:sp>
      <p:sp>
        <p:nvSpPr>
          <p:cNvPr id="22" name="Shape 18"/>
          <p:cNvSpPr/>
          <p:nvPr/>
        </p:nvSpPr>
        <p:spPr>
          <a:xfrm>
            <a:off x="164592" y="3584448"/>
            <a:ext cx="4279392" cy="1298448"/>
          </a:xfrm>
          <a:prstGeom prst="rect">
            <a:avLst/>
          </a:prstGeom>
          <a:solidFill>
            <a:srgbClr val="132338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64592" y="3584448"/>
            <a:ext cx="4279392" cy="256032"/>
          </a:xfrm>
          <a:prstGeom prst="rect">
            <a:avLst/>
          </a:prstGeom>
          <a:solidFill>
            <a:srgbClr val="1C3354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164592" y="3584448"/>
            <a:ext cx="566928" cy="256032"/>
          </a:xfrm>
          <a:prstGeom prst="rect">
            <a:avLst/>
          </a:prstGeom>
          <a:solidFill>
            <a:srgbClr val="F4A727"/>
          </a:solidFill>
          <a:ln w="12700">
            <a:solidFill>
              <a:srgbClr val="F4A727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164592" y="358444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 3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786384" y="3584448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Multi-Tool Agent</a:t>
            </a:r>
            <a:endParaRPr lang="en-US" sz="1050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3986784"/>
            <a:ext cx="292608" cy="29260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03504" y="3895344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4A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 </a:t>
            </a:r>
            <a:pPr indent="0" marL="0">
              <a:buNone/>
            </a:pPr>
            <a:r>
              <a:rPr lang="en-US" sz="88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agent that selects appropriate tools by intent
</a:t>
            </a:r>
            <a:pPr indent="0" marL="0">
              <a:buNone/>
            </a:pPr>
            <a:r>
              <a:rPr lang="en-US" sz="880" b="1" dirty="0">
                <a:solidFill>
                  <a:srgbClr val="F4A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Implemented:  </a:t>
            </a:r>
            <a:pPr indent="0" marL="0">
              <a:buNone/>
            </a:pPr>
            <a:r>
              <a:rPr lang="en-US" sz="88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detection · tool selection logic · execution flow
</a:t>
            </a:r>
            <a:pPr indent="0" marL="0">
              <a:buNone/>
            </a:pPr>
            <a:r>
              <a:rPr lang="en-US" sz="880" dirty="0">
                <a:solidFill>
                  <a:srgbClr val="F4A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Key Learning:  </a:t>
            </a:r>
            <a:pPr indent="0" marL="0">
              <a:buNone/>
            </a:pPr>
            <a:r>
              <a:rPr lang="en-US" sz="880" i="1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reasoning decides which tool solves the task</a:t>
            </a:r>
            <a:endParaRPr lang="en-US" sz="880" dirty="0"/>
          </a:p>
        </p:txBody>
      </p:sp>
      <p:sp>
        <p:nvSpPr>
          <p:cNvPr id="29" name="Shape 24"/>
          <p:cNvSpPr/>
          <p:nvPr/>
        </p:nvSpPr>
        <p:spPr>
          <a:xfrm>
            <a:off x="164592" y="4663440"/>
            <a:ext cx="1956816" cy="237744"/>
          </a:xfrm>
          <a:prstGeom prst="rect">
            <a:avLst/>
          </a:prstGeom>
          <a:solidFill>
            <a:srgbClr val="1C3354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164592" y="4663440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E9A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 Integration</a:t>
            </a:r>
            <a:endParaRPr lang="en-US" sz="750" dirty="0"/>
          </a:p>
        </p:txBody>
      </p:sp>
      <p:sp>
        <p:nvSpPr>
          <p:cNvPr id="31" name="Shape 26"/>
          <p:cNvSpPr/>
          <p:nvPr/>
        </p:nvSpPr>
        <p:spPr>
          <a:xfrm>
            <a:off x="2212848" y="4663440"/>
            <a:ext cx="1956816" cy="237744"/>
          </a:xfrm>
          <a:prstGeom prst="rect">
            <a:avLst/>
          </a:prstGeom>
          <a:solidFill>
            <a:srgbClr val="1C3354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2212848" y="4663440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Decision-Making</a:t>
            </a:r>
            <a:endParaRPr lang="en-US" sz="750" dirty="0"/>
          </a:p>
        </p:txBody>
      </p:sp>
      <p:sp>
        <p:nvSpPr>
          <p:cNvPr id="33" name="Shape 28"/>
          <p:cNvSpPr/>
          <p:nvPr/>
        </p:nvSpPr>
        <p:spPr>
          <a:xfrm>
            <a:off x="4261104" y="4663440"/>
            <a:ext cx="1956816" cy="237744"/>
          </a:xfrm>
          <a:prstGeom prst="rect">
            <a:avLst/>
          </a:prstGeom>
          <a:solidFill>
            <a:srgbClr val="1C3354"/>
          </a:solidFill>
          <a:ln w="12700">
            <a:solidFill>
              <a:srgbClr val="F4A727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4261104" y="4663440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A7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Dynamic Task Execution</a:t>
            </a:r>
            <a:endParaRPr lang="en-US" sz="750" dirty="0"/>
          </a:p>
        </p:txBody>
      </p:sp>
      <p:sp>
        <p:nvSpPr>
          <p:cNvPr id="35" name="Shape 30"/>
          <p:cNvSpPr/>
          <p:nvPr/>
        </p:nvSpPr>
        <p:spPr>
          <a:xfrm>
            <a:off x="6309360" y="4663440"/>
            <a:ext cx="1956816" cy="237744"/>
          </a:xfrm>
          <a:prstGeom prst="rect">
            <a:avLst/>
          </a:prstGeom>
          <a:solidFill>
            <a:srgbClr val="1C3354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6309360" y="4663440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Multi-Tool Orchestration</a:t>
            </a:r>
            <a:endParaRPr lang="en-US" sz="750" dirty="0"/>
          </a:p>
        </p:txBody>
      </p:sp>
      <p:sp>
        <p:nvSpPr>
          <p:cNvPr id="37" name="Shape 32"/>
          <p:cNvSpPr/>
          <p:nvPr/>
        </p:nvSpPr>
        <p:spPr>
          <a:xfrm>
            <a:off x="4608576" y="749808"/>
            <a:ext cx="4370832" cy="3858768"/>
          </a:xfrm>
          <a:prstGeom prst="rect">
            <a:avLst/>
          </a:prstGeom>
          <a:solidFill>
            <a:srgbClr val="132338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4608576" y="804672"/>
            <a:ext cx="43708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4E9A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DECISION FLOW</a:t>
            </a:r>
            <a:endParaRPr lang="en-US" sz="850" dirty="0"/>
          </a:p>
        </p:txBody>
      </p:sp>
      <p:sp>
        <p:nvSpPr>
          <p:cNvPr id="39" name="Shape 34"/>
          <p:cNvSpPr/>
          <p:nvPr/>
        </p:nvSpPr>
        <p:spPr>
          <a:xfrm>
            <a:off x="5230368" y="1115568"/>
            <a:ext cx="3127248" cy="438912"/>
          </a:xfrm>
          <a:prstGeom prst="rect">
            <a:avLst/>
          </a:prstGeom>
          <a:solidFill>
            <a:srgbClr val="1C3354"/>
          </a:solidFill>
          <a:ln w="19050">
            <a:solidFill>
              <a:srgbClr val="F4A727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28000"/>
              </a:srgbClr>
            </a:outerShdw>
          </a:effectLst>
        </p:spPr>
      </p:sp>
      <p:sp>
        <p:nvSpPr>
          <p:cNvPr id="40" name="Shape 35"/>
          <p:cNvSpPr/>
          <p:nvPr/>
        </p:nvSpPr>
        <p:spPr>
          <a:xfrm>
            <a:off x="5212080" y="1252728"/>
            <a:ext cx="164592" cy="164592"/>
          </a:xfrm>
          <a:prstGeom prst="ellipse">
            <a:avLst/>
          </a:prstGeom>
          <a:solidFill>
            <a:srgbClr val="F4A727"/>
          </a:solidFill>
          <a:ln w="12700">
            <a:solidFill>
              <a:srgbClr val="F4A727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5449824" y="1152144"/>
            <a:ext cx="2871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Query</a:t>
            </a:r>
            <a:endParaRPr lang="en-US" sz="950" dirty="0"/>
          </a:p>
        </p:txBody>
      </p:sp>
      <p:sp>
        <p:nvSpPr>
          <p:cNvPr id="42" name="Text 37"/>
          <p:cNvSpPr/>
          <p:nvPr/>
        </p:nvSpPr>
        <p:spPr>
          <a:xfrm>
            <a:off x="5449824" y="1362456"/>
            <a:ext cx="28712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question</a:t>
            </a:r>
            <a:endParaRPr lang="en-US" sz="760" dirty="0"/>
          </a:p>
        </p:txBody>
      </p:sp>
      <p:sp>
        <p:nvSpPr>
          <p:cNvPr id="43" name="Shape 38"/>
          <p:cNvSpPr/>
          <p:nvPr/>
        </p:nvSpPr>
        <p:spPr>
          <a:xfrm>
            <a:off x="6766560" y="1554480"/>
            <a:ext cx="54864" cy="73152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5230368" y="1664208"/>
            <a:ext cx="3127248" cy="438912"/>
          </a:xfrm>
          <a:prstGeom prst="rect">
            <a:avLst/>
          </a:prstGeom>
          <a:solidFill>
            <a:srgbClr val="1C3354"/>
          </a:solidFill>
          <a:ln w="19050">
            <a:solidFill>
              <a:srgbClr val="4E9AF1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28000"/>
              </a:srgbClr>
            </a:outerShdw>
          </a:effectLst>
        </p:spPr>
      </p:sp>
      <p:sp>
        <p:nvSpPr>
          <p:cNvPr id="45" name="Shape 40"/>
          <p:cNvSpPr/>
          <p:nvPr/>
        </p:nvSpPr>
        <p:spPr>
          <a:xfrm>
            <a:off x="5212080" y="1801368"/>
            <a:ext cx="164592" cy="164592"/>
          </a:xfrm>
          <a:prstGeom prst="ellipse">
            <a:avLst/>
          </a:prstGeom>
          <a:solidFill>
            <a:srgbClr val="4E9AF1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5449824" y="1700784"/>
            <a:ext cx="2871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Analysis</a:t>
            </a:r>
            <a:endParaRPr lang="en-US" sz="950" dirty="0"/>
          </a:p>
        </p:txBody>
      </p:sp>
      <p:sp>
        <p:nvSpPr>
          <p:cNvPr id="47" name="Text 42"/>
          <p:cNvSpPr/>
          <p:nvPr/>
        </p:nvSpPr>
        <p:spPr>
          <a:xfrm>
            <a:off x="5449824" y="1911096"/>
            <a:ext cx="28712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intent? What goal?</a:t>
            </a:r>
            <a:endParaRPr lang="en-US" sz="760" dirty="0"/>
          </a:p>
        </p:txBody>
      </p:sp>
      <p:sp>
        <p:nvSpPr>
          <p:cNvPr id="48" name="Shape 43"/>
          <p:cNvSpPr/>
          <p:nvPr/>
        </p:nvSpPr>
        <p:spPr>
          <a:xfrm>
            <a:off x="6766560" y="2103120"/>
            <a:ext cx="54864" cy="73152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5230368" y="2212848"/>
            <a:ext cx="3127248" cy="438912"/>
          </a:xfrm>
          <a:prstGeom prst="rect">
            <a:avLst/>
          </a:prstGeom>
          <a:solidFill>
            <a:srgbClr val="1C3354"/>
          </a:solidFill>
          <a:ln w="19050">
            <a:solidFill>
              <a:srgbClr val="00C2CB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28000"/>
              </a:srgbClr>
            </a:outerShdw>
          </a:effectLst>
        </p:spPr>
      </p:sp>
      <p:sp>
        <p:nvSpPr>
          <p:cNvPr id="50" name="Shape 45"/>
          <p:cNvSpPr/>
          <p:nvPr/>
        </p:nvSpPr>
        <p:spPr>
          <a:xfrm>
            <a:off x="5212080" y="2350008"/>
            <a:ext cx="164592" cy="164592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5449824" y="2249424"/>
            <a:ext cx="2871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 Selection</a:t>
            </a:r>
            <a:endParaRPr lang="en-US" sz="950" dirty="0"/>
          </a:p>
        </p:txBody>
      </p:sp>
      <p:sp>
        <p:nvSpPr>
          <p:cNvPr id="52" name="Text 47"/>
          <p:cNvSpPr/>
          <p:nvPr/>
        </p:nvSpPr>
        <p:spPr>
          <a:xfrm>
            <a:off x="5449824" y="2459736"/>
            <a:ext cx="28712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Calculator vs Search</a:t>
            </a:r>
            <a:endParaRPr lang="en-US" sz="760" dirty="0"/>
          </a:p>
        </p:txBody>
      </p:sp>
      <p:sp>
        <p:nvSpPr>
          <p:cNvPr id="53" name="Shape 48"/>
          <p:cNvSpPr/>
          <p:nvPr/>
        </p:nvSpPr>
        <p:spPr>
          <a:xfrm>
            <a:off x="6766560" y="2651760"/>
            <a:ext cx="54864" cy="73152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54" name="Shape 49"/>
          <p:cNvSpPr/>
          <p:nvPr/>
        </p:nvSpPr>
        <p:spPr>
          <a:xfrm>
            <a:off x="5230368" y="2761488"/>
            <a:ext cx="3127248" cy="438912"/>
          </a:xfrm>
          <a:prstGeom prst="rect">
            <a:avLst/>
          </a:prstGeom>
          <a:solidFill>
            <a:srgbClr val="1C3354"/>
          </a:solidFill>
          <a:ln w="19050">
            <a:solidFill>
              <a:srgbClr val="29B6A8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28000"/>
              </a:srgbClr>
            </a:outerShdw>
          </a:effectLst>
        </p:spPr>
      </p:sp>
      <p:sp>
        <p:nvSpPr>
          <p:cNvPr id="55" name="Shape 50"/>
          <p:cNvSpPr/>
          <p:nvPr/>
        </p:nvSpPr>
        <p:spPr>
          <a:xfrm>
            <a:off x="5212080" y="2898648"/>
            <a:ext cx="164592" cy="164592"/>
          </a:xfrm>
          <a:prstGeom prst="ellipse">
            <a:avLst/>
          </a:prstGeom>
          <a:solidFill>
            <a:srgbClr val="29B6A8"/>
          </a:solidFill>
          <a:ln w="12700">
            <a:solidFill>
              <a:srgbClr val="29B6A8"/>
            </a:solidFill>
            <a:prstDash val="solid"/>
          </a:ln>
        </p:spPr>
      </p:sp>
      <p:sp>
        <p:nvSpPr>
          <p:cNvPr id="56" name="Text 51"/>
          <p:cNvSpPr/>
          <p:nvPr/>
        </p:nvSpPr>
        <p:spPr>
          <a:xfrm>
            <a:off x="5449824" y="2798064"/>
            <a:ext cx="2871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Parallel Execution</a:t>
            </a:r>
            <a:endParaRPr lang="en-US" sz="950" dirty="0"/>
          </a:p>
        </p:txBody>
      </p:sp>
      <p:sp>
        <p:nvSpPr>
          <p:cNvPr id="57" name="Text 52"/>
          <p:cNvSpPr/>
          <p:nvPr/>
        </p:nvSpPr>
        <p:spPr>
          <a:xfrm>
            <a:off x="5449824" y="3008376"/>
            <a:ext cx="28712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selected tool(s)</a:t>
            </a:r>
            <a:endParaRPr lang="en-US" sz="760" dirty="0"/>
          </a:p>
        </p:txBody>
      </p:sp>
      <p:sp>
        <p:nvSpPr>
          <p:cNvPr id="58" name="Shape 53"/>
          <p:cNvSpPr/>
          <p:nvPr/>
        </p:nvSpPr>
        <p:spPr>
          <a:xfrm>
            <a:off x="6766560" y="3200400"/>
            <a:ext cx="54864" cy="73152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59" name="Shape 54"/>
          <p:cNvSpPr/>
          <p:nvPr/>
        </p:nvSpPr>
        <p:spPr>
          <a:xfrm>
            <a:off x="5230368" y="3310128"/>
            <a:ext cx="3127248" cy="438912"/>
          </a:xfrm>
          <a:prstGeom prst="rect">
            <a:avLst/>
          </a:prstGeom>
          <a:solidFill>
            <a:srgbClr val="1C3354"/>
          </a:solidFill>
          <a:ln w="19050">
            <a:solidFill>
              <a:srgbClr val="F4A727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28000"/>
              </a:srgbClr>
            </a:outerShdw>
          </a:effectLst>
        </p:spPr>
      </p:sp>
      <p:sp>
        <p:nvSpPr>
          <p:cNvPr id="60" name="Shape 55"/>
          <p:cNvSpPr/>
          <p:nvPr/>
        </p:nvSpPr>
        <p:spPr>
          <a:xfrm>
            <a:off x="5212080" y="3447288"/>
            <a:ext cx="164592" cy="164592"/>
          </a:xfrm>
          <a:prstGeom prst="ellipse">
            <a:avLst/>
          </a:prstGeom>
          <a:solidFill>
            <a:srgbClr val="F4A727"/>
          </a:solidFill>
          <a:ln w="12700">
            <a:solidFill>
              <a:srgbClr val="F4A727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5449824" y="3346704"/>
            <a:ext cx="2871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 Integration</a:t>
            </a:r>
            <a:endParaRPr lang="en-US" sz="950" dirty="0"/>
          </a:p>
        </p:txBody>
      </p:sp>
      <p:sp>
        <p:nvSpPr>
          <p:cNvPr id="62" name="Text 57"/>
          <p:cNvSpPr/>
          <p:nvPr/>
        </p:nvSpPr>
        <p:spPr>
          <a:xfrm>
            <a:off x="5449824" y="3557016"/>
            <a:ext cx="28712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output → context</a:t>
            </a:r>
            <a:endParaRPr lang="en-US" sz="760" dirty="0"/>
          </a:p>
        </p:txBody>
      </p:sp>
      <p:sp>
        <p:nvSpPr>
          <p:cNvPr id="63" name="Shape 58"/>
          <p:cNvSpPr/>
          <p:nvPr/>
        </p:nvSpPr>
        <p:spPr>
          <a:xfrm>
            <a:off x="6766560" y="3749040"/>
            <a:ext cx="54864" cy="73152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64" name="Shape 59"/>
          <p:cNvSpPr/>
          <p:nvPr/>
        </p:nvSpPr>
        <p:spPr>
          <a:xfrm>
            <a:off x="5230368" y="3858768"/>
            <a:ext cx="3127248" cy="438912"/>
          </a:xfrm>
          <a:prstGeom prst="rect">
            <a:avLst/>
          </a:prstGeom>
          <a:solidFill>
            <a:srgbClr val="1C3354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28000"/>
              </a:srgbClr>
            </a:outerShdw>
          </a:effectLst>
        </p:spPr>
      </p:sp>
      <p:sp>
        <p:nvSpPr>
          <p:cNvPr id="65" name="Shape 60"/>
          <p:cNvSpPr/>
          <p:nvPr/>
        </p:nvSpPr>
        <p:spPr>
          <a:xfrm>
            <a:off x="5212080" y="3995928"/>
            <a:ext cx="164592" cy="16459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6" name="Text 61"/>
          <p:cNvSpPr/>
          <p:nvPr/>
        </p:nvSpPr>
        <p:spPr>
          <a:xfrm>
            <a:off x="5449824" y="3895344"/>
            <a:ext cx="2871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Synthesis</a:t>
            </a:r>
            <a:endParaRPr lang="en-US" sz="950" dirty="0"/>
          </a:p>
        </p:txBody>
      </p:sp>
      <p:sp>
        <p:nvSpPr>
          <p:cNvPr id="67" name="Text 62"/>
          <p:cNvSpPr/>
          <p:nvPr/>
        </p:nvSpPr>
        <p:spPr>
          <a:xfrm>
            <a:off x="5449824" y="4105656"/>
            <a:ext cx="28712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final response</a:t>
            </a:r>
            <a:endParaRPr lang="en-US" sz="760" dirty="0"/>
          </a:p>
        </p:txBody>
      </p:sp>
      <p:sp>
        <p:nvSpPr>
          <p:cNvPr id="68" name="Shape 63"/>
          <p:cNvSpPr/>
          <p:nvPr/>
        </p:nvSpPr>
        <p:spPr>
          <a:xfrm>
            <a:off x="4791456" y="4407408"/>
            <a:ext cx="4005072" cy="182880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69" name="Text 64"/>
          <p:cNvSpPr/>
          <p:nvPr/>
        </p:nvSpPr>
        <p:spPr>
          <a:xfrm>
            <a:off x="4791456" y="4407408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Tool-Augmented Agent Response to User</a:t>
            </a:r>
            <a:endParaRPr lang="en-US" sz="780" dirty="0"/>
          </a:p>
        </p:txBody>
      </p:sp>
      <p:sp>
        <p:nvSpPr>
          <p:cNvPr id="70" name="Text 65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Engineering Training Series  ·  Session 4 of 5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3354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05840" cy="65836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 Project – Personal AI Assistant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589520" y="91440"/>
            <a:ext cx="1417320" cy="475488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0" y="9144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Training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4592" y="749808"/>
            <a:ext cx="4315968" cy="1481328"/>
          </a:xfrm>
          <a:prstGeom prst="rect">
            <a:avLst/>
          </a:prstGeom>
          <a:solidFill>
            <a:srgbClr val="132338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749808"/>
            <a:ext cx="54864" cy="148132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804672"/>
            <a:ext cx="329184" cy="3291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76656" y="7772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76656" y="1024128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AI Assistant with multi-tool capability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memory · intent understanding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Multi-tool decision logic · LLM response synthesis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164592" y="2304288"/>
            <a:ext cx="4315968" cy="1371600"/>
          </a:xfrm>
          <a:prstGeom prst="rect">
            <a:avLst/>
          </a:prstGeom>
          <a:solidFill>
            <a:srgbClr val="132338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64592" y="2304288"/>
            <a:ext cx="54864" cy="13716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92608" y="233172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Architecture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92608" y="2633472"/>
            <a:ext cx="347472" cy="329184"/>
          </a:xfrm>
          <a:prstGeom prst="rect">
            <a:avLst/>
          </a:prstGeom>
          <a:solidFill>
            <a:srgbClr val="1C3354"/>
          </a:solidFill>
          <a:ln w="19050">
            <a:solidFill>
              <a:srgbClr val="F4A72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92608" y="263347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</a:t>
            </a:r>
            <a:endParaRPr lang="en-US" sz="620" dirty="0"/>
          </a:p>
        </p:txBody>
      </p:sp>
      <p:sp>
        <p:nvSpPr>
          <p:cNvPr id="18" name="Shape 15"/>
          <p:cNvSpPr/>
          <p:nvPr/>
        </p:nvSpPr>
        <p:spPr>
          <a:xfrm>
            <a:off x="649224" y="2779776"/>
            <a:ext cx="73152" cy="36576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31520" y="2633472"/>
            <a:ext cx="347472" cy="329184"/>
          </a:xfrm>
          <a:prstGeom prst="rect">
            <a:avLst/>
          </a:prstGeom>
          <a:solidFill>
            <a:srgbClr val="1C3354"/>
          </a:solidFill>
          <a:ln w="19050">
            <a:solidFill>
              <a:srgbClr val="4E9AF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1520" y="263347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</a:t>
            </a:r>
            <a:endParaRPr lang="en-US" sz="620" dirty="0"/>
          </a:p>
        </p:txBody>
      </p:sp>
      <p:sp>
        <p:nvSpPr>
          <p:cNvPr id="21" name="Shape 18"/>
          <p:cNvSpPr/>
          <p:nvPr/>
        </p:nvSpPr>
        <p:spPr>
          <a:xfrm>
            <a:off x="1088136" y="2779776"/>
            <a:ext cx="73152" cy="36576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170432" y="2633472"/>
            <a:ext cx="347472" cy="329184"/>
          </a:xfrm>
          <a:prstGeom prst="rect">
            <a:avLst/>
          </a:prstGeom>
          <a:solidFill>
            <a:srgbClr val="1C3354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170432" y="263347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</a:t>
            </a:r>
            <a:endParaRPr lang="en-US" sz="620" dirty="0"/>
          </a:p>
        </p:txBody>
      </p:sp>
      <p:sp>
        <p:nvSpPr>
          <p:cNvPr id="24" name="Shape 21"/>
          <p:cNvSpPr/>
          <p:nvPr/>
        </p:nvSpPr>
        <p:spPr>
          <a:xfrm>
            <a:off x="1609344" y="2633472"/>
            <a:ext cx="347472" cy="329184"/>
          </a:xfrm>
          <a:prstGeom prst="rect">
            <a:avLst/>
          </a:prstGeom>
          <a:solidFill>
            <a:srgbClr val="1C3354"/>
          </a:solidFill>
          <a:ln w="19050">
            <a:solidFill>
              <a:srgbClr val="00C2C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609344" y="263347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</a:t>
            </a:r>
            <a:endParaRPr lang="en-US" sz="620" dirty="0"/>
          </a:p>
        </p:txBody>
      </p:sp>
      <p:sp>
        <p:nvSpPr>
          <p:cNvPr id="26" name="Shape 23"/>
          <p:cNvSpPr/>
          <p:nvPr/>
        </p:nvSpPr>
        <p:spPr>
          <a:xfrm>
            <a:off x="1965960" y="2779776"/>
            <a:ext cx="73152" cy="36576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048256" y="2633472"/>
            <a:ext cx="347472" cy="329184"/>
          </a:xfrm>
          <a:prstGeom prst="rect">
            <a:avLst/>
          </a:prstGeom>
          <a:solidFill>
            <a:srgbClr val="1C3354"/>
          </a:solidFill>
          <a:ln w="19050">
            <a:solidFill>
              <a:srgbClr val="F4A72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048256" y="263347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Calc</a:t>
            </a:r>
            <a:endParaRPr lang="en-US" sz="620" dirty="0"/>
          </a:p>
        </p:txBody>
      </p:sp>
      <p:sp>
        <p:nvSpPr>
          <p:cNvPr id="29" name="Shape 26"/>
          <p:cNvSpPr/>
          <p:nvPr/>
        </p:nvSpPr>
        <p:spPr>
          <a:xfrm>
            <a:off x="2487168" y="2633472"/>
            <a:ext cx="347472" cy="329184"/>
          </a:xfrm>
          <a:prstGeom prst="rect">
            <a:avLst/>
          </a:prstGeom>
          <a:solidFill>
            <a:srgbClr val="1C3354"/>
          </a:solidFill>
          <a:ln w="19050">
            <a:solidFill>
              <a:srgbClr val="00C2C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487168" y="263347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Search</a:t>
            </a:r>
            <a:endParaRPr lang="en-US" sz="620" dirty="0"/>
          </a:p>
        </p:txBody>
      </p:sp>
      <p:sp>
        <p:nvSpPr>
          <p:cNvPr id="31" name="Shape 28"/>
          <p:cNvSpPr/>
          <p:nvPr/>
        </p:nvSpPr>
        <p:spPr>
          <a:xfrm>
            <a:off x="2926080" y="2633472"/>
            <a:ext cx="347472" cy="329184"/>
          </a:xfrm>
          <a:prstGeom prst="rect">
            <a:avLst/>
          </a:prstGeom>
          <a:solidFill>
            <a:srgbClr val="1C3354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926080" y="263347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</a:t>
            </a:r>
            <a:endParaRPr lang="en-US" sz="620" dirty="0"/>
          </a:p>
        </p:txBody>
      </p:sp>
      <p:sp>
        <p:nvSpPr>
          <p:cNvPr id="33" name="Shape 30"/>
          <p:cNvSpPr/>
          <p:nvPr/>
        </p:nvSpPr>
        <p:spPr>
          <a:xfrm>
            <a:off x="3282696" y="2779776"/>
            <a:ext cx="73152" cy="36576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3364992" y="2633472"/>
            <a:ext cx="347472" cy="329184"/>
          </a:xfrm>
          <a:prstGeom prst="rect">
            <a:avLst/>
          </a:prstGeom>
          <a:solidFill>
            <a:srgbClr val="1C3354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364992" y="263347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Response</a:t>
            </a:r>
            <a:endParaRPr lang="en-US" sz="620" dirty="0"/>
          </a:p>
        </p:txBody>
      </p:sp>
      <p:sp>
        <p:nvSpPr>
          <p:cNvPr id="36" name="Text 33"/>
          <p:cNvSpPr/>
          <p:nvPr/>
        </p:nvSpPr>
        <p:spPr>
          <a:xfrm>
            <a:off x="256032" y="3035808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i="1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Agent orchestrates tools, memory, &amp; LLM responses in unified system</a:t>
            </a:r>
            <a:endParaRPr lang="en-US" sz="730" dirty="0"/>
          </a:p>
        </p:txBody>
      </p:sp>
      <p:sp>
        <p:nvSpPr>
          <p:cNvPr id="37" name="Shape 34"/>
          <p:cNvSpPr/>
          <p:nvPr/>
        </p:nvSpPr>
        <p:spPr>
          <a:xfrm>
            <a:off x="164592" y="3730752"/>
            <a:ext cx="4315968" cy="1170432"/>
          </a:xfrm>
          <a:prstGeom prst="rect">
            <a:avLst/>
          </a:prstGeom>
          <a:solidFill>
            <a:srgbClr val="132338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164592" y="3730752"/>
            <a:ext cx="54864" cy="1170432"/>
          </a:xfrm>
          <a:prstGeom prst="rect">
            <a:avLst/>
          </a:prstGeom>
          <a:solidFill>
            <a:srgbClr val="F4A727"/>
          </a:solidFill>
          <a:ln w="12700">
            <a:solidFill>
              <a:srgbClr val="F4A727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292608" y="375818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7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Challenges &amp; Solutions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256032" y="3995928"/>
            <a:ext cx="4133088" cy="237744"/>
          </a:xfrm>
          <a:prstGeom prst="rect">
            <a:avLst/>
          </a:prstGeom>
          <a:solidFill>
            <a:srgbClr val="1C3354"/>
          </a:solidFill>
          <a:ln w="12700">
            <a:solidFill>
              <a:srgbClr val="393F4D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10896" y="401421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4A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selection logic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1810512" y="4069080"/>
            <a:ext cx="36576" cy="91440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901952" y="401421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Intent-based routing; LLM determines tool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256032" y="4270248"/>
            <a:ext cx="4133088" cy="237744"/>
          </a:xfrm>
          <a:prstGeom prst="rect">
            <a:avLst/>
          </a:prstGeom>
          <a:solidFill>
            <a:srgbClr val="0D1B2A"/>
          </a:solidFill>
          <a:ln w="12700">
            <a:solidFill>
              <a:srgbClr val="393F4D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10896" y="428853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4A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management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1810512" y="4343400"/>
            <a:ext cx="36576" cy="91440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1901952" y="428853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history storage &amp; retrieval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256032" y="4544568"/>
            <a:ext cx="4133088" cy="237744"/>
          </a:xfrm>
          <a:prstGeom prst="rect">
            <a:avLst/>
          </a:prstGeom>
          <a:solidFill>
            <a:srgbClr val="1C3354"/>
          </a:solidFill>
          <a:ln w="12700">
            <a:solidFill>
              <a:srgbClr val="393F4D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310896" y="456285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4A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design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1810512" y="4617720"/>
            <a:ext cx="36576" cy="91440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1901952" y="456285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loop framework with error handling</a:t>
            </a:r>
            <a:endParaRPr lang="en-US" sz="800" dirty="0"/>
          </a:p>
        </p:txBody>
      </p:sp>
      <p:sp>
        <p:nvSpPr>
          <p:cNvPr id="52" name="Shape 49"/>
          <p:cNvSpPr/>
          <p:nvPr/>
        </p:nvSpPr>
        <p:spPr>
          <a:xfrm>
            <a:off x="4645152" y="749808"/>
            <a:ext cx="4334256" cy="4151376"/>
          </a:xfrm>
          <a:prstGeom prst="rect">
            <a:avLst/>
          </a:prstGeom>
          <a:solidFill>
            <a:srgbClr val="132338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4645152" y="749808"/>
            <a:ext cx="4334256" cy="274320"/>
          </a:xfrm>
          <a:prstGeom prst="rect">
            <a:avLst/>
          </a:prstGeom>
          <a:solidFill>
            <a:srgbClr val="1C3354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4645152" y="749808"/>
            <a:ext cx="4334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950" dirty="0"/>
          </a:p>
        </p:txBody>
      </p:sp>
      <p:sp>
        <p:nvSpPr>
          <p:cNvPr id="55" name="Shape 52"/>
          <p:cNvSpPr/>
          <p:nvPr/>
        </p:nvSpPr>
        <p:spPr>
          <a:xfrm>
            <a:off x="4809744" y="1088136"/>
            <a:ext cx="4005072" cy="530352"/>
          </a:xfrm>
          <a:prstGeom prst="rect">
            <a:avLst/>
          </a:prstGeom>
          <a:solidFill>
            <a:srgbClr val="1C3354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4828032" y="1197864"/>
            <a:ext cx="292608" cy="292608"/>
          </a:xfrm>
          <a:prstGeom prst="ellipse">
            <a:avLst/>
          </a:prstGeom>
          <a:solidFill>
            <a:srgbClr val="4E9AF1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4828032" y="1197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900" dirty="0"/>
          </a:p>
        </p:txBody>
      </p:sp>
      <p:pic>
        <p:nvPicPr>
          <p:cNvPr id="5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3792" y="1225296"/>
            <a:ext cx="219456" cy="219456"/>
          </a:xfrm>
          <a:prstGeom prst="rect">
            <a:avLst/>
          </a:prstGeom>
        </p:spPr>
      </p:pic>
      <p:sp>
        <p:nvSpPr>
          <p:cNvPr id="59" name="Text 55"/>
          <p:cNvSpPr/>
          <p:nvPr/>
        </p:nvSpPr>
        <p:spPr>
          <a:xfrm>
            <a:off x="5486400" y="1143000"/>
            <a:ext cx="3273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Agent Architecture</a:t>
            </a:r>
            <a:endParaRPr lang="en-US" sz="950" dirty="0"/>
          </a:p>
        </p:txBody>
      </p:sp>
      <p:sp>
        <p:nvSpPr>
          <p:cNvPr id="60" name="Text 56"/>
          <p:cNvSpPr/>
          <p:nvPr/>
        </p:nvSpPr>
        <p:spPr>
          <a:xfrm>
            <a:off x="5486400" y="1362456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reasoning loop; planning &amp; execution</a:t>
            </a:r>
            <a:endParaRPr lang="en-US" sz="780" dirty="0"/>
          </a:p>
        </p:txBody>
      </p:sp>
      <p:sp>
        <p:nvSpPr>
          <p:cNvPr id="61" name="Shape 57"/>
          <p:cNvSpPr/>
          <p:nvPr/>
        </p:nvSpPr>
        <p:spPr>
          <a:xfrm>
            <a:off x="4809744" y="1655064"/>
            <a:ext cx="4005072" cy="530352"/>
          </a:xfrm>
          <a:prstGeom prst="rect">
            <a:avLst/>
          </a:prstGeom>
          <a:solidFill>
            <a:srgbClr val="1C3354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>
            <a:off x="4828032" y="1764792"/>
            <a:ext cx="292608" cy="292608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63" name="Text 59"/>
          <p:cNvSpPr/>
          <p:nvPr/>
        </p:nvSpPr>
        <p:spPr>
          <a:xfrm>
            <a:off x="4828032" y="1764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900" dirty="0"/>
          </a:p>
        </p:txBody>
      </p:sp>
      <p:pic>
        <p:nvPicPr>
          <p:cNvPr id="6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3792" y="1792224"/>
            <a:ext cx="219456" cy="219456"/>
          </a:xfrm>
          <a:prstGeom prst="rect">
            <a:avLst/>
          </a:prstGeom>
        </p:spPr>
      </p:pic>
      <p:sp>
        <p:nvSpPr>
          <p:cNvPr id="65" name="Text 60"/>
          <p:cNvSpPr/>
          <p:nvPr/>
        </p:nvSpPr>
        <p:spPr>
          <a:xfrm>
            <a:off x="5486400" y="1709928"/>
            <a:ext cx="3273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 Calling &amp; Integration</a:t>
            </a:r>
            <a:endParaRPr lang="en-US" sz="950" dirty="0"/>
          </a:p>
        </p:txBody>
      </p:sp>
      <p:sp>
        <p:nvSpPr>
          <p:cNvPr id="66" name="Text 61"/>
          <p:cNvSpPr/>
          <p:nvPr/>
        </p:nvSpPr>
        <p:spPr>
          <a:xfrm>
            <a:off x="5486400" y="1929384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LLM-callable functions; structured interface</a:t>
            </a:r>
            <a:endParaRPr lang="en-US" sz="780" dirty="0"/>
          </a:p>
        </p:txBody>
      </p:sp>
      <p:sp>
        <p:nvSpPr>
          <p:cNvPr id="67" name="Shape 62"/>
          <p:cNvSpPr/>
          <p:nvPr/>
        </p:nvSpPr>
        <p:spPr>
          <a:xfrm>
            <a:off x="4809744" y="2221992"/>
            <a:ext cx="4005072" cy="530352"/>
          </a:xfrm>
          <a:prstGeom prst="rect">
            <a:avLst/>
          </a:prstGeom>
          <a:solidFill>
            <a:srgbClr val="1C3354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68" name="Shape 63"/>
          <p:cNvSpPr/>
          <p:nvPr/>
        </p:nvSpPr>
        <p:spPr>
          <a:xfrm>
            <a:off x="4828032" y="2331720"/>
            <a:ext cx="292608" cy="292608"/>
          </a:xfrm>
          <a:prstGeom prst="ellipse">
            <a:avLst/>
          </a:prstGeom>
          <a:solidFill>
            <a:srgbClr val="F4A727"/>
          </a:solidFill>
          <a:ln w="12700">
            <a:solidFill>
              <a:srgbClr val="F4A727"/>
            </a:solidFill>
            <a:prstDash val="solid"/>
          </a:ln>
        </p:spPr>
      </p:sp>
      <p:sp>
        <p:nvSpPr>
          <p:cNvPr id="69" name="Text 64"/>
          <p:cNvSpPr/>
          <p:nvPr/>
        </p:nvSpPr>
        <p:spPr>
          <a:xfrm>
            <a:off x="4828032" y="2331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900" dirty="0"/>
          </a:p>
        </p:txBody>
      </p:sp>
      <p:pic>
        <p:nvPicPr>
          <p:cNvPr id="7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3792" y="2359152"/>
            <a:ext cx="219456" cy="219456"/>
          </a:xfrm>
          <a:prstGeom prst="rect">
            <a:avLst/>
          </a:prstGeom>
        </p:spPr>
      </p:pic>
      <p:sp>
        <p:nvSpPr>
          <p:cNvPr id="71" name="Text 65"/>
          <p:cNvSpPr/>
          <p:nvPr/>
        </p:nvSpPr>
        <p:spPr>
          <a:xfrm>
            <a:off x="5486400" y="2276856"/>
            <a:ext cx="3273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Function Calling</a:t>
            </a:r>
            <a:endParaRPr lang="en-US" sz="950" dirty="0"/>
          </a:p>
        </p:txBody>
      </p:sp>
      <p:sp>
        <p:nvSpPr>
          <p:cNvPr id="72" name="Text 66"/>
          <p:cNvSpPr/>
          <p:nvPr/>
        </p:nvSpPr>
        <p:spPr>
          <a:xfrm>
            <a:off x="5486400" y="2496312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definition; parameter validation; returns</a:t>
            </a:r>
            <a:endParaRPr lang="en-US" sz="780" dirty="0"/>
          </a:p>
        </p:txBody>
      </p:sp>
      <p:sp>
        <p:nvSpPr>
          <p:cNvPr id="73" name="Shape 67"/>
          <p:cNvSpPr/>
          <p:nvPr/>
        </p:nvSpPr>
        <p:spPr>
          <a:xfrm>
            <a:off x="4809744" y="2788920"/>
            <a:ext cx="4005072" cy="530352"/>
          </a:xfrm>
          <a:prstGeom prst="rect">
            <a:avLst/>
          </a:prstGeom>
          <a:solidFill>
            <a:srgbClr val="1C3354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74" name="Shape 68"/>
          <p:cNvSpPr/>
          <p:nvPr/>
        </p:nvSpPr>
        <p:spPr>
          <a:xfrm>
            <a:off x="4828032" y="2898648"/>
            <a:ext cx="292608" cy="29260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5" name="Text 69"/>
          <p:cNvSpPr/>
          <p:nvPr/>
        </p:nvSpPr>
        <p:spPr>
          <a:xfrm>
            <a:off x="4828032" y="2898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900" dirty="0"/>
          </a:p>
        </p:txBody>
      </p:sp>
      <p:pic>
        <p:nvPicPr>
          <p:cNvPr id="7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3792" y="2926080"/>
            <a:ext cx="219456" cy="219456"/>
          </a:xfrm>
          <a:prstGeom prst="rect">
            <a:avLst/>
          </a:prstGeom>
        </p:spPr>
      </p:pic>
      <p:sp>
        <p:nvSpPr>
          <p:cNvPr id="77" name="Text 70"/>
          <p:cNvSpPr/>
          <p:nvPr/>
        </p:nvSpPr>
        <p:spPr>
          <a:xfrm>
            <a:off x="5486400" y="2843784"/>
            <a:ext cx="3273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 Systems</a:t>
            </a:r>
            <a:endParaRPr lang="en-US" sz="950" dirty="0"/>
          </a:p>
        </p:txBody>
      </p:sp>
      <p:sp>
        <p:nvSpPr>
          <p:cNvPr id="78" name="Text 71"/>
          <p:cNvSpPr/>
          <p:nvPr/>
        </p:nvSpPr>
        <p:spPr>
          <a:xfrm>
            <a:off x="5486400" y="3063240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history; state management</a:t>
            </a:r>
            <a:endParaRPr lang="en-US" sz="780" dirty="0"/>
          </a:p>
        </p:txBody>
      </p:sp>
      <p:sp>
        <p:nvSpPr>
          <p:cNvPr id="79" name="Shape 72"/>
          <p:cNvSpPr/>
          <p:nvPr/>
        </p:nvSpPr>
        <p:spPr>
          <a:xfrm>
            <a:off x="4809744" y="3355848"/>
            <a:ext cx="4005072" cy="530352"/>
          </a:xfrm>
          <a:prstGeom prst="rect">
            <a:avLst/>
          </a:prstGeom>
          <a:solidFill>
            <a:srgbClr val="1C3354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80" name="Shape 73"/>
          <p:cNvSpPr/>
          <p:nvPr/>
        </p:nvSpPr>
        <p:spPr>
          <a:xfrm>
            <a:off x="4828032" y="3465576"/>
            <a:ext cx="292608" cy="292608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81" name="Text 74"/>
          <p:cNvSpPr/>
          <p:nvPr/>
        </p:nvSpPr>
        <p:spPr>
          <a:xfrm>
            <a:off x="4828032" y="3465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900" dirty="0"/>
          </a:p>
        </p:txBody>
      </p:sp>
      <p:pic>
        <p:nvPicPr>
          <p:cNvPr id="8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3792" y="3493008"/>
            <a:ext cx="219456" cy="219456"/>
          </a:xfrm>
          <a:prstGeom prst="rect">
            <a:avLst/>
          </a:prstGeom>
        </p:spPr>
      </p:pic>
      <p:sp>
        <p:nvSpPr>
          <p:cNvPr id="83" name="Text 75"/>
          <p:cNvSpPr/>
          <p:nvPr/>
        </p:nvSpPr>
        <p:spPr>
          <a:xfrm>
            <a:off x="5486400" y="3410712"/>
            <a:ext cx="3273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Framework</a:t>
            </a:r>
            <a:endParaRPr lang="en-US" sz="950" dirty="0"/>
          </a:p>
        </p:txBody>
      </p:sp>
      <p:sp>
        <p:nvSpPr>
          <p:cNvPr id="84" name="Text 76"/>
          <p:cNvSpPr/>
          <p:nvPr/>
        </p:nvSpPr>
        <p:spPr>
          <a:xfrm>
            <a:off x="5486400" y="3630168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+ Acting for complex task solving</a:t>
            </a:r>
            <a:endParaRPr lang="en-US" sz="780" dirty="0"/>
          </a:p>
        </p:txBody>
      </p:sp>
      <p:sp>
        <p:nvSpPr>
          <p:cNvPr id="85" name="Shape 77"/>
          <p:cNvSpPr/>
          <p:nvPr/>
        </p:nvSpPr>
        <p:spPr>
          <a:xfrm>
            <a:off x="4809744" y="3922776"/>
            <a:ext cx="4005072" cy="530352"/>
          </a:xfrm>
          <a:prstGeom prst="rect">
            <a:avLst/>
          </a:prstGeom>
          <a:solidFill>
            <a:srgbClr val="1C3354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86" name="Shape 78"/>
          <p:cNvSpPr/>
          <p:nvPr/>
        </p:nvSpPr>
        <p:spPr>
          <a:xfrm>
            <a:off x="4828032" y="4032504"/>
            <a:ext cx="292608" cy="29260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7" name="Text 79"/>
          <p:cNvSpPr/>
          <p:nvPr/>
        </p:nvSpPr>
        <p:spPr>
          <a:xfrm>
            <a:off x="4828032" y="40325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900" dirty="0"/>
          </a:p>
        </p:txBody>
      </p:sp>
      <p:pic>
        <p:nvPicPr>
          <p:cNvPr id="8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93792" y="4059936"/>
            <a:ext cx="219456" cy="219456"/>
          </a:xfrm>
          <a:prstGeom prst="rect">
            <a:avLst/>
          </a:prstGeom>
        </p:spPr>
      </p:pic>
      <p:sp>
        <p:nvSpPr>
          <p:cNvPr id="89" name="Text 80"/>
          <p:cNvSpPr/>
          <p:nvPr/>
        </p:nvSpPr>
        <p:spPr>
          <a:xfrm>
            <a:off x="5486400" y="3977640"/>
            <a:ext cx="3273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Personal AI Assistants</a:t>
            </a:r>
            <a:endParaRPr lang="en-US" sz="950" dirty="0"/>
          </a:p>
        </p:txBody>
      </p:sp>
      <p:sp>
        <p:nvSpPr>
          <p:cNvPr id="90" name="Text 81"/>
          <p:cNvSpPr/>
          <p:nvPr/>
        </p:nvSpPr>
        <p:spPr>
          <a:xfrm>
            <a:off x="5486400" y="4197096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&amp; consumer intelligent agents</a:t>
            </a:r>
            <a:endParaRPr lang="en-US" sz="780" dirty="0"/>
          </a:p>
        </p:txBody>
      </p:sp>
      <p:sp>
        <p:nvSpPr>
          <p:cNvPr id="91" name="Shape 82"/>
          <p:cNvSpPr/>
          <p:nvPr/>
        </p:nvSpPr>
        <p:spPr>
          <a:xfrm>
            <a:off x="4809744" y="4261104"/>
            <a:ext cx="4005072" cy="566928"/>
          </a:xfrm>
          <a:prstGeom prst="rect">
            <a:avLst/>
          </a:prstGeom>
          <a:solidFill>
            <a:srgbClr val="007F85"/>
          </a:solidFill>
          <a:ln w="19050">
            <a:solidFill>
              <a:srgbClr val="00C2CB"/>
            </a:solidFill>
            <a:prstDash val="solid"/>
          </a:ln>
        </p:spPr>
      </p:sp>
      <p:sp>
        <p:nvSpPr>
          <p:cNvPr id="92" name="Text 83"/>
          <p:cNvSpPr/>
          <p:nvPr/>
        </p:nvSpPr>
        <p:spPr>
          <a:xfrm>
            <a:off x="4809744" y="4261104"/>
            <a:ext cx="4005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A7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→  </a:t>
            </a:r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5: Production AI Engineering Basics</a:t>
            </a:r>
            <a:endParaRPr lang="en-US" sz="1000" dirty="0"/>
          </a:p>
        </p:txBody>
      </p:sp>
      <p:sp>
        <p:nvSpPr>
          <p:cNvPr id="93" name="Text 84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Engineering Training Series  ·  Session 4 of 5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GenAI Engineering Training – Day 4</dc:title>
  <dc:subject>PptxGenJS Presentation</dc:subject>
  <dc:creator>PptxGenJS</dc:creator>
  <cp:lastModifiedBy>PptxGenJS</cp:lastModifiedBy>
  <cp:revision>1</cp:revision>
  <dcterms:created xsi:type="dcterms:W3CDTF">2026-06-09T04:58:50Z</dcterms:created>
  <dcterms:modified xsi:type="dcterms:W3CDTF">2026-06-09T04:58:50Z</dcterms:modified>
</cp:coreProperties>
</file>