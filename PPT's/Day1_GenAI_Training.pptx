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AI Ecosystem &amp; LLM Foundations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>
              <a:gd name="adj" fmla="val 15385"/>
            </a:avLst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534924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64008" cy="7955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92354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8138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AI Ecosystem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9808" y="104241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ML → DL → GenAI hierarchy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power conversational &amp; generative tasks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29584" y="969264"/>
            <a:ext cx="1828800" cy="329184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9584" y="969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foundation for all AI work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164592" y="1581912"/>
            <a:ext cx="534924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4592" y="1581912"/>
            <a:ext cx="64008" cy="7955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75564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9808" y="16459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Concepts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49808" y="1874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· Tokens · Attention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governs memory &amp; cost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529584" y="1801368"/>
            <a:ext cx="1828800" cy="329184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29584" y="1801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 every LLM product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164592" y="2414016"/>
            <a:ext cx="534924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64592" y="2414016"/>
            <a:ext cx="64008" cy="7955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587752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49808" y="2478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&amp; Retrieval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49808" y="27066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= semantic numeric vectors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+ RAG = enterprise knowledge access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3529584" y="2633472"/>
            <a:ext cx="1828800" cy="329184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529584" y="26334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hallucination; enables grounding</a:t>
            </a:r>
            <a:endParaRPr lang="en-US" sz="780" dirty="0"/>
          </a:p>
        </p:txBody>
      </p:sp>
      <p:sp>
        <p:nvSpPr>
          <p:cNvPr id="29" name="Shape 24"/>
          <p:cNvSpPr/>
          <p:nvPr/>
        </p:nvSpPr>
        <p:spPr>
          <a:xfrm>
            <a:off x="164592" y="3246120"/>
            <a:ext cx="534924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64592" y="3246120"/>
            <a:ext cx="64008" cy="7955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419856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49808" y="33101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Systems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49808" y="35387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reason + act autonomously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Multi-Agent: delegation &amp; specialised roles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529584" y="3465576"/>
            <a:ext cx="1828800" cy="329184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529584" y="3465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of enterprise AI automation</a:t>
            </a:r>
            <a:endParaRPr lang="en-US" sz="780" dirty="0"/>
          </a:p>
        </p:txBody>
      </p:sp>
      <p:sp>
        <p:nvSpPr>
          <p:cNvPr id="36" name="Shape 30"/>
          <p:cNvSpPr/>
          <p:nvPr/>
        </p:nvSpPr>
        <p:spPr>
          <a:xfrm>
            <a:off x="164592" y="4078224"/>
            <a:ext cx="534924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64592" y="4078224"/>
            <a:ext cx="64008" cy="7955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251960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49808" y="41422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AI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749808" y="43708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vs Prompting trade-offs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Roadmap: from PoC to Prod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3529584" y="4297680"/>
            <a:ext cx="1828800" cy="329184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529584" y="4297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architecture decisions</a:t>
            </a:r>
            <a:endParaRPr lang="en-US" sz="780" dirty="0"/>
          </a:p>
        </p:txBody>
      </p:sp>
      <p:sp>
        <p:nvSpPr>
          <p:cNvPr id="43" name="Shape 36"/>
          <p:cNvSpPr/>
          <p:nvPr/>
        </p:nvSpPr>
        <p:spPr>
          <a:xfrm>
            <a:off x="5715000" y="749808"/>
            <a:ext cx="3291840" cy="431596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715000" y="804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ECOSYSTEM ROADMAP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035040" y="1143000"/>
            <a:ext cx="26517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035040" y="1316736"/>
            <a:ext cx="182880" cy="182880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309360" y="12070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+ Compute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6309360" y="1444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80" dirty="0"/>
          </a:p>
        </p:txBody>
      </p:sp>
      <p:sp>
        <p:nvSpPr>
          <p:cNvPr id="49" name="Shape 42"/>
          <p:cNvSpPr/>
          <p:nvPr/>
        </p:nvSpPr>
        <p:spPr>
          <a:xfrm>
            <a:off x="7269480" y="1673352"/>
            <a:ext cx="54864" cy="16459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6035040" y="1874520"/>
            <a:ext cx="26517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5BA6D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6035040" y="2048256"/>
            <a:ext cx="182880" cy="182880"/>
          </a:xfrm>
          <a:prstGeom prst="ellipse">
            <a:avLst/>
          </a:prstGeom>
          <a:solidFill>
            <a:srgbClr val="5BA6D6"/>
          </a:solidFill>
          <a:ln w="12700">
            <a:solidFill>
              <a:srgbClr val="5BA6D6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6309360" y="19385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6309360" y="21762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Prediction</a:t>
            </a:r>
            <a:endParaRPr lang="en-US" sz="780" dirty="0"/>
          </a:p>
        </p:txBody>
      </p:sp>
      <p:sp>
        <p:nvSpPr>
          <p:cNvPr id="54" name="Shape 47"/>
          <p:cNvSpPr/>
          <p:nvPr/>
        </p:nvSpPr>
        <p:spPr>
          <a:xfrm>
            <a:off x="7269480" y="2404872"/>
            <a:ext cx="54864" cy="16459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6035040" y="2606040"/>
            <a:ext cx="26517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6035040" y="2779776"/>
            <a:ext cx="182880" cy="182880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6309360" y="2670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58" name="Text 51"/>
          <p:cNvSpPr/>
          <p:nvPr/>
        </p:nvSpPr>
        <p:spPr>
          <a:xfrm>
            <a:off x="6309360" y="29077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780" dirty="0"/>
          </a:p>
        </p:txBody>
      </p:sp>
      <p:sp>
        <p:nvSpPr>
          <p:cNvPr id="59" name="Shape 52"/>
          <p:cNvSpPr/>
          <p:nvPr/>
        </p:nvSpPr>
        <p:spPr>
          <a:xfrm>
            <a:off x="7269480" y="3136392"/>
            <a:ext cx="54864" cy="16459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6035040" y="3337560"/>
            <a:ext cx="26517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61" name="Shape 54"/>
          <p:cNvSpPr/>
          <p:nvPr/>
        </p:nvSpPr>
        <p:spPr>
          <a:xfrm>
            <a:off x="6035040" y="3511296"/>
            <a:ext cx="182880" cy="1828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6309360" y="34015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Language Models</a:t>
            </a:r>
            <a:endParaRPr lang="en-US" sz="950" dirty="0"/>
          </a:p>
        </p:txBody>
      </p:sp>
      <p:sp>
        <p:nvSpPr>
          <p:cNvPr id="63" name="Text 56"/>
          <p:cNvSpPr/>
          <p:nvPr/>
        </p:nvSpPr>
        <p:spPr>
          <a:xfrm>
            <a:off x="6309360" y="36393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+ Tokens</a:t>
            </a:r>
            <a:endParaRPr lang="en-US" sz="780" dirty="0"/>
          </a:p>
        </p:txBody>
      </p:sp>
      <p:sp>
        <p:nvSpPr>
          <p:cNvPr id="64" name="Shape 57"/>
          <p:cNvSpPr/>
          <p:nvPr/>
        </p:nvSpPr>
        <p:spPr>
          <a:xfrm>
            <a:off x="7269480" y="3867912"/>
            <a:ext cx="54864" cy="16459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6035040" y="4069080"/>
            <a:ext cx="26517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66" name="Shape 59"/>
          <p:cNvSpPr/>
          <p:nvPr/>
        </p:nvSpPr>
        <p:spPr>
          <a:xfrm>
            <a:off x="6035040" y="4242816"/>
            <a:ext cx="182880" cy="182880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6309360" y="41330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Systems</a:t>
            </a:r>
            <a:endParaRPr lang="en-US" sz="950" dirty="0"/>
          </a:p>
        </p:txBody>
      </p:sp>
      <p:sp>
        <p:nvSpPr>
          <p:cNvPr id="68" name="Text 61"/>
          <p:cNvSpPr/>
          <p:nvPr/>
        </p:nvSpPr>
        <p:spPr>
          <a:xfrm>
            <a:off x="6309360" y="43708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RAG · Multi-Agent</a:t>
            </a:r>
            <a:endParaRPr lang="en-US" sz="780" dirty="0"/>
          </a:p>
        </p:txBody>
      </p:sp>
      <p:sp>
        <p:nvSpPr>
          <p:cNvPr id="69" name="Shape 62"/>
          <p:cNvSpPr/>
          <p:nvPr/>
        </p:nvSpPr>
        <p:spPr>
          <a:xfrm>
            <a:off x="6035040" y="4754880"/>
            <a:ext cx="2651760" cy="21945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6035040" y="47548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PRODUCTION AI</a:t>
            </a:r>
            <a:endParaRPr lang="en-US" sz="800" dirty="0"/>
          </a:p>
        </p:txBody>
      </p:sp>
      <p:sp>
        <p:nvSpPr>
          <p:cNvPr id="71" name="Text 6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1 of 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Labs &amp; Hands-On Learning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68096"/>
            <a:ext cx="4251960" cy="1170432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68096"/>
            <a:ext cx="4251960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768096"/>
            <a:ext cx="475488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76809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4944" y="76809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API Setup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15568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7512" y="1069848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Obj: </a:t>
            </a:r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API access
</a:t>
            </a:r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Impl: </a:t>
            </a:r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key, SDK install, env vars
</a:t>
            </a:r>
            <a:pPr indent="0" marL="0">
              <a:buNone/>
            </a:pPr>
            <a:r>
              <a:rPr lang="en-US" sz="85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85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environment setup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81144" y="768096"/>
            <a:ext cx="4251960" cy="1170432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81144" y="768096"/>
            <a:ext cx="4251960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81144" y="768096"/>
            <a:ext cx="475488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81144" y="76809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11496" y="76809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Chatbot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115568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84064" y="1069848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Obj: </a:t>
            </a:r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basic Q&amp;A bot
</a:t>
            </a:r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Impl: </a:t>
            </a:r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groq.chat.completions.create()
</a:t>
            </a:r>
            <a:pPr indent="0" marL="0">
              <a:buNone/>
            </a:pPr>
            <a:r>
              <a:rPr lang="en-US" sz="85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85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lifecycle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64592" y="2103120"/>
            <a:ext cx="4251960" cy="1170432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64592" y="2103120"/>
            <a:ext cx="4251960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4592" y="2103120"/>
            <a:ext cx="475488" cy="256032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64592" y="21031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94944" y="210312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Testing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50592"/>
            <a:ext cx="310896" cy="31089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7512" y="240487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Obj: </a:t>
            </a:r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output variance
</a:t>
            </a:r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Impl: </a:t>
            </a:r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0 → 0.5 → 1.0 → 2.0
</a:t>
            </a:r>
            <a:pPr indent="0" marL="0">
              <a:buNone/>
            </a:pPr>
            <a:r>
              <a:rPr lang="en-US" sz="85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85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vs determinism trade-off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4581144" y="2103120"/>
            <a:ext cx="4251960" cy="1170432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581144" y="2103120"/>
            <a:ext cx="4251960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581144" y="2103120"/>
            <a:ext cx="475488" cy="256032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581144" y="21031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4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111496" y="210312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max_tokens Testing</a:t>
            </a:r>
            <a:endParaRPr lang="en-US" sz="10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450592"/>
            <a:ext cx="310896" cy="31089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084064" y="240487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Obj: </a:t>
            </a:r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response length
</a:t>
            </a:r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Impl: </a:t>
            </a:r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50 → 200 → 1000
</a:t>
            </a:r>
            <a:pPr indent="0" marL="0">
              <a:buNone/>
            </a:pPr>
            <a:r>
              <a:rPr lang="en-US" sz="85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85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 &amp; truncation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164592" y="3163824"/>
            <a:ext cx="8814816" cy="1810512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64592" y="3218688"/>
            <a:ext cx="8814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LIFECYCLE  ·  Response Generation Flow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76072" y="3547872"/>
            <a:ext cx="1188720" cy="713232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060704" y="3419856"/>
            <a:ext cx="219456" cy="219456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76072" y="368503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1801368" y="3877056"/>
            <a:ext cx="438912" cy="5486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2185416" y="3813048"/>
            <a:ext cx="109728" cy="182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2276856" y="3547872"/>
            <a:ext cx="1188720" cy="71323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2761488" y="3419856"/>
            <a:ext cx="219456" cy="21945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276856" y="368503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3502152" y="3877056"/>
            <a:ext cx="438912" cy="5486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3886200" y="3813048"/>
            <a:ext cx="109728" cy="182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3977640" y="3547872"/>
            <a:ext cx="1188720" cy="71323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4462272" y="3419856"/>
            <a:ext cx="219456" cy="219456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3977640" y="368503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(Llama)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5202936" y="3877056"/>
            <a:ext cx="438912" cy="5486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5586984" y="3813048"/>
            <a:ext cx="109728" cy="182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678424" y="3547872"/>
            <a:ext cx="1188720" cy="71323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6163056" y="3419856"/>
            <a:ext cx="219456" cy="219456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5678424" y="368503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6903720" y="3877056"/>
            <a:ext cx="438912" cy="5486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7287768" y="3813048"/>
            <a:ext cx="109728" cy="1828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7379208" y="3547872"/>
            <a:ext cx="1188720" cy="713232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7863840" y="3419856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7379208" y="368503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Streamed</a:t>
            </a:r>
            <a:endParaRPr lang="en-US" sz="900" dirty="0"/>
          </a:p>
        </p:txBody>
      </p:sp>
      <p:sp>
        <p:nvSpPr>
          <p:cNvPr id="61" name="Text 55"/>
          <p:cNvSpPr/>
          <p:nvPr/>
        </p:nvSpPr>
        <p:spPr>
          <a:xfrm>
            <a:off x="274320" y="470001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pPr algn="ctr"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Controls creativity/randomness of token sampling    </a:t>
            </a:r>
            <a:pPr algn="ctr"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</a:t>
            </a:r>
            <a:pPr algn="ctr"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Caps response length → cost &amp; latency control</a:t>
            </a:r>
            <a:endParaRPr lang="en-US" sz="850" dirty="0"/>
          </a:p>
        </p:txBody>
      </p:sp>
      <p:sp>
        <p:nvSpPr>
          <p:cNvPr id="62" name="Text 5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1 of 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Project – CLI AI Chatbot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4297680" cy="1353312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54864" cy="13533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80467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777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102412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CLI chatbot via Groq API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flow &amp; session memory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 &amp; env variable management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" y="2176272"/>
            <a:ext cx="4297680" cy="13716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" y="2176272"/>
            <a:ext cx="54864" cy="1371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21945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Flow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896" y="2523744"/>
            <a:ext cx="640080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896" y="25237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978408" y="2729484"/>
            <a:ext cx="164592" cy="4572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70432" y="2523744"/>
            <a:ext cx="640080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25237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App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837944" y="2729484"/>
            <a:ext cx="164592" cy="4572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029968" y="2523744"/>
            <a:ext cx="640080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29968" y="25237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API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2697480" y="2729484"/>
            <a:ext cx="164592" cy="4572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889504" y="2523744"/>
            <a:ext cx="640080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89504" y="25237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3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557016" y="2729484"/>
            <a:ext cx="164592" cy="4572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749040" y="2523744"/>
            <a:ext cx="640080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49040" y="25237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56032" y="30358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Conversation history passed on every turn (context window)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164592" y="3621024"/>
            <a:ext cx="4297680" cy="1335024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4592" y="3621024"/>
            <a:ext cx="54864" cy="1335024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2608" y="36393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56032" y="3877056"/>
            <a:ext cx="4114800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10896" y="38953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venv setup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810512" y="3941064"/>
            <a:ext cx="36576" cy="14630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901952" y="38953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venv &amp; dependency isolation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56032" y="4206240"/>
            <a:ext cx="4114800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10896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1810512" y="4270248"/>
            <a:ext cx="36576" cy="14630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901952" y="4224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keys via .env &amp; dotenv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56032" y="4535424"/>
            <a:ext cx="4114800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10896" y="45537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parsing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810512" y="4599432"/>
            <a:ext cx="36576" cy="14630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901952" y="4553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try/except &amp; error codes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626864" y="749808"/>
            <a:ext cx="4352544" cy="420624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26864" y="749808"/>
            <a:ext cx="4352544" cy="29260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26864" y="749808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791456" y="1115568"/>
            <a:ext cx="4023360" cy="640080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809744" y="1234440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09744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261872"/>
            <a:ext cx="237744" cy="237744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5504688" y="1179576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 Integration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5504688" y="139903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SDK, request/response structure, streaming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4791456" y="1792224"/>
            <a:ext cx="4023360" cy="640080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809744" y="1911096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809744" y="1911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pic>
        <p:nvPicPr>
          <p:cNvPr id="5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938528"/>
            <a:ext cx="237744" cy="237744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5504688" y="1856232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Fundamentals</a:t>
            </a:r>
            <a:endParaRPr lang="en-US" sz="950" dirty="0"/>
          </a:p>
        </p:txBody>
      </p:sp>
      <p:sp>
        <p:nvSpPr>
          <p:cNvPr id="60" name="Text 55"/>
          <p:cNvSpPr/>
          <p:nvPr/>
        </p:nvSpPr>
        <p:spPr>
          <a:xfrm>
            <a:off x="5504688" y="20756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vs user roles, instruction clarity, formatting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4791456" y="2468880"/>
            <a:ext cx="4023360" cy="640080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4809744" y="2587752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809744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615184"/>
            <a:ext cx="237744" cy="237744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5504688" y="253288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 Memory</a:t>
            </a:r>
            <a:endParaRPr lang="en-US" sz="950" dirty="0"/>
          </a:p>
        </p:txBody>
      </p:sp>
      <p:sp>
        <p:nvSpPr>
          <p:cNvPr id="66" name="Text 60"/>
          <p:cNvSpPr/>
          <p:nvPr/>
        </p:nvSpPr>
        <p:spPr>
          <a:xfrm>
            <a:off x="5504688" y="275234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message history = context continuity</a:t>
            </a:r>
            <a:endParaRPr lang="en-US" sz="800" dirty="0"/>
          </a:p>
        </p:txBody>
      </p:sp>
      <p:sp>
        <p:nvSpPr>
          <p:cNvPr id="67" name="Shape 61"/>
          <p:cNvSpPr/>
          <p:nvPr/>
        </p:nvSpPr>
        <p:spPr>
          <a:xfrm>
            <a:off x="4791456" y="3145536"/>
            <a:ext cx="4023360" cy="640080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4809744" y="3264408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4809744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3291840"/>
            <a:ext cx="237744" cy="237744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5504688" y="3209544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Window Limitations</a:t>
            </a:r>
            <a:endParaRPr lang="en-US" sz="950" dirty="0"/>
          </a:p>
        </p:txBody>
      </p:sp>
      <p:sp>
        <p:nvSpPr>
          <p:cNvPr id="72" name="Text 65"/>
          <p:cNvSpPr/>
          <p:nvPr/>
        </p:nvSpPr>
        <p:spPr>
          <a:xfrm>
            <a:off x="5504688" y="342900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planning → cost &amp; performance impact</a:t>
            </a:r>
            <a:endParaRPr lang="en-US" sz="800" dirty="0"/>
          </a:p>
        </p:txBody>
      </p:sp>
      <p:sp>
        <p:nvSpPr>
          <p:cNvPr id="73" name="Shape 66"/>
          <p:cNvSpPr/>
          <p:nvPr/>
        </p:nvSpPr>
        <p:spPr>
          <a:xfrm>
            <a:off x="4791456" y="3822192"/>
            <a:ext cx="4023360" cy="640080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4809744" y="3941064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4809744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pic>
        <p:nvPicPr>
          <p:cNvPr id="7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3968496"/>
            <a:ext cx="237744" cy="237744"/>
          </a:xfrm>
          <a:prstGeom prst="rect">
            <a:avLst/>
          </a:prstGeom>
        </p:spPr>
      </p:pic>
      <p:sp>
        <p:nvSpPr>
          <p:cNvPr id="77" name="Text 69"/>
          <p:cNvSpPr/>
          <p:nvPr/>
        </p:nvSpPr>
        <p:spPr>
          <a:xfrm>
            <a:off x="5504688" y="3886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AI Architecture</a:t>
            </a:r>
            <a:endParaRPr lang="en-US" sz="950" dirty="0"/>
          </a:p>
        </p:txBody>
      </p:sp>
      <p:sp>
        <p:nvSpPr>
          <p:cNvPr id="78" name="Text 70"/>
          <p:cNvSpPr/>
          <p:nvPr/>
        </p:nvSpPr>
        <p:spPr>
          <a:xfrm>
            <a:off x="5504688" y="410565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concerns: app / API / model layers</a:t>
            </a:r>
            <a:endParaRPr lang="en-US" sz="800" dirty="0"/>
          </a:p>
        </p:txBody>
      </p:sp>
      <p:sp>
        <p:nvSpPr>
          <p:cNvPr id="79" name="Shape 71"/>
          <p:cNvSpPr/>
          <p:nvPr/>
        </p:nvSpPr>
        <p:spPr>
          <a:xfrm>
            <a:off x="4791456" y="4224528"/>
            <a:ext cx="4023360" cy="640080"/>
          </a:xfrm>
          <a:prstGeom prst="rect">
            <a:avLst/>
          </a:prstGeom>
          <a:solidFill>
            <a:srgbClr val="007F85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80" name="Text 72"/>
          <p:cNvSpPr/>
          <p:nvPr/>
        </p:nvSpPr>
        <p:spPr>
          <a:xfrm>
            <a:off x="4791456" y="42245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→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2: LLM APIs &amp; Prompt Engineering</a:t>
            </a:r>
            <a:endParaRPr lang="en-US" sz="1000" dirty="0"/>
          </a:p>
        </p:txBody>
      </p:sp>
      <p:sp>
        <p:nvSpPr>
          <p:cNvPr id="81" name="Text 7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1 of 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Engineering Training – Day 1</dc:title>
  <dc:subject>PptxGenJS Presentation</dc:subject>
  <dc:creator>PptxGenJS</dc:creator>
  <cp:lastModifiedBy>PptxGenJS</cp:lastModifiedBy>
  <cp:revision>1</cp:revision>
  <dcterms:created xsi:type="dcterms:W3CDTF">2026-06-04T11:13:11Z</dcterms:created>
  <dcterms:modified xsi:type="dcterms:W3CDTF">2026-06-04T11:13:11Z</dcterms:modified>
</cp:coreProperties>
</file>