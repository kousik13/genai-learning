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Embeddings, Vector Databases &amp; RAG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5285232" cy="950976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64008" cy="9509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97840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Understanding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3232" y="11155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text → high-dimensional vectors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measures semantic closeness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38728" y="102412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38728" y="102412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all semantic search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164592" y="1755648"/>
            <a:ext cx="5285232" cy="950976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1755648"/>
            <a:ext cx="64008" cy="9509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98424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Fundamentals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3232" y="212140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strategies: fixed, semantic, overlap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 boosts retrieval precision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538728" y="202996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38728" y="20299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search accuracy &amp; relevance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164592" y="2761488"/>
            <a:ext cx="5285232" cy="950976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4592" y="2761488"/>
            <a:ext cx="64008" cy="9509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990088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 Ecosystem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13232" y="31272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(local) · FAISS (speed) · Pinecone (cloud)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similarity search at scale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538728" y="303580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538728" y="30358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store layer</a:t>
            </a:r>
            <a:endParaRPr lang="en-US" sz="760" dirty="0"/>
          </a:p>
        </p:txBody>
      </p:sp>
      <p:sp>
        <p:nvSpPr>
          <p:cNvPr id="29" name="Shape 24"/>
          <p:cNvSpPr/>
          <p:nvPr/>
        </p:nvSpPr>
        <p:spPr>
          <a:xfrm>
            <a:off x="164592" y="3767328"/>
            <a:ext cx="5285232" cy="950976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64592" y="3767328"/>
            <a:ext cx="64008" cy="950976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995928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Applications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13232" y="41330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· Document Q&amp;A · Knowledge Retrieval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AI systems reduce hallucination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538728" y="404164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538728" y="404164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auditable AI answers</a:t>
            </a:r>
            <a:endParaRPr lang="en-US" sz="760" dirty="0"/>
          </a:p>
        </p:txBody>
      </p:sp>
      <p:sp>
        <p:nvSpPr>
          <p:cNvPr id="36" name="Shape 30"/>
          <p:cNvSpPr/>
          <p:nvPr/>
        </p:nvSpPr>
        <p:spPr>
          <a:xfrm>
            <a:off x="5614416" y="749808"/>
            <a:ext cx="3364992" cy="43159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614416" y="80467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ARCHITECTURE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5971032" y="1133856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5952744" y="1271016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172200" y="117043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Input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6172200" y="1380744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Web</a:t>
            </a:r>
            <a:endParaRPr lang="en-US" sz="760" dirty="0"/>
          </a:p>
        </p:txBody>
      </p:sp>
      <p:sp>
        <p:nvSpPr>
          <p:cNvPr id="42" name="Shape 36"/>
          <p:cNvSpPr/>
          <p:nvPr/>
        </p:nvSpPr>
        <p:spPr>
          <a:xfrm>
            <a:off x="7269480" y="1572768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971032" y="1700784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5952744" y="1837944"/>
            <a:ext cx="164592" cy="164592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172200" y="173736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Chunking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6172200" y="1947672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· Semantic · Overlap</a:t>
            </a:r>
            <a:endParaRPr lang="en-US" sz="760" dirty="0"/>
          </a:p>
        </p:txBody>
      </p:sp>
      <p:sp>
        <p:nvSpPr>
          <p:cNvPr id="47" name="Shape 41"/>
          <p:cNvSpPr/>
          <p:nvPr/>
        </p:nvSpPr>
        <p:spPr>
          <a:xfrm>
            <a:off x="7269480" y="2139696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5971032" y="2267712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5952744" y="2404872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172200" y="230428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6172200" y="2514600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 (1536-dim)</a:t>
            </a:r>
            <a:endParaRPr lang="en-US" sz="760" dirty="0"/>
          </a:p>
        </p:txBody>
      </p:sp>
      <p:sp>
        <p:nvSpPr>
          <p:cNvPr id="52" name="Shape 46"/>
          <p:cNvSpPr/>
          <p:nvPr/>
        </p:nvSpPr>
        <p:spPr>
          <a:xfrm>
            <a:off x="7269480" y="2706624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971032" y="2834640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5952744" y="297180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172200" y="287121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Database</a:t>
            </a:r>
            <a:endParaRPr lang="en-US" sz="950" dirty="0"/>
          </a:p>
        </p:txBody>
      </p:sp>
      <p:sp>
        <p:nvSpPr>
          <p:cNvPr id="56" name="Text 50"/>
          <p:cNvSpPr/>
          <p:nvPr/>
        </p:nvSpPr>
        <p:spPr>
          <a:xfrm>
            <a:off x="6172200" y="3081528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· FAISS · Pinecone</a:t>
            </a:r>
            <a:endParaRPr lang="en-US" sz="760" dirty="0"/>
          </a:p>
        </p:txBody>
      </p:sp>
      <p:sp>
        <p:nvSpPr>
          <p:cNvPr id="57" name="Shape 51"/>
          <p:cNvSpPr/>
          <p:nvPr/>
        </p:nvSpPr>
        <p:spPr>
          <a:xfrm>
            <a:off x="7269480" y="3273552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971032" y="3401568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5952744" y="3538728"/>
            <a:ext cx="164592" cy="164592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6172200" y="34381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Search</a:t>
            </a:r>
            <a:endParaRPr lang="en-US" sz="950" dirty="0"/>
          </a:p>
        </p:txBody>
      </p:sp>
      <p:sp>
        <p:nvSpPr>
          <p:cNvPr id="61" name="Text 55"/>
          <p:cNvSpPr/>
          <p:nvPr/>
        </p:nvSpPr>
        <p:spPr>
          <a:xfrm>
            <a:off x="6172200" y="3648456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Top-K</a:t>
            </a:r>
            <a:endParaRPr lang="en-US" sz="760" dirty="0"/>
          </a:p>
        </p:txBody>
      </p:sp>
      <p:sp>
        <p:nvSpPr>
          <p:cNvPr id="62" name="Shape 56"/>
          <p:cNvSpPr/>
          <p:nvPr/>
        </p:nvSpPr>
        <p:spPr>
          <a:xfrm>
            <a:off x="7269480" y="3840480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5971032" y="3968496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4" name="Shape 58"/>
          <p:cNvSpPr/>
          <p:nvPr/>
        </p:nvSpPr>
        <p:spPr>
          <a:xfrm>
            <a:off x="5952744" y="4105656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6172200" y="400507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Context</a:t>
            </a:r>
            <a:endParaRPr lang="en-US" sz="950" dirty="0"/>
          </a:p>
        </p:txBody>
      </p:sp>
      <p:sp>
        <p:nvSpPr>
          <p:cNvPr id="66" name="Text 60"/>
          <p:cNvSpPr/>
          <p:nvPr/>
        </p:nvSpPr>
        <p:spPr>
          <a:xfrm>
            <a:off x="6172200" y="4215384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760" dirty="0"/>
          </a:p>
        </p:txBody>
      </p:sp>
      <p:sp>
        <p:nvSpPr>
          <p:cNvPr id="67" name="Shape 61"/>
          <p:cNvSpPr/>
          <p:nvPr/>
        </p:nvSpPr>
        <p:spPr>
          <a:xfrm>
            <a:off x="5815584" y="4663440"/>
            <a:ext cx="2706624" cy="2377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5815584" y="466344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Grounded · Accurate · Enterprise Answer</a:t>
            </a:r>
            <a:endParaRPr lang="en-US" sz="800" dirty="0"/>
          </a:p>
        </p:txBody>
      </p:sp>
      <p:sp>
        <p:nvSpPr>
          <p:cNvPr id="69" name="Text 6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3 of 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Labs &amp; Hands-On Learning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279392" cy="129844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749808"/>
            <a:ext cx="566928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7498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" y="7498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Ingestion Pipeline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52144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" y="10607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prepare text from PDF documents
</a:t>
            </a:r>
            <a:pPr indent="0" marL="0">
              <a:buNone/>
            </a:pPr>
            <a:r>
              <a:rPr lang="en-US" sz="88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extraction · text cleaning · pre-processing
</a:t>
            </a:r>
            <a:pPr indent="0" marL="0">
              <a:buNone/>
            </a:pPr>
            <a:r>
              <a:rPr lang="en-US" sz="88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PDF → structured text is the data foundation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164592" y="2167128"/>
            <a:ext cx="4279392" cy="129844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216712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4592" y="2167128"/>
            <a:ext cx="566928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21671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86384" y="216712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Generation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56946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3504" y="247802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chunks into vector representations
</a:t>
            </a:r>
            <a:pPr indent="0" marL="0">
              <a:buNone/>
            </a:pPr>
            <a:r>
              <a:rPr lang="en-US" sz="8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· chunk batching · vector output
</a:t>
            </a:r>
            <a:pPr indent="0" marL="0">
              <a:buNone/>
            </a:pPr>
            <a:r>
              <a:rPr lang="en-US" sz="88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= a point in high-dimensional semantic space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164592" y="3584448"/>
            <a:ext cx="4279392" cy="129844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4592" y="358444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4592" y="3584448"/>
            <a:ext cx="566928" cy="256032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64592" y="35844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86384" y="358444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Search Implementation</a:t>
            </a:r>
            <a:endParaRPr lang="en-US" sz="10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986784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03504" y="389534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chunks via similarity matching
</a:t>
            </a:r>
            <a:pPr indent="0" marL="0">
              <a:buNone/>
            </a:pPr>
            <a:r>
              <a:rPr lang="en-US" sz="8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 · cosine similarity · Top-K retrieval
</a:t>
            </a:r>
            <a:pPr indent="0" marL="0">
              <a:buNone/>
            </a:pPr>
            <a:r>
              <a:rPr lang="en-US" sz="88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&gt; keyword — context matters more than words</a:t>
            </a:r>
            <a:endParaRPr lang="en-US" sz="880" dirty="0"/>
          </a:p>
        </p:txBody>
      </p:sp>
      <p:sp>
        <p:nvSpPr>
          <p:cNvPr id="29" name="Shape 24"/>
          <p:cNvSpPr/>
          <p:nvPr/>
        </p:nvSpPr>
        <p:spPr>
          <a:xfrm>
            <a:off x="164592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64592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Processing Pipeline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2212848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212848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Creation Workflow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4261104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261104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Similarity-Based Retrieval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6309360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309360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Relevance Improvement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608576" y="749808"/>
            <a:ext cx="4370832" cy="38587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608576" y="80467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INGESTION PIPELINE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5230368" y="111556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449824" y="115214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Documents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5449824" y="136245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input</a:t>
            </a:r>
            <a:endParaRPr lang="en-US" sz="760" dirty="0"/>
          </a:p>
        </p:txBody>
      </p:sp>
      <p:sp>
        <p:nvSpPr>
          <p:cNvPr id="43" name="Shape 38"/>
          <p:cNvSpPr/>
          <p:nvPr/>
        </p:nvSpPr>
        <p:spPr>
          <a:xfrm>
            <a:off x="6766560" y="155448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5230368" y="166420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449824" y="170078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Extraction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5449824" y="191109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· pdfplumber</a:t>
            </a:r>
            <a:endParaRPr lang="en-US" sz="760" dirty="0"/>
          </a:p>
        </p:txBody>
      </p:sp>
      <p:sp>
        <p:nvSpPr>
          <p:cNvPr id="48" name="Shape 43"/>
          <p:cNvSpPr/>
          <p:nvPr/>
        </p:nvSpPr>
        <p:spPr>
          <a:xfrm>
            <a:off x="6766560" y="210312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230368" y="221284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449824" y="224942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Chunking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5449824" y="245973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256–512 tokens · overlap 20%</a:t>
            </a:r>
            <a:endParaRPr lang="en-US" sz="760" dirty="0"/>
          </a:p>
        </p:txBody>
      </p:sp>
      <p:sp>
        <p:nvSpPr>
          <p:cNvPr id="53" name="Shape 48"/>
          <p:cNvSpPr/>
          <p:nvPr/>
        </p:nvSpPr>
        <p:spPr>
          <a:xfrm>
            <a:off x="6766560" y="265176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5230368" y="276148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5449824" y="279806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Model</a:t>
            </a:r>
            <a:endParaRPr lang="en-US" sz="950" dirty="0"/>
          </a:p>
        </p:txBody>
      </p:sp>
      <p:sp>
        <p:nvSpPr>
          <p:cNvPr id="57" name="Text 52"/>
          <p:cNvSpPr/>
          <p:nvPr/>
        </p:nvSpPr>
        <p:spPr>
          <a:xfrm>
            <a:off x="5449824" y="300837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text-embedding-ada / local</a:t>
            </a:r>
            <a:endParaRPr lang="en-US" sz="760" dirty="0"/>
          </a:p>
        </p:txBody>
      </p:sp>
      <p:sp>
        <p:nvSpPr>
          <p:cNvPr id="58" name="Shape 53"/>
          <p:cNvSpPr/>
          <p:nvPr/>
        </p:nvSpPr>
        <p:spPr>
          <a:xfrm>
            <a:off x="6766560" y="320040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5230368" y="331012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0" name="Shape 55"/>
          <p:cNvSpPr/>
          <p:nvPr/>
        </p:nvSpPr>
        <p:spPr>
          <a:xfrm>
            <a:off x="5212080" y="3447288"/>
            <a:ext cx="164592" cy="164592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5449824" y="334670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Storage</a:t>
            </a:r>
            <a:endParaRPr lang="en-US" sz="950" dirty="0"/>
          </a:p>
        </p:txBody>
      </p:sp>
      <p:sp>
        <p:nvSpPr>
          <p:cNvPr id="62" name="Text 57"/>
          <p:cNvSpPr/>
          <p:nvPr/>
        </p:nvSpPr>
        <p:spPr>
          <a:xfrm>
            <a:off x="5449824" y="355701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· FAISS · Pinecone</a:t>
            </a:r>
            <a:endParaRPr lang="en-US" sz="760" dirty="0"/>
          </a:p>
        </p:txBody>
      </p:sp>
      <p:sp>
        <p:nvSpPr>
          <p:cNvPr id="63" name="Shape 58"/>
          <p:cNvSpPr/>
          <p:nvPr/>
        </p:nvSpPr>
        <p:spPr>
          <a:xfrm>
            <a:off x="6766560" y="374904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5230368" y="385876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5" name="Shape 60"/>
          <p:cNvSpPr/>
          <p:nvPr/>
        </p:nvSpPr>
        <p:spPr>
          <a:xfrm>
            <a:off x="5212080" y="399592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5449824" y="389534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Search</a:t>
            </a:r>
            <a:endParaRPr lang="en-US" sz="950" dirty="0"/>
          </a:p>
        </p:txBody>
      </p:sp>
      <p:sp>
        <p:nvSpPr>
          <p:cNvPr id="67" name="Text 62"/>
          <p:cNvSpPr/>
          <p:nvPr/>
        </p:nvSpPr>
        <p:spPr>
          <a:xfrm>
            <a:off x="5449824" y="410565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cosine match → Top-K</a:t>
            </a:r>
            <a:endParaRPr lang="en-US" sz="760" dirty="0"/>
          </a:p>
        </p:txBody>
      </p:sp>
      <p:sp>
        <p:nvSpPr>
          <p:cNvPr id="68" name="Shape 63"/>
          <p:cNvSpPr/>
          <p:nvPr/>
        </p:nvSpPr>
        <p:spPr>
          <a:xfrm>
            <a:off x="4791456" y="4407408"/>
            <a:ext cx="4005072" cy="18288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791456" y="440740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Relevant Document Chunks Retrieved for LLM Context</a:t>
            </a:r>
            <a:endParaRPr lang="en-US" sz="780" dirty="0"/>
          </a:p>
        </p:txBody>
      </p:sp>
      <p:sp>
        <p:nvSpPr>
          <p:cNvPr id="70" name="Text 6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3 of 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Project – PDF Q&amp;A Chatbot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315968" cy="138988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54864" cy="1389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82296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795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" y="1042416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PDF-based Q&amp;A Chatbot using Groq API + RAG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 → text extraction → chunking → embeddings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retrieves context · LLM generates answer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" y="2212848"/>
            <a:ext cx="4315968" cy="1609344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" y="2212848"/>
            <a:ext cx="54864" cy="16093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2240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Flow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</a:t>
            </a:r>
            <a:endParaRPr lang="en-US" sz="620" dirty="0"/>
          </a:p>
        </p:txBody>
      </p:sp>
      <p:sp>
        <p:nvSpPr>
          <p:cNvPr id="18" name="Shape 15"/>
          <p:cNvSpPr/>
          <p:nvPr/>
        </p:nvSpPr>
        <p:spPr>
          <a:xfrm>
            <a:off x="649224" y="2697480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620" dirty="0"/>
          </a:p>
        </p:txBody>
      </p:sp>
      <p:sp>
        <p:nvSpPr>
          <p:cNvPr id="21" name="Shape 18"/>
          <p:cNvSpPr/>
          <p:nvPr/>
        </p:nvSpPr>
        <p:spPr>
          <a:xfrm>
            <a:off x="1106424" y="2697480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887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887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1563624" y="2697480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459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459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2020824" y="2697480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031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031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2478024" y="2697480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603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620" dirty="0"/>
          </a:p>
        </p:txBody>
      </p:sp>
      <p:sp>
        <p:nvSpPr>
          <p:cNvPr id="33" name="Shape 30"/>
          <p:cNvSpPr/>
          <p:nvPr/>
        </p:nvSpPr>
        <p:spPr>
          <a:xfrm>
            <a:off x="2935224" y="2697480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0175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175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3392424" y="2697480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747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747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620" dirty="0"/>
          </a:p>
        </p:txBody>
      </p:sp>
      <p:sp>
        <p:nvSpPr>
          <p:cNvPr id="39" name="Shape 36"/>
          <p:cNvSpPr/>
          <p:nvPr/>
        </p:nvSpPr>
        <p:spPr>
          <a:xfrm>
            <a:off x="3849624" y="2697480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931920" y="2542032"/>
            <a:ext cx="365760" cy="347472"/>
          </a:xfrm>
          <a:prstGeom prst="rect">
            <a:avLst/>
          </a:prstGeom>
          <a:solidFill>
            <a:srgbClr val="1C3354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93192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620" dirty="0"/>
          </a:p>
        </p:txBody>
      </p:sp>
      <p:sp>
        <p:nvSpPr>
          <p:cNvPr id="42" name="Text 39"/>
          <p:cNvSpPr/>
          <p:nvPr/>
        </p:nvSpPr>
        <p:spPr>
          <a:xfrm>
            <a:off x="256032" y="296265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RAG loop: every question → fresh semantic retrieval → grounded answer</a:t>
            </a:r>
            <a:endParaRPr lang="en-US" sz="730" dirty="0"/>
          </a:p>
        </p:txBody>
      </p:sp>
      <p:sp>
        <p:nvSpPr>
          <p:cNvPr id="43" name="Shape 40"/>
          <p:cNvSpPr/>
          <p:nvPr/>
        </p:nvSpPr>
        <p:spPr>
          <a:xfrm>
            <a:off x="164592" y="3895344"/>
            <a:ext cx="4315968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64592" y="3895344"/>
            <a:ext cx="54864" cy="1005840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92608" y="39136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256032" y="4151376"/>
            <a:ext cx="4133088" cy="201168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0896" y="41696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1810512" y="4206240"/>
            <a:ext cx="36576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901952" y="4169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fixed-size + overlap for best retrieval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256032" y="4389120"/>
            <a:ext cx="4133088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10896" y="4407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selection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1810512" y="4443984"/>
            <a:ext cx="36576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901952" y="44074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cosine match → filtered by metadata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256032" y="4626864"/>
            <a:ext cx="4133088" cy="201168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10896" y="46451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accuracy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1810512" y="4681728"/>
            <a:ext cx="36576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901952" y="4645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choice critical for quality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645152" y="749808"/>
            <a:ext cx="4334256" cy="4151376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645152" y="749808"/>
            <a:ext cx="4334256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645152" y="74980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4809744" y="1088136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828032" y="1197864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828032" y="1197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pic>
        <p:nvPicPr>
          <p:cNvPr id="6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225296"/>
            <a:ext cx="219456" cy="219456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5486400" y="114300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 &amp; Semantic Search</a:t>
            </a:r>
            <a:endParaRPr lang="en-US" sz="950" dirty="0"/>
          </a:p>
        </p:txBody>
      </p:sp>
      <p:sp>
        <p:nvSpPr>
          <p:cNvPr id="66" name="Text 62"/>
          <p:cNvSpPr/>
          <p:nvPr/>
        </p:nvSpPr>
        <p:spPr>
          <a:xfrm>
            <a:off x="5486400" y="136245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as vectors; similarity over keywords</a:t>
            </a:r>
            <a:endParaRPr lang="en-US" sz="780" dirty="0"/>
          </a:p>
        </p:txBody>
      </p:sp>
      <p:sp>
        <p:nvSpPr>
          <p:cNvPr id="67" name="Shape 63"/>
          <p:cNvSpPr/>
          <p:nvPr/>
        </p:nvSpPr>
        <p:spPr>
          <a:xfrm>
            <a:off x="4809744" y="1655064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4828032" y="1764792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828032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792224"/>
            <a:ext cx="219456" cy="219456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5486400" y="170992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Database Fundamentals</a:t>
            </a:r>
            <a:endParaRPr lang="en-US" sz="950" dirty="0"/>
          </a:p>
        </p:txBody>
      </p:sp>
      <p:sp>
        <p:nvSpPr>
          <p:cNvPr id="72" name="Text 67"/>
          <p:cNvSpPr/>
          <p:nvPr/>
        </p:nvSpPr>
        <p:spPr>
          <a:xfrm>
            <a:off x="5486400" y="192938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FAISS, Pinecone — built for speed at scale</a:t>
            </a:r>
            <a:endParaRPr lang="en-US" sz="780" dirty="0"/>
          </a:p>
        </p:txBody>
      </p:sp>
      <p:sp>
        <p:nvSpPr>
          <p:cNvPr id="73" name="Shape 68"/>
          <p:cNvSpPr/>
          <p:nvPr/>
        </p:nvSpPr>
        <p:spPr>
          <a:xfrm>
            <a:off x="4809744" y="2221992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4828032" y="2331720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4828032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pic>
        <p:nvPicPr>
          <p:cNvPr id="7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359152"/>
            <a:ext cx="219456" cy="219456"/>
          </a:xfrm>
          <a:prstGeom prst="rect">
            <a:avLst/>
          </a:prstGeom>
        </p:spPr>
      </p:pic>
      <p:sp>
        <p:nvSpPr>
          <p:cNvPr id="77" name="Text 71"/>
          <p:cNvSpPr/>
          <p:nvPr/>
        </p:nvSpPr>
        <p:spPr>
          <a:xfrm>
            <a:off x="5486400" y="227685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Systems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5486400" y="249631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· Top-K · metadata filtering</a:t>
            </a:r>
            <a:endParaRPr lang="en-US" sz="780" dirty="0"/>
          </a:p>
        </p:txBody>
      </p:sp>
      <p:sp>
        <p:nvSpPr>
          <p:cNvPr id="79" name="Shape 73"/>
          <p:cNvSpPr/>
          <p:nvPr/>
        </p:nvSpPr>
        <p:spPr>
          <a:xfrm>
            <a:off x="4809744" y="2788920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>
            <a:off x="4828032" y="2898648"/>
            <a:ext cx="292608" cy="292608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81" name="Text 75"/>
          <p:cNvSpPr/>
          <p:nvPr/>
        </p:nvSpPr>
        <p:spPr>
          <a:xfrm>
            <a:off x="4828032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pic>
        <p:nvPicPr>
          <p:cNvPr id="8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2926080"/>
            <a:ext cx="219456" cy="219456"/>
          </a:xfrm>
          <a:prstGeom prst="rect">
            <a:avLst/>
          </a:prstGeom>
        </p:spPr>
      </p:pic>
      <p:sp>
        <p:nvSpPr>
          <p:cNvPr id="83" name="Text 76"/>
          <p:cNvSpPr/>
          <p:nvPr/>
        </p:nvSpPr>
        <p:spPr>
          <a:xfrm>
            <a:off x="5486400" y="28437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Architecture</a:t>
            </a:r>
            <a:endParaRPr lang="en-US" sz="950" dirty="0"/>
          </a:p>
        </p:txBody>
      </p:sp>
      <p:sp>
        <p:nvSpPr>
          <p:cNvPr id="84" name="Text 77"/>
          <p:cNvSpPr/>
          <p:nvPr/>
        </p:nvSpPr>
        <p:spPr>
          <a:xfrm>
            <a:off x="5486400" y="30632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answers; hallucination dramatically reduced</a:t>
            </a:r>
            <a:endParaRPr lang="en-US" sz="780" dirty="0"/>
          </a:p>
        </p:txBody>
      </p:sp>
      <p:sp>
        <p:nvSpPr>
          <p:cNvPr id="85" name="Shape 78"/>
          <p:cNvSpPr/>
          <p:nvPr/>
        </p:nvSpPr>
        <p:spPr>
          <a:xfrm>
            <a:off x="4809744" y="3355848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4828032" y="3465576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482803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pic>
        <p:nvPicPr>
          <p:cNvPr id="8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3493008"/>
            <a:ext cx="219456" cy="219456"/>
          </a:xfrm>
          <a:prstGeom prst="rect">
            <a:avLst/>
          </a:prstGeom>
        </p:spPr>
      </p:pic>
      <p:sp>
        <p:nvSpPr>
          <p:cNvPr id="89" name="Text 81"/>
          <p:cNvSpPr/>
          <p:nvPr/>
        </p:nvSpPr>
        <p:spPr>
          <a:xfrm>
            <a:off x="5486400" y="341071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Knowledge Assistants</a:t>
            </a:r>
            <a:endParaRPr lang="en-US" sz="950" dirty="0"/>
          </a:p>
        </p:txBody>
      </p:sp>
      <p:sp>
        <p:nvSpPr>
          <p:cNvPr id="90" name="Text 82"/>
          <p:cNvSpPr/>
          <p:nvPr/>
        </p:nvSpPr>
        <p:spPr>
          <a:xfrm>
            <a:off x="5486400" y="363016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docs · policy search · contract review</a:t>
            </a:r>
            <a:endParaRPr lang="en-US" sz="780" dirty="0"/>
          </a:p>
        </p:txBody>
      </p:sp>
      <p:sp>
        <p:nvSpPr>
          <p:cNvPr id="91" name="Shape 83"/>
          <p:cNvSpPr/>
          <p:nvPr/>
        </p:nvSpPr>
        <p:spPr>
          <a:xfrm>
            <a:off x="4809744" y="3922776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4828032" y="4032504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3" name="Text 85"/>
          <p:cNvSpPr/>
          <p:nvPr/>
        </p:nvSpPr>
        <p:spPr>
          <a:xfrm>
            <a:off x="482803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pic>
        <p:nvPicPr>
          <p:cNvPr id="9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4059936"/>
            <a:ext cx="219456" cy="219456"/>
          </a:xfrm>
          <a:prstGeom prst="rect">
            <a:avLst/>
          </a:prstGeom>
        </p:spPr>
      </p:pic>
      <p:sp>
        <p:nvSpPr>
          <p:cNvPr id="95" name="Text 86"/>
          <p:cNvSpPr/>
          <p:nvPr/>
        </p:nvSpPr>
        <p:spPr>
          <a:xfrm>
            <a:off x="5486400" y="39776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Document Search</a:t>
            </a:r>
            <a:endParaRPr lang="en-US" sz="950" dirty="0"/>
          </a:p>
        </p:txBody>
      </p:sp>
      <p:sp>
        <p:nvSpPr>
          <p:cNvPr id="96" name="Text 87"/>
          <p:cNvSpPr/>
          <p:nvPr/>
        </p:nvSpPr>
        <p:spPr>
          <a:xfrm>
            <a:off x="5486400" y="419709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embed → retrieve → answer production pipeline</a:t>
            </a:r>
            <a:endParaRPr lang="en-US" sz="780" dirty="0"/>
          </a:p>
        </p:txBody>
      </p:sp>
      <p:sp>
        <p:nvSpPr>
          <p:cNvPr id="97" name="Shape 88"/>
          <p:cNvSpPr/>
          <p:nvPr/>
        </p:nvSpPr>
        <p:spPr>
          <a:xfrm>
            <a:off x="4809744" y="4261104"/>
            <a:ext cx="4005072" cy="566928"/>
          </a:xfrm>
          <a:prstGeom prst="rect">
            <a:avLst/>
          </a:prstGeom>
          <a:solidFill>
            <a:srgbClr val="007F85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98" name="Text 89"/>
          <p:cNvSpPr/>
          <p:nvPr/>
        </p:nvSpPr>
        <p:spPr>
          <a:xfrm>
            <a:off x="4809744" y="426110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→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4: AI Agents &amp; Tool Calling</a:t>
            </a:r>
            <a:endParaRPr lang="en-US" sz="1000" dirty="0"/>
          </a:p>
        </p:txBody>
      </p:sp>
      <p:sp>
        <p:nvSpPr>
          <p:cNvPr id="99" name="Text 9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3 of 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Engineering Training – Day 3</dc:title>
  <dc:subject>PptxGenJS Presentation</dc:subject>
  <dc:creator>PptxGenJS</dc:creator>
  <cp:lastModifiedBy>PptxGenJS</cp:lastModifiedBy>
  <cp:revision>1</cp:revision>
  <dcterms:created xsi:type="dcterms:W3CDTF">2026-06-09T04:54:18Z</dcterms:created>
  <dcterms:modified xsi:type="dcterms:W3CDTF">2026-06-09T04:54:18Z</dcterms:modified>
</cp:coreProperties>
</file>