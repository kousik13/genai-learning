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APIs &amp; Prompt Engineering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5257800" cy="795528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49808"/>
            <a:ext cx="64008" cy="7955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932688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" y="81381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Foundations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3232" y="105156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Lifecycle · Request/Response Architecture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Models vs Completion Models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538728" y="978408"/>
            <a:ext cx="1783080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38728" y="9784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of every LLM integration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164592" y="1581912"/>
            <a:ext cx="5257800" cy="795528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4592" y="1581912"/>
            <a:ext cx="64008" cy="7955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764792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" y="164592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Fundamentals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13232" y="188366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· User · Assistant roles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Prompting · Structured Prompting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538728" y="1810512"/>
            <a:ext cx="1783080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38728" y="18105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model behaviour &amp; output</a:t>
            </a:r>
            <a:endParaRPr lang="en-US" sz="760" dirty="0"/>
          </a:p>
        </p:txBody>
      </p:sp>
      <p:sp>
        <p:nvSpPr>
          <p:cNvPr id="22" name="Shape 18"/>
          <p:cNvSpPr/>
          <p:nvPr/>
        </p:nvSpPr>
        <p:spPr>
          <a:xfrm>
            <a:off x="164592" y="2414016"/>
            <a:ext cx="5257800" cy="795528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64592" y="2414016"/>
            <a:ext cx="64008" cy="7955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2596896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3232" y="247802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Engineering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13232" y="2715768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· JSON Mode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 for real-time UX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3538728" y="2642616"/>
            <a:ext cx="1783080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538728" y="26426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extraction &amp; pipelines</a:t>
            </a:r>
            <a:endParaRPr lang="en-US" sz="760" dirty="0"/>
          </a:p>
        </p:txBody>
      </p:sp>
      <p:sp>
        <p:nvSpPr>
          <p:cNvPr id="29" name="Shape 24"/>
          <p:cNvSpPr/>
          <p:nvPr/>
        </p:nvSpPr>
        <p:spPr>
          <a:xfrm>
            <a:off x="164592" y="3246120"/>
            <a:ext cx="5257800" cy="795528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64592" y="3246120"/>
            <a:ext cx="64008" cy="795528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3429000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3232" y="33101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Prompt Engineering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713232" y="354787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· Few-Shot · Chain-of-Thought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Prompting for agentic reasoning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3538728" y="3474720"/>
            <a:ext cx="1783080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538728" y="3474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reasoning &amp; complex tasks</a:t>
            </a:r>
            <a:endParaRPr lang="en-US" sz="760" dirty="0"/>
          </a:p>
        </p:txBody>
      </p:sp>
      <p:sp>
        <p:nvSpPr>
          <p:cNvPr id="36" name="Shape 30"/>
          <p:cNvSpPr/>
          <p:nvPr/>
        </p:nvSpPr>
        <p:spPr>
          <a:xfrm>
            <a:off x="164592" y="4078224"/>
            <a:ext cx="5257800" cy="795528"/>
          </a:xfrm>
          <a:prstGeom prst="rect">
            <a:avLst/>
          </a:prstGeom>
          <a:solidFill>
            <a:srgbClr val="132338"/>
          </a:solidFill>
          <a:ln w="10160">
            <a:solidFill>
              <a:srgbClr val="1C3354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64592" y="4078224"/>
            <a:ext cx="64008" cy="7955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4261104"/>
            <a:ext cx="310896" cy="31089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13232" y="414223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Safety &amp; Reliability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713232" y="4379976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· Prompt Injection defence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Prompt Design patterns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3538728" y="4306824"/>
            <a:ext cx="1783080" cy="320040"/>
          </a:xfrm>
          <a:prstGeom prst="rect">
            <a:avLst/>
          </a:prstGeom>
          <a:solidFill>
            <a:srgbClr val="1C3354"/>
          </a:solidFill>
          <a:ln w="8890">
            <a:solidFill>
              <a:srgbClr val="007F85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3538728" y="430682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&amp; compliance</a:t>
            </a:r>
            <a:endParaRPr lang="en-US" sz="760" dirty="0"/>
          </a:p>
        </p:txBody>
      </p:sp>
      <p:sp>
        <p:nvSpPr>
          <p:cNvPr id="43" name="Shape 36"/>
          <p:cNvSpPr/>
          <p:nvPr/>
        </p:nvSpPr>
        <p:spPr>
          <a:xfrm>
            <a:off x="5596128" y="749808"/>
            <a:ext cx="3383280" cy="431596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5596128" y="804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API REQUEST FLOW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5943600" y="1133856"/>
            <a:ext cx="2688336" cy="457200"/>
          </a:xfrm>
          <a:prstGeom prst="rect">
            <a:avLst/>
          </a:prstGeom>
          <a:solidFill>
            <a:srgbClr val="1C3354"/>
          </a:solidFill>
          <a:ln w="19050">
            <a:solidFill>
              <a:srgbClr val="4E9AF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5943600" y="1280160"/>
            <a:ext cx="164592" cy="164592"/>
          </a:xfrm>
          <a:prstGeom prst="ellipse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6181344" y="117957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Input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6181344" y="138074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Query</a:t>
            </a:r>
            <a:endParaRPr lang="en-US" sz="780" dirty="0"/>
          </a:p>
        </p:txBody>
      </p:sp>
      <p:sp>
        <p:nvSpPr>
          <p:cNvPr id="49" name="Shape 42"/>
          <p:cNvSpPr/>
          <p:nvPr/>
        </p:nvSpPr>
        <p:spPr>
          <a:xfrm>
            <a:off x="7260336" y="1591056"/>
            <a:ext cx="54864" cy="10972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5943600" y="1737360"/>
            <a:ext cx="2688336" cy="457200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5943600" y="1883664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6181344" y="17830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</a:t>
            </a:r>
            <a:endParaRPr lang="en-US" sz="950" dirty="0"/>
          </a:p>
        </p:txBody>
      </p:sp>
      <p:sp>
        <p:nvSpPr>
          <p:cNvPr id="53" name="Text 46"/>
          <p:cNvSpPr/>
          <p:nvPr/>
        </p:nvSpPr>
        <p:spPr>
          <a:xfrm>
            <a:off x="6181344" y="198424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Context · Rules</a:t>
            </a:r>
            <a:endParaRPr lang="en-US" sz="780" dirty="0"/>
          </a:p>
        </p:txBody>
      </p:sp>
      <p:sp>
        <p:nvSpPr>
          <p:cNvPr id="54" name="Shape 47"/>
          <p:cNvSpPr/>
          <p:nvPr/>
        </p:nvSpPr>
        <p:spPr>
          <a:xfrm>
            <a:off x="7260336" y="2194560"/>
            <a:ext cx="54864" cy="10972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5943600" y="2340864"/>
            <a:ext cx="2688336" cy="457200"/>
          </a:xfrm>
          <a:prstGeom prst="rect">
            <a:avLst/>
          </a:prstGeom>
          <a:solidFill>
            <a:srgbClr val="1C3354"/>
          </a:solidFill>
          <a:ln w="19050">
            <a:solidFill>
              <a:srgbClr val="29B6A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6" name="Shape 49"/>
          <p:cNvSpPr/>
          <p:nvPr/>
        </p:nvSpPr>
        <p:spPr>
          <a:xfrm>
            <a:off x="5943600" y="2487168"/>
            <a:ext cx="164592" cy="164592"/>
          </a:xfrm>
          <a:prstGeom prst="ellipse">
            <a:avLst/>
          </a:prstGeom>
          <a:solidFill>
            <a:srgbClr val="29B6A8"/>
          </a:solidFill>
          <a:ln w="12700">
            <a:solidFill>
              <a:srgbClr val="29B6A8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6181344" y="238658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API Request</a:t>
            </a:r>
            <a:endParaRPr lang="en-US" sz="950" dirty="0"/>
          </a:p>
        </p:txBody>
      </p:sp>
      <p:sp>
        <p:nvSpPr>
          <p:cNvPr id="58" name="Text 51"/>
          <p:cNvSpPr/>
          <p:nvPr/>
        </p:nvSpPr>
        <p:spPr>
          <a:xfrm>
            <a:off x="6181344" y="258775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temp · tokens</a:t>
            </a:r>
            <a:endParaRPr lang="en-US" sz="780" dirty="0"/>
          </a:p>
        </p:txBody>
      </p:sp>
      <p:sp>
        <p:nvSpPr>
          <p:cNvPr id="59" name="Shape 52"/>
          <p:cNvSpPr/>
          <p:nvPr/>
        </p:nvSpPr>
        <p:spPr>
          <a:xfrm>
            <a:off x="7260336" y="2798064"/>
            <a:ext cx="54864" cy="10972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5943600" y="2944368"/>
            <a:ext cx="2688336" cy="457200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61" name="Shape 54"/>
          <p:cNvSpPr/>
          <p:nvPr/>
        </p:nvSpPr>
        <p:spPr>
          <a:xfrm>
            <a:off x="5943600" y="3090672"/>
            <a:ext cx="164592" cy="164592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6181344" y="299008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Processing</a:t>
            </a:r>
            <a:endParaRPr lang="en-US" sz="950" dirty="0"/>
          </a:p>
        </p:txBody>
      </p:sp>
      <p:sp>
        <p:nvSpPr>
          <p:cNvPr id="63" name="Text 56"/>
          <p:cNvSpPr/>
          <p:nvPr/>
        </p:nvSpPr>
        <p:spPr>
          <a:xfrm>
            <a:off x="6181344" y="319125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→ Attention</a:t>
            </a:r>
            <a:endParaRPr lang="en-US" sz="780" dirty="0"/>
          </a:p>
        </p:txBody>
      </p:sp>
      <p:sp>
        <p:nvSpPr>
          <p:cNvPr id="64" name="Shape 57"/>
          <p:cNvSpPr/>
          <p:nvPr/>
        </p:nvSpPr>
        <p:spPr>
          <a:xfrm>
            <a:off x="7260336" y="3401568"/>
            <a:ext cx="54864" cy="10972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5943600" y="3547872"/>
            <a:ext cx="2688336" cy="457200"/>
          </a:xfrm>
          <a:prstGeom prst="rect">
            <a:avLst/>
          </a:prstGeom>
          <a:solidFill>
            <a:srgbClr val="1C3354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66" name="Shape 59"/>
          <p:cNvSpPr/>
          <p:nvPr/>
        </p:nvSpPr>
        <p:spPr>
          <a:xfrm>
            <a:off x="5943600" y="3694176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6181344" y="359359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Output</a:t>
            </a:r>
            <a:endParaRPr lang="en-US" sz="950" dirty="0"/>
          </a:p>
        </p:txBody>
      </p:sp>
      <p:sp>
        <p:nvSpPr>
          <p:cNvPr id="68" name="Text 61"/>
          <p:cNvSpPr/>
          <p:nvPr/>
        </p:nvSpPr>
        <p:spPr>
          <a:xfrm>
            <a:off x="6181344" y="3794760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Text · Stream</a:t>
            </a:r>
            <a:endParaRPr lang="en-US" sz="780" dirty="0"/>
          </a:p>
        </p:txBody>
      </p:sp>
      <p:sp>
        <p:nvSpPr>
          <p:cNvPr id="69" name="Shape 62"/>
          <p:cNvSpPr/>
          <p:nvPr/>
        </p:nvSpPr>
        <p:spPr>
          <a:xfrm>
            <a:off x="7260336" y="4005072"/>
            <a:ext cx="54864" cy="10972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5943600" y="4151376"/>
            <a:ext cx="2688336" cy="457200"/>
          </a:xfrm>
          <a:prstGeom prst="rect">
            <a:avLst/>
          </a:prstGeom>
          <a:solidFill>
            <a:srgbClr val="1C3354"/>
          </a:solidFill>
          <a:ln w="19050">
            <a:solidFill>
              <a:srgbClr val="5BA6D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71" name="Shape 64"/>
          <p:cNvSpPr/>
          <p:nvPr/>
        </p:nvSpPr>
        <p:spPr>
          <a:xfrm>
            <a:off x="5943600" y="4297680"/>
            <a:ext cx="164592" cy="164592"/>
          </a:xfrm>
          <a:prstGeom prst="ellipse">
            <a:avLst/>
          </a:prstGeom>
          <a:solidFill>
            <a:srgbClr val="5BA6D6"/>
          </a:solidFill>
          <a:ln w="12700">
            <a:solidFill>
              <a:srgbClr val="5BA6D6"/>
            </a:solidFill>
            <a:prstDash val="solid"/>
          </a:ln>
        </p:spPr>
      </p:sp>
      <p:sp>
        <p:nvSpPr>
          <p:cNvPr id="72" name="Text 65"/>
          <p:cNvSpPr/>
          <p:nvPr/>
        </p:nvSpPr>
        <p:spPr>
          <a:xfrm>
            <a:off x="6181344" y="419709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Logic</a:t>
            </a:r>
            <a:endParaRPr lang="en-US" sz="950" dirty="0"/>
          </a:p>
        </p:txBody>
      </p:sp>
      <p:sp>
        <p:nvSpPr>
          <p:cNvPr id="73" name="Text 66"/>
          <p:cNvSpPr/>
          <p:nvPr/>
        </p:nvSpPr>
        <p:spPr>
          <a:xfrm>
            <a:off x="6181344" y="439826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Validate · Use</a:t>
            </a:r>
            <a:endParaRPr lang="en-US" sz="780" dirty="0"/>
          </a:p>
        </p:txBody>
      </p:sp>
      <p:sp>
        <p:nvSpPr>
          <p:cNvPr id="74" name="Shape 67"/>
          <p:cNvSpPr/>
          <p:nvPr/>
        </p:nvSpPr>
        <p:spPr>
          <a:xfrm>
            <a:off x="5797296" y="4663440"/>
            <a:ext cx="2962656" cy="256032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5797296" y="466344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 ·  Few-Shot  ·  CoT  ·  ReAct</a:t>
            </a:r>
            <a:endParaRPr lang="en-US" sz="800" dirty="0"/>
          </a:p>
        </p:txBody>
      </p:sp>
      <p:sp>
        <p:nvSpPr>
          <p:cNvPr id="76" name="Text 6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2 of 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Labs &amp; Hands-On Learning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4279392" cy="202996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49808"/>
            <a:ext cx="4279392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749808"/>
            <a:ext cx="54864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7498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68096" y="74980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Playground</a:t>
            </a:r>
            <a:endParaRPr lang="en-US" sz="10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1152144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" y="1069848"/>
            <a:ext cx="3639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prompt strategies &amp; quality
</a:t>
            </a:r>
            <a:pPr indent="0" marL="0">
              <a:buNone/>
            </a:pPr>
            <a:r>
              <a:rPr lang="en-US" sz="88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Persona, Structured &amp; CoT prompts
</a:t>
            </a:r>
            <a:pPr indent="0" marL="0">
              <a:buNone/>
            </a:pPr>
            <a:r>
              <a:rPr lang="en-US" sz="8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Learning:  </a:t>
            </a:r>
            <a:pPr indent="0" marL="0">
              <a:buNone/>
            </a:pPr>
            <a:r>
              <a:rPr lang="en-US" sz="88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phrasing = output quality determinant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310896" y="1883664"/>
            <a:ext cx="868680" cy="274320"/>
          </a:xfrm>
          <a:prstGeom prst="rect">
            <a:avLst/>
          </a:prstGeom>
          <a:solidFill>
            <a:srgbClr val="1C3354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0896" y="1883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1271016" y="1883664"/>
            <a:ext cx="868680" cy="274320"/>
          </a:xfrm>
          <a:prstGeom prst="rect">
            <a:avLst/>
          </a:prstGeom>
          <a:solidFill>
            <a:srgbClr val="1C3354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71016" y="1883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231136" y="1883664"/>
            <a:ext cx="868680" cy="274320"/>
          </a:xfrm>
          <a:prstGeom prst="rect">
            <a:avLst/>
          </a:prstGeom>
          <a:solidFill>
            <a:srgbClr val="1C3354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31136" y="1883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191256" y="1883664"/>
            <a:ext cx="868680" cy="274320"/>
          </a:xfrm>
          <a:prstGeom prst="rect">
            <a:avLst/>
          </a:prstGeom>
          <a:solidFill>
            <a:srgbClr val="1C3354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91256" y="1883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Chain-of-Thought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2267712"/>
            <a:ext cx="4059936" cy="2011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0896" y="226771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 Impact  </a:t>
            </a:r>
            <a:pPr indent="0" marL="0">
              <a:buNone/>
            </a:pPr>
            <a:r>
              <a:rPr lang="en-US" sz="8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choice changes output quality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4320" y="2505456"/>
            <a:ext cx="4059936" cy="2011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" y="2505456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Consistency  </a:t>
            </a:r>
            <a:pPr indent="0" marL="0">
              <a:buNone/>
            </a:pPr>
            <a:r>
              <a:rPr lang="en-US" sz="8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structure matter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164592" y="2852928"/>
            <a:ext cx="4279392" cy="212140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4592" y="2852928"/>
            <a:ext cx="4279392" cy="25603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64592" y="2852928"/>
            <a:ext cx="548640" cy="256032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64592" y="28529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68096" y="28529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Comparison Application</a:t>
            </a:r>
            <a:endParaRPr lang="en-US" sz="105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3236976"/>
            <a:ext cx="310896" cy="31089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94944" y="3154680"/>
            <a:ext cx="3639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prompt strategies side-by-side
</a:t>
            </a:r>
            <a:pPr indent="0" marL="0">
              <a:buNone/>
            </a:pPr>
            <a:r>
              <a:rPr lang="en-US" sz="88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 </a:t>
            </a:r>
            <a:pPr indent="0" marL="0">
              <a:buNone/>
            </a:pPr>
            <a:r>
              <a:rPr lang="en-US" sz="8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vs Few-Shot · Persona · Structured
</a:t>
            </a:r>
            <a:pPr indent="0" marL="0">
              <a:buNone/>
            </a:pPr>
            <a:r>
              <a:rPr lang="en-US" sz="8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Learning:  </a:t>
            </a:r>
            <a:pPr indent="0" marL="0">
              <a:buNone/>
            </a:pPr>
            <a:r>
              <a:rPr lang="en-US" sz="88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&amp; Structured prompts = higher precision</a:t>
            </a:r>
            <a:endParaRPr lang="en-US" sz="880" dirty="0"/>
          </a:p>
        </p:txBody>
      </p:sp>
      <p:sp>
        <p:nvSpPr>
          <p:cNvPr id="34" name="Shape 30"/>
          <p:cNvSpPr/>
          <p:nvPr/>
        </p:nvSpPr>
        <p:spPr>
          <a:xfrm>
            <a:off x="274320" y="3913632"/>
            <a:ext cx="4059936" cy="2011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10896" y="391363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</a:t>
            </a:r>
            <a:pPr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       Strength               Trade-off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274320" y="4133088"/>
            <a:ext cx="4059936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10896" y="4133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780" dirty="0"/>
          </a:p>
        </p:txBody>
      </p:sp>
      <p:sp>
        <p:nvSpPr>
          <p:cNvPr id="38" name="Text 34"/>
          <p:cNvSpPr/>
          <p:nvPr/>
        </p:nvSpPr>
        <p:spPr>
          <a:xfrm>
            <a:off x="1316736" y="41330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general</a:t>
            </a:r>
            <a:endParaRPr lang="en-US" sz="780" dirty="0"/>
          </a:p>
        </p:txBody>
      </p:sp>
      <p:sp>
        <p:nvSpPr>
          <p:cNvPr id="39" name="Text 35"/>
          <p:cNvSpPr/>
          <p:nvPr/>
        </p:nvSpPr>
        <p:spPr>
          <a:xfrm>
            <a:off x="2743200" y="41330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precision</a:t>
            </a:r>
            <a:endParaRPr lang="en-US" sz="780" dirty="0"/>
          </a:p>
        </p:txBody>
      </p:sp>
      <p:sp>
        <p:nvSpPr>
          <p:cNvPr id="40" name="Shape 36"/>
          <p:cNvSpPr/>
          <p:nvPr/>
        </p:nvSpPr>
        <p:spPr>
          <a:xfrm>
            <a:off x="274320" y="4334256"/>
            <a:ext cx="4059936" cy="2011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10896" y="43342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780" dirty="0"/>
          </a:p>
        </p:txBody>
      </p:sp>
      <p:sp>
        <p:nvSpPr>
          <p:cNvPr id="42" name="Text 38"/>
          <p:cNvSpPr/>
          <p:nvPr/>
        </p:nvSpPr>
        <p:spPr>
          <a:xfrm>
            <a:off x="1316736" y="4334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</a:t>
            </a:r>
            <a:endParaRPr lang="en-US" sz="780" dirty="0"/>
          </a:p>
        </p:txBody>
      </p:sp>
      <p:sp>
        <p:nvSpPr>
          <p:cNvPr id="43" name="Text 39"/>
          <p:cNvSpPr/>
          <p:nvPr/>
        </p:nvSpPr>
        <p:spPr>
          <a:xfrm>
            <a:off x="2743200" y="433425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examples</a:t>
            </a:r>
            <a:endParaRPr lang="en-US" sz="780" dirty="0"/>
          </a:p>
        </p:txBody>
      </p:sp>
      <p:sp>
        <p:nvSpPr>
          <p:cNvPr id="44" name="Shape 40"/>
          <p:cNvSpPr/>
          <p:nvPr/>
        </p:nvSpPr>
        <p:spPr>
          <a:xfrm>
            <a:off x="274320" y="4535424"/>
            <a:ext cx="4059936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10896" y="45354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780" dirty="0"/>
          </a:p>
        </p:txBody>
      </p:sp>
      <p:sp>
        <p:nvSpPr>
          <p:cNvPr id="46" name="Text 42"/>
          <p:cNvSpPr/>
          <p:nvPr/>
        </p:nvSpPr>
        <p:spPr>
          <a:xfrm>
            <a:off x="1316736" y="45354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control</a:t>
            </a:r>
            <a:endParaRPr lang="en-US" sz="780" dirty="0"/>
          </a:p>
        </p:txBody>
      </p:sp>
      <p:sp>
        <p:nvSpPr>
          <p:cNvPr id="47" name="Text 43"/>
          <p:cNvSpPr/>
          <p:nvPr/>
        </p:nvSpPr>
        <p:spPr>
          <a:xfrm>
            <a:off x="2743200" y="45354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specificity</a:t>
            </a:r>
            <a:endParaRPr lang="en-US" sz="780" dirty="0"/>
          </a:p>
        </p:txBody>
      </p:sp>
      <p:sp>
        <p:nvSpPr>
          <p:cNvPr id="48" name="Shape 44"/>
          <p:cNvSpPr/>
          <p:nvPr/>
        </p:nvSpPr>
        <p:spPr>
          <a:xfrm>
            <a:off x="274320" y="4736592"/>
            <a:ext cx="4059936" cy="2011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10896" y="47365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780" dirty="0"/>
          </a:p>
        </p:txBody>
      </p:sp>
      <p:sp>
        <p:nvSpPr>
          <p:cNvPr id="50" name="Text 46"/>
          <p:cNvSpPr/>
          <p:nvPr/>
        </p:nvSpPr>
        <p:spPr>
          <a:xfrm>
            <a:off x="1316736" y="4736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Parseable JSON</a:t>
            </a:r>
            <a:endParaRPr lang="en-US" sz="780" dirty="0"/>
          </a:p>
        </p:txBody>
      </p:sp>
      <p:sp>
        <p:nvSpPr>
          <p:cNvPr id="51" name="Text 47"/>
          <p:cNvSpPr/>
          <p:nvPr/>
        </p:nvSpPr>
        <p:spPr>
          <a:xfrm>
            <a:off x="2743200" y="4736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verbosity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4608576" y="749808"/>
            <a:ext cx="4370832" cy="422452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608576" y="804672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→ OUTPUT EVALUATION FLOW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5239512" y="1115568"/>
            <a:ext cx="3108960" cy="530352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6675120" y="996696"/>
            <a:ext cx="237744" cy="23774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239512" y="11795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Design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5239512" y="140817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Role · Context</a:t>
            </a:r>
            <a:endParaRPr lang="en-US" sz="780" dirty="0"/>
          </a:p>
        </p:txBody>
      </p:sp>
      <p:sp>
        <p:nvSpPr>
          <p:cNvPr id="58" name="Shape 54"/>
          <p:cNvSpPr/>
          <p:nvPr/>
        </p:nvSpPr>
        <p:spPr>
          <a:xfrm>
            <a:off x="6766560" y="1645920"/>
            <a:ext cx="54864" cy="146304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5239512" y="1828800"/>
            <a:ext cx="3108960" cy="530352"/>
          </a:xfrm>
          <a:prstGeom prst="rect">
            <a:avLst/>
          </a:prstGeom>
          <a:solidFill>
            <a:srgbClr val="1C3354"/>
          </a:solidFill>
          <a:ln w="19050">
            <a:solidFill>
              <a:srgbClr val="4E9AF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60" name="Shape 56"/>
          <p:cNvSpPr/>
          <p:nvPr/>
        </p:nvSpPr>
        <p:spPr>
          <a:xfrm>
            <a:off x="6675120" y="1709928"/>
            <a:ext cx="237744" cy="237744"/>
          </a:xfrm>
          <a:prstGeom prst="ellipse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5239512" y="18928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Processing</a:t>
            </a:r>
            <a:endParaRPr lang="en-US" sz="950" dirty="0"/>
          </a:p>
        </p:txBody>
      </p:sp>
      <p:sp>
        <p:nvSpPr>
          <p:cNvPr id="62" name="Text 58"/>
          <p:cNvSpPr/>
          <p:nvPr/>
        </p:nvSpPr>
        <p:spPr>
          <a:xfrm>
            <a:off x="5239512" y="21214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· Llama 3</a:t>
            </a:r>
            <a:endParaRPr lang="en-US" sz="780" dirty="0"/>
          </a:p>
        </p:txBody>
      </p:sp>
      <p:sp>
        <p:nvSpPr>
          <p:cNvPr id="63" name="Shape 59"/>
          <p:cNvSpPr/>
          <p:nvPr/>
        </p:nvSpPr>
        <p:spPr>
          <a:xfrm>
            <a:off x="6766560" y="2359152"/>
            <a:ext cx="54864" cy="146304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5239512" y="2542032"/>
            <a:ext cx="3108960" cy="530352"/>
          </a:xfrm>
          <a:prstGeom prst="rect">
            <a:avLst/>
          </a:prstGeom>
          <a:solidFill>
            <a:srgbClr val="1C3354"/>
          </a:solidFill>
          <a:ln w="19050">
            <a:solidFill>
              <a:srgbClr val="29B6A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6675120" y="2423160"/>
            <a:ext cx="237744" cy="237744"/>
          </a:xfrm>
          <a:prstGeom prst="ellipse">
            <a:avLst/>
          </a:prstGeom>
          <a:solidFill>
            <a:srgbClr val="29B6A8"/>
          </a:solidFill>
          <a:ln w="12700">
            <a:solidFill>
              <a:srgbClr val="29B6A8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5239512" y="26060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Generated</a:t>
            </a:r>
            <a:endParaRPr lang="en-US" sz="950" dirty="0"/>
          </a:p>
        </p:txBody>
      </p:sp>
      <p:sp>
        <p:nvSpPr>
          <p:cNvPr id="67" name="Text 63"/>
          <p:cNvSpPr/>
          <p:nvPr/>
        </p:nvSpPr>
        <p:spPr>
          <a:xfrm>
            <a:off x="5239512" y="28346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JSON · Stream</a:t>
            </a:r>
            <a:endParaRPr lang="en-US" sz="780" dirty="0"/>
          </a:p>
        </p:txBody>
      </p:sp>
      <p:sp>
        <p:nvSpPr>
          <p:cNvPr id="68" name="Shape 64"/>
          <p:cNvSpPr/>
          <p:nvPr/>
        </p:nvSpPr>
        <p:spPr>
          <a:xfrm>
            <a:off x="6766560" y="3072384"/>
            <a:ext cx="54864" cy="146304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5239512" y="3255264"/>
            <a:ext cx="3108960" cy="530352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70" name="Shape 66"/>
          <p:cNvSpPr/>
          <p:nvPr/>
        </p:nvSpPr>
        <p:spPr>
          <a:xfrm>
            <a:off x="6675120" y="3136392"/>
            <a:ext cx="237744" cy="237744"/>
          </a:xfrm>
          <a:prstGeom prst="ellipse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5239512" y="33192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72" name="Text 68"/>
          <p:cNvSpPr/>
          <p:nvPr/>
        </p:nvSpPr>
        <p:spPr>
          <a:xfrm>
            <a:off x="5239512" y="35478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· Structure · Quality</a:t>
            </a:r>
            <a:endParaRPr lang="en-US" sz="780" dirty="0"/>
          </a:p>
        </p:txBody>
      </p:sp>
      <p:sp>
        <p:nvSpPr>
          <p:cNvPr id="73" name="Shape 69"/>
          <p:cNvSpPr/>
          <p:nvPr/>
        </p:nvSpPr>
        <p:spPr>
          <a:xfrm>
            <a:off x="6766560" y="3785616"/>
            <a:ext cx="54864" cy="146304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5239512" y="3968496"/>
            <a:ext cx="3108960" cy="530352"/>
          </a:xfrm>
          <a:prstGeom prst="rect">
            <a:avLst/>
          </a:prstGeom>
          <a:solidFill>
            <a:srgbClr val="1C3354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28000"/>
              </a:srgbClr>
            </a:outerShdw>
          </a:effectLst>
        </p:spPr>
      </p:sp>
      <p:sp>
        <p:nvSpPr>
          <p:cNvPr id="75" name="Shape 71"/>
          <p:cNvSpPr/>
          <p:nvPr/>
        </p:nvSpPr>
        <p:spPr>
          <a:xfrm>
            <a:off x="6675120" y="3849624"/>
            <a:ext cx="237744" cy="23774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5239512" y="40325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 &amp; Improve</a:t>
            </a:r>
            <a:endParaRPr lang="en-US" sz="950" dirty="0"/>
          </a:p>
        </p:txBody>
      </p:sp>
      <p:sp>
        <p:nvSpPr>
          <p:cNvPr id="77" name="Text 73"/>
          <p:cNvSpPr/>
          <p:nvPr/>
        </p:nvSpPr>
        <p:spPr>
          <a:xfrm>
            <a:off x="5239512" y="42611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prompt → re-test</a:t>
            </a:r>
            <a:endParaRPr lang="en-US" sz="780" dirty="0"/>
          </a:p>
        </p:txBody>
      </p:sp>
      <p:sp>
        <p:nvSpPr>
          <p:cNvPr id="78" name="Shape 74"/>
          <p:cNvSpPr/>
          <p:nvPr/>
        </p:nvSpPr>
        <p:spPr>
          <a:xfrm>
            <a:off x="4791456" y="4663440"/>
            <a:ext cx="4005072" cy="219456"/>
          </a:xfrm>
          <a:prstGeom prst="rect">
            <a:avLst/>
          </a:prstGeom>
          <a:solidFill>
            <a:srgbClr val="007F85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4791456" y="466344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Experimentation = Faster Engineering Iteration</a:t>
            </a:r>
            <a:endParaRPr lang="en-US" sz="800" dirty="0"/>
          </a:p>
        </p:txBody>
      </p:sp>
      <p:sp>
        <p:nvSpPr>
          <p:cNvPr id="80" name="Text 7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2 of 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 Project – AI Resume Reviewer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91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Training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749808"/>
            <a:ext cx="4315968" cy="1389888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749808"/>
            <a:ext cx="54864" cy="13898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82296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6656" y="795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656" y="1042416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Reviewer via Groq API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 extraction + prompt-driven analysis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feedback + ATS-style recommendations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4592" y="2212848"/>
            <a:ext cx="4315968" cy="1463040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4592" y="2212848"/>
            <a:ext cx="54864" cy="1463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" y="2240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Flow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92608" y="2560320"/>
            <a:ext cx="548640" cy="420624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25603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59536" y="2747772"/>
            <a:ext cx="128016" cy="4572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2560320"/>
            <a:ext cx="548640" cy="420624"/>
          </a:xfrm>
          <a:prstGeom prst="rect">
            <a:avLst/>
          </a:prstGeom>
          <a:solidFill>
            <a:srgbClr val="1C3354"/>
          </a:solidFill>
          <a:ln w="19050">
            <a:solidFill>
              <a:srgbClr val="4E9A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25603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Reader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1572768" y="2747772"/>
            <a:ext cx="128016" cy="4572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719072" y="2560320"/>
            <a:ext cx="548640" cy="420624"/>
          </a:xfrm>
          <a:prstGeom prst="rect">
            <a:avLst/>
          </a:prstGeom>
          <a:solidFill>
            <a:srgbClr val="1C3354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719072" y="25603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2286000" y="2747772"/>
            <a:ext cx="128016" cy="4572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432304" y="2560320"/>
            <a:ext cx="548640" cy="420624"/>
          </a:xfrm>
          <a:prstGeom prst="rect">
            <a:avLst/>
          </a:prstGeom>
          <a:solidFill>
            <a:srgbClr val="1C3354"/>
          </a:solidFill>
          <a:ln w="19050">
            <a:solidFill>
              <a:srgbClr val="29B6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32304" y="25603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 API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2999232" y="2747772"/>
            <a:ext cx="128016" cy="4572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145536" y="2560320"/>
            <a:ext cx="548640" cy="420624"/>
          </a:xfrm>
          <a:prstGeom prst="rect">
            <a:avLst/>
          </a:prstGeom>
          <a:solidFill>
            <a:srgbClr val="1C3354"/>
          </a:solidFill>
          <a:ln w="19050">
            <a:solidFill>
              <a:srgbClr val="F4A7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145536" y="25603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 3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3712464" y="2747772"/>
            <a:ext cx="128016" cy="45720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858768" y="2560320"/>
            <a:ext cx="548640" cy="420624"/>
          </a:xfrm>
          <a:prstGeom prst="rect">
            <a:avLst/>
          </a:prstGeom>
          <a:solidFill>
            <a:srgbClr val="1C335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58768" y="25603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56032" y="3054096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Prompt Engineering layer controls analysis depth &amp; output structure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164592" y="3749040"/>
            <a:ext cx="4315968" cy="1152144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64592" y="3749040"/>
            <a:ext cx="54864" cy="1152144"/>
          </a:xfrm>
          <a:prstGeom prst="rect">
            <a:avLst/>
          </a:prstGeom>
          <a:solidFill>
            <a:srgbClr val="F4A727"/>
          </a:solidFill>
          <a:ln w="12700">
            <a:solidFill>
              <a:srgbClr val="F4A7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92608" y="37764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Solutions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56032" y="4014216"/>
            <a:ext cx="4133088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10896" y="4032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1810512" y="4078224"/>
            <a:ext cx="36576" cy="10972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901952" y="40325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PDF parser library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256032" y="4288536"/>
            <a:ext cx="4133088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10896" y="4306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optimisation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810512" y="4352544"/>
            <a:ext cx="36576" cy="10972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901952" y="43068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with System/User/Assistant roles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256032" y="4562856"/>
            <a:ext cx="4133088" cy="237744"/>
          </a:xfrm>
          <a:prstGeom prst="rect">
            <a:avLst/>
          </a:prstGeom>
          <a:solidFill>
            <a:srgbClr val="1C3354"/>
          </a:solidFill>
          <a:ln w="12700">
            <a:solidFill>
              <a:srgbClr val="393F4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10896" y="45811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810512" y="4626864"/>
            <a:ext cx="36576" cy="109728"/>
          </a:xfrm>
          <a:prstGeom prst="rect">
            <a:avLst/>
          </a:prstGeom>
          <a:solidFill>
            <a:srgbClr val="007F85"/>
          </a:solidFill>
          <a:ln w="12700">
            <a:solidFill>
              <a:srgbClr val="007F8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901952" y="45811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JSON-mode + output templates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645152" y="749808"/>
            <a:ext cx="4334256" cy="4151376"/>
          </a:xfrm>
          <a:prstGeom prst="rect">
            <a:avLst/>
          </a:prstGeom>
          <a:solidFill>
            <a:srgbClr val="132338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645152" y="749808"/>
            <a:ext cx="4334256" cy="274320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645152" y="74980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809744" y="1088136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828032" y="1197864"/>
            <a:ext cx="292608" cy="29260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828032" y="1197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1225296"/>
            <a:ext cx="219456" cy="219456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5486400" y="114300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API Integration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5486400" y="136245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lifecycle, SDK patterns, auth &amp; error handling</a:t>
            </a:r>
            <a:endParaRPr lang="en-US" sz="780" dirty="0"/>
          </a:p>
        </p:txBody>
      </p:sp>
      <p:sp>
        <p:nvSpPr>
          <p:cNvPr id="58" name="Shape 54"/>
          <p:cNvSpPr/>
          <p:nvPr/>
        </p:nvSpPr>
        <p:spPr>
          <a:xfrm>
            <a:off x="4809744" y="1655064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4828032" y="1764792"/>
            <a:ext cx="292608" cy="29260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4828032" y="1764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1792224"/>
            <a:ext cx="219456" cy="219456"/>
          </a:xfrm>
          <a:prstGeom prst="rect">
            <a:avLst/>
          </a:prstGeom>
        </p:spPr>
      </p:pic>
      <p:sp>
        <p:nvSpPr>
          <p:cNvPr id="62" name="Text 57"/>
          <p:cNvSpPr/>
          <p:nvPr/>
        </p:nvSpPr>
        <p:spPr>
          <a:xfrm>
            <a:off x="5486400" y="1709928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 Fundamentals</a:t>
            </a:r>
            <a:endParaRPr lang="en-US" sz="950" dirty="0"/>
          </a:p>
        </p:txBody>
      </p:sp>
      <p:sp>
        <p:nvSpPr>
          <p:cNvPr id="63" name="Text 58"/>
          <p:cNvSpPr/>
          <p:nvPr/>
        </p:nvSpPr>
        <p:spPr>
          <a:xfrm>
            <a:off x="5486400" y="192938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User / Assistant roles, tone &amp; output control</a:t>
            </a:r>
            <a:endParaRPr lang="en-US" sz="780" dirty="0"/>
          </a:p>
        </p:txBody>
      </p:sp>
      <p:sp>
        <p:nvSpPr>
          <p:cNvPr id="64" name="Shape 59"/>
          <p:cNvSpPr/>
          <p:nvPr/>
        </p:nvSpPr>
        <p:spPr>
          <a:xfrm>
            <a:off x="4809744" y="2221992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4828032" y="2331720"/>
            <a:ext cx="292608" cy="29260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4828032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pic>
        <p:nvPicPr>
          <p:cNvPr id="6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359152"/>
            <a:ext cx="219456" cy="219456"/>
          </a:xfrm>
          <a:prstGeom prst="rect">
            <a:avLst/>
          </a:prstGeom>
        </p:spPr>
      </p:pic>
      <p:sp>
        <p:nvSpPr>
          <p:cNvPr id="68" name="Text 62"/>
          <p:cNvSpPr/>
          <p:nvPr/>
        </p:nvSpPr>
        <p:spPr>
          <a:xfrm>
            <a:off x="5486400" y="227685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vs Few-Shot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5486400" y="249631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raise precision; trade-off is prompt length</a:t>
            </a:r>
            <a:endParaRPr lang="en-US" sz="780" dirty="0"/>
          </a:p>
        </p:txBody>
      </p:sp>
      <p:sp>
        <p:nvSpPr>
          <p:cNvPr id="70" name="Shape 64"/>
          <p:cNvSpPr/>
          <p:nvPr/>
        </p:nvSpPr>
        <p:spPr>
          <a:xfrm>
            <a:off x="4809744" y="2788920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4828032" y="2898648"/>
            <a:ext cx="292608" cy="29260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2" name="Text 66"/>
          <p:cNvSpPr/>
          <p:nvPr/>
        </p:nvSpPr>
        <p:spPr>
          <a:xfrm>
            <a:off x="4828032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pic>
        <p:nvPicPr>
          <p:cNvPr id="7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2926080"/>
            <a:ext cx="219456" cy="219456"/>
          </a:xfrm>
          <a:prstGeom prst="rect">
            <a:avLst/>
          </a:prstGeom>
        </p:spPr>
      </p:pic>
      <p:sp>
        <p:nvSpPr>
          <p:cNvPr id="74" name="Text 67"/>
          <p:cNvSpPr/>
          <p:nvPr/>
        </p:nvSpPr>
        <p:spPr>
          <a:xfrm>
            <a:off x="5486400" y="2843784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Outputs</a:t>
            </a:r>
            <a:endParaRPr lang="en-US" sz="950" dirty="0"/>
          </a:p>
        </p:txBody>
      </p:sp>
      <p:sp>
        <p:nvSpPr>
          <p:cNvPr id="75" name="Text 68"/>
          <p:cNvSpPr/>
          <p:nvPr/>
        </p:nvSpPr>
        <p:spPr>
          <a:xfrm>
            <a:off x="5486400" y="30632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 enables downstream parsing &amp; automation</a:t>
            </a:r>
            <a:endParaRPr lang="en-US" sz="780" dirty="0"/>
          </a:p>
        </p:txBody>
      </p:sp>
      <p:sp>
        <p:nvSpPr>
          <p:cNvPr id="76" name="Shape 69"/>
          <p:cNvSpPr/>
          <p:nvPr/>
        </p:nvSpPr>
        <p:spPr>
          <a:xfrm>
            <a:off x="4809744" y="3355848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4828032" y="3465576"/>
            <a:ext cx="292608" cy="29260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8" name="Text 71"/>
          <p:cNvSpPr/>
          <p:nvPr/>
        </p:nvSpPr>
        <p:spPr>
          <a:xfrm>
            <a:off x="4828032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pic>
        <p:nvPicPr>
          <p:cNvPr id="7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792" y="3493008"/>
            <a:ext cx="219456" cy="219456"/>
          </a:xfrm>
          <a:prstGeom prst="rect">
            <a:avLst/>
          </a:prstGeom>
        </p:spPr>
      </p:pic>
      <p:sp>
        <p:nvSpPr>
          <p:cNvPr id="80" name="Text 72"/>
          <p:cNvSpPr/>
          <p:nvPr/>
        </p:nvSpPr>
        <p:spPr>
          <a:xfrm>
            <a:off x="5486400" y="3410712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Safety &amp; Guardrails</a:t>
            </a:r>
            <a:endParaRPr lang="en-US" sz="950" dirty="0"/>
          </a:p>
        </p:txBody>
      </p:sp>
      <p:sp>
        <p:nvSpPr>
          <p:cNvPr id="81" name="Text 73"/>
          <p:cNvSpPr/>
          <p:nvPr/>
        </p:nvSpPr>
        <p:spPr>
          <a:xfrm>
            <a:off x="5486400" y="3630168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defence &amp; secure system prompts</a:t>
            </a:r>
            <a:endParaRPr lang="en-US" sz="780" dirty="0"/>
          </a:p>
        </p:txBody>
      </p:sp>
      <p:sp>
        <p:nvSpPr>
          <p:cNvPr id="82" name="Shape 74"/>
          <p:cNvSpPr/>
          <p:nvPr/>
        </p:nvSpPr>
        <p:spPr>
          <a:xfrm>
            <a:off x="4809744" y="3922776"/>
            <a:ext cx="4005072" cy="530352"/>
          </a:xfrm>
          <a:prstGeom prst="rect">
            <a:avLst/>
          </a:prstGeom>
          <a:solidFill>
            <a:srgbClr val="1C3354"/>
          </a:solidFill>
          <a:ln w="12700">
            <a:solidFill>
              <a:srgbClr val="1C3354"/>
            </a:solidFill>
            <a:prstDash val="solid"/>
          </a:ln>
        </p:spPr>
      </p:sp>
      <p:sp>
        <p:nvSpPr>
          <p:cNvPr id="83" name="Shape 75"/>
          <p:cNvSpPr/>
          <p:nvPr/>
        </p:nvSpPr>
        <p:spPr>
          <a:xfrm>
            <a:off x="4828032" y="4032504"/>
            <a:ext cx="292608" cy="29260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4" name="Text 76"/>
          <p:cNvSpPr/>
          <p:nvPr/>
        </p:nvSpPr>
        <p:spPr>
          <a:xfrm>
            <a:off x="4828032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pic>
        <p:nvPicPr>
          <p:cNvPr id="8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3792" y="4059936"/>
            <a:ext cx="219456" cy="219456"/>
          </a:xfrm>
          <a:prstGeom prst="rect">
            <a:avLst/>
          </a:prstGeom>
        </p:spPr>
      </p:pic>
      <p:sp>
        <p:nvSpPr>
          <p:cNvPr id="86" name="Text 77"/>
          <p:cNvSpPr/>
          <p:nvPr/>
        </p:nvSpPr>
        <p:spPr>
          <a:xfrm>
            <a:off x="5486400" y="397764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Analysis Workflow</a:t>
            </a:r>
            <a:endParaRPr lang="en-US" sz="950" dirty="0"/>
          </a:p>
        </p:txBody>
      </p:sp>
      <p:sp>
        <p:nvSpPr>
          <p:cNvPr id="87" name="Text 78"/>
          <p:cNvSpPr/>
          <p:nvPr/>
        </p:nvSpPr>
        <p:spPr>
          <a:xfrm>
            <a:off x="5486400" y="419709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Extraction → Prompt → Report pipeline built</a:t>
            </a:r>
            <a:endParaRPr lang="en-US" sz="780" dirty="0"/>
          </a:p>
        </p:txBody>
      </p:sp>
      <p:sp>
        <p:nvSpPr>
          <p:cNvPr id="88" name="Shape 79"/>
          <p:cNvSpPr/>
          <p:nvPr/>
        </p:nvSpPr>
        <p:spPr>
          <a:xfrm>
            <a:off x="4809744" y="4261104"/>
            <a:ext cx="4005072" cy="566928"/>
          </a:xfrm>
          <a:prstGeom prst="rect">
            <a:avLst/>
          </a:prstGeom>
          <a:solidFill>
            <a:srgbClr val="007F85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89" name="Text 80"/>
          <p:cNvSpPr/>
          <p:nvPr/>
        </p:nvSpPr>
        <p:spPr>
          <a:xfrm>
            <a:off x="4809744" y="4261104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7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→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3: Embeddings, Vector DBs &amp; RAG</a:t>
            </a:r>
            <a:endParaRPr lang="en-US" sz="1000" dirty="0"/>
          </a:p>
        </p:txBody>
      </p:sp>
      <p:sp>
        <p:nvSpPr>
          <p:cNvPr id="90" name="Text 8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Engineering Training Series  ·  Session 2 of 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Engineering Training – Day 2</dc:title>
  <dc:subject>PptxGenJS Presentation</dc:subject>
  <dc:creator>PptxGenJS</dc:creator>
  <cp:lastModifiedBy>PptxGenJS</cp:lastModifiedBy>
  <cp:revision>1</cp:revision>
  <dcterms:created xsi:type="dcterms:W3CDTF">2026-06-08T05:16:52Z</dcterms:created>
  <dcterms:modified xsi:type="dcterms:W3CDTF">2026-06-08T05:16:52Z</dcterms:modified>
</cp:coreProperties>
</file>