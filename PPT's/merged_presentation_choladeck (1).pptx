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71.png" ContentType="image/png"/>
  <Override PartName="/ppt/media/image29.png" ContentType="image/png"/>
  <Override PartName="/ppt/media/image69.png" ContentType="image/png"/>
  <Override PartName="/ppt/media/image32.png" ContentType="image/png"/>
  <Override PartName="/ppt/media/image14.png" ContentType="image/png"/>
  <Override PartName="/ppt/media/image2.png" ContentType="image/png"/>
  <Override PartName="/ppt/media/image33.png" ContentType="image/png"/>
  <Override PartName="/ppt/media/image15.png" ContentType="image/png"/>
  <Override PartName="/ppt/media/image3.png" ContentType="image/png"/>
  <Override PartName="/ppt/media/image70.png" ContentType="image/png"/>
  <Override PartName="/ppt/media/image28.png" ContentType="image/png"/>
  <Override PartName="/ppt/media/image68.png" ContentType="image/png"/>
  <Override PartName="/ppt/media/image31.png" ContentType="image/png"/>
  <Override PartName="/ppt/media/image67.png" ContentType="image/png"/>
  <Override PartName="/ppt/media/image30.png" ContentType="image/png"/>
  <Override PartName="/ppt/media/image66.png" ContentType="image/png"/>
  <Override PartName="/ppt/media/image65.png" ContentType="image/png"/>
  <Override PartName="/ppt/media/image64.png" ContentType="image/png"/>
  <Override PartName="/ppt/media/image26.png" ContentType="image/png"/>
  <Override PartName="/ppt/media/image63.png" ContentType="image/png"/>
  <Override PartName="/ppt/media/image25.png" ContentType="image/png"/>
  <Override PartName="/ppt/media/image62.png" ContentType="image/png"/>
  <Override PartName="/ppt/media/image24.png" ContentType="image/png"/>
  <Override PartName="/ppt/media/image61.png" ContentType="image/png"/>
  <Override PartName="/ppt/media/image23.png" ContentType="image/png"/>
  <Override PartName="/ppt/media/image60.png" ContentType="image/png"/>
  <Override PartName="/ppt/media/image27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19.png" ContentType="image/png"/>
  <Override PartName="/ppt/media/image7.png" ContentType="image/png"/>
  <Override PartName="/ppt/media/image37.png" ContentType="image/png"/>
  <Override PartName="/ppt/media/image12.png" ContentType="image/png"/>
  <Override PartName="/ppt/media/image49.png" ContentType="image/png"/>
  <Override PartName="/ppt/media/image8.png" ContentType="image/png"/>
  <Override PartName="/ppt/media/image38.png" ContentType="image/png"/>
  <Override PartName="/ppt/media/image1.png" ContentType="image/png"/>
  <Override PartName="/ppt/media/image13.png" ContentType="image/png"/>
  <Override PartName="/ppt/media/image9.png" ContentType="image/png"/>
  <Override PartName="/ppt/media/image39.png" ContentType="image/png"/>
  <Override PartName="/ppt/media/image40.png" ContentType="image/png"/>
  <Override PartName="/ppt/media/image4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k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F0AEED1D-4AA3-49B2-B0A7-4A7BA70CF64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19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5CF5AA8-CACE-4290-820F-C3BD206ADA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19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7F10608-344E-4A76-9894-CEE9B1755B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19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FC7831A-4FB8-4E7E-ACEB-AAB709BE71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0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5208058-BDDB-4AE5-A466-B9438E4113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0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3C1B548-ACB8-4961-9881-3CF94DB4536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0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A1FD5AA-1478-4A1D-B263-229C12C09A3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1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76A641B-4A39-4907-94C3-D3EFEC0067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1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DD76A62-B33E-4E57-911D-4E309F7E3BA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1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2ADC779-2011-4C20-993A-B620969035D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2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92876E6-B2D5-42CD-B68A-55C2658F48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2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E6E58BC-C0F9-4033-9E36-363E0876ADB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2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C46729C-2F9A-401A-A52A-63023746616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2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38B2846-ADA1-49F3-B53C-BE249BBA9D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3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B6318A7-5CD4-4987-8152-489AB8F3CA1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3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7352527-EE6F-4E6E-AF6B-9E8FBD10C8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title text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Trebuchet MS"/>
                <a:ea typeface="Trebuchet MS"/>
              </a:rPr>
              <a:t>DAY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Modern AI Ecosystem &amp; LLM Foundations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0" name="CustomShape 7"/>
          <p:cNvSpPr/>
          <p:nvPr/>
        </p:nvSpPr>
        <p:spPr>
          <a:xfrm>
            <a:off x="164520" y="749880"/>
            <a:ext cx="534888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8"/>
          <p:cNvSpPr/>
          <p:nvPr/>
        </p:nvSpPr>
        <p:spPr>
          <a:xfrm>
            <a:off x="164520" y="749880"/>
            <a:ext cx="63720" cy="795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292680" y="923400"/>
            <a:ext cx="347040" cy="347040"/>
          </a:xfrm>
          <a:prstGeom prst="rect">
            <a:avLst/>
          </a:prstGeom>
          <a:ln>
            <a:noFill/>
          </a:ln>
        </p:spPr>
      </p:pic>
      <p:sp>
        <p:nvSpPr>
          <p:cNvPr id="53" name="CustomShape 9"/>
          <p:cNvSpPr/>
          <p:nvPr/>
        </p:nvSpPr>
        <p:spPr>
          <a:xfrm>
            <a:off x="749880" y="813960"/>
            <a:ext cx="2651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Modern AI Ecosystem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4" name="CustomShape 10"/>
          <p:cNvSpPr/>
          <p:nvPr/>
        </p:nvSpPr>
        <p:spPr>
          <a:xfrm>
            <a:off x="749880" y="1042560"/>
            <a:ext cx="274284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AI → ML → DL → GenAI hierarchy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LLMs power conversational &amp; generative tasks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5" name="CustomShape 11"/>
          <p:cNvSpPr/>
          <p:nvPr/>
        </p:nvSpPr>
        <p:spPr>
          <a:xfrm>
            <a:off x="3529440" y="969120"/>
            <a:ext cx="1828440" cy="328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CustomShape 12"/>
          <p:cNvSpPr/>
          <p:nvPr/>
        </p:nvSpPr>
        <p:spPr>
          <a:xfrm>
            <a:off x="3529440" y="969120"/>
            <a:ext cx="18284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Contextual foundation for all AI work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57" name="CustomShape 13"/>
          <p:cNvSpPr/>
          <p:nvPr/>
        </p:nvSpPr>
        <p:spPr>
          <a:xfrm>
            <a:off x="164520" y="1581840"/>
            <a:ext cx="534888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CustomShape 14"/>
          <p:cNvSpPr/>
          <p:nvPr/>
        </p:nvSpPr>
        <p:spPr>
          <a:xfrm>
            <a:off x="164520" y="1581840"/>
            <a:ext cx="63720" cy="795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9" name="Image 1" descr="preencoded.png"/>
          <p:cNvPicPr/>
          <p:nvPr/>
        </p:nvPicPr>
        <p:blipFill>
          <a:blip r:embed="rId2"/>
          <a:stretch/>
        </p:blipFill>
        <p:spPr>
          <a:xfrm>
            <a:off x="292680" y="1755720"/>
            <a:ext cx="347040" cy="347040"/>
          </a:xfrm>
          <a:prstGeom prst="rect">
            <a:avLst/>
          </a:prstGeom>
          <a:ln>
            <a:noFill/>
          </a:ln>
        </p:spPr>
      </p:pic>
      <p:sp>
        <p:nvSpPr>
          <p:cNvPr id="60" name="CustomShape 15"/>
          <p:cNvSpPr/>
          <p:nvPr/>
        </p:nvSpPr>
        <p:spPr>
          <a:xfrm>
            <a:off x="749880" y="1645920"/>
            <a:ext cx="2651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Foundation Concepts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1" name="CustomShape 16"/>
          <p:cNvSpPr/>
          <p:nvPr/>
        </p:nvSpPr>
        <p:spPr>
          <a:xfrm>
            <a:off x="749880" y="1874520"/>
            <a:ext cx="274284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Transformers · Tokens · Attention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Context Window governs memory &amp; cost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62" name="CustomShape 17"/>
          <p:cNvSpPr/>
          <p:nvPr/>
        </p:nvSpPr>
        <p:spPr>
          <a:xfrm>
            <a:off x="3529440" y="1801440"/>
            <a:ext cx="1828440" cy="328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CustomShape 18"/>
          <p:cNvSpPr/>
          <p:nvPr/>
        </p:nvSpPr>
        <p:spPr>
          <a:xfrm>
            <a:off x="3529440" y="1801440"/>
            <a:ext cx="18284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Core of every LLM product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64" name="CustomShape 19"/>
          <p:cNvSpPr/>
          <p:nvPr/>
        </p:nvSpPr>
        <p:spPr>
          <a:xfrm>
            <a:off x="164520" y="2414160"/>
            <a:ext cx="534888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CustomShape 20"/>
          <p:cNvSpPr/>
          <p:nvPr/>
        </p:nvSpPr>
        <p:spPr>
          <a:xfrm>
            <a:off x="164520" y="2414160"/>
            <a:ext cx="63720" cy="795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6" name="Image 2" descr="preencoded.png"/>
          <p:cNvPicPr/>
          <p:nvPr/>
        </p:nvPicPr>
        <p:blipFill>
          <a:blip r:embed="rId3"/>
          <a:stretch/>
        </p:blipFill>
        <p:spPr>
          <a:xfrm>
            <a:off x="292680" y="2587680"/>
            <a:ext cx="347040" cy="347040"/>
          </a:xfrm>
          <a:prstGeom prst="rect">
            <a:avLst/>
          </a:prstGeom>
          <a:ln>
            <a:noFill/>
          </a:ln>
        </p:spPr>
      </p:pic>
      <p:sp>
        <p:nvSpPr>
          <p:cNvPr id="67" name="CustomShape 21"/>
          <p:cNvSpPr/>
          <p:nvPr/>
        </p:nvSpPr>
        <p:spPr>
          <a:xfrm>
            <a:off x="749880" y="2477880"/>
            <a:ext cx="2651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Knowledge &amp; Retrieval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68" name="CustomShape 22"/>
          <p:cNvSpPr/>
          <p:nvPr/>
        </p:nvSpPr>
        <p:spPr>
          <a:xfrm>
            <a:off x="749880" y="2706480"/>
            <a:ext cx="274284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Embeddings = semantic numeric vectors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Vector DBs + RAG = enterprise knowledge access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69" name="CustomShape 23"/>
          <p:cNvSpPr/>
          <p:nvPr/>
        </p:nvSpPr>
        <p:spPr>
          <a:xfrm>
            <a:off x="3529440" y="2633400"/>
            <a:ext cx="1828440" cy="328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CustomShape 24"/>
          <p:cNvSpPr/>
          <p:nvPr/>
        </p:nvSpPr>
        <p:spPr>
          <a:xfrm>
            <a:off x="3529440" y="2633400"/>
            <a:ext cx="18284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Reduces hallucination; enables grounding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71" name="CustomShape 25"/>
          <p:cNvSpPr/>
          <p:nvPr/>
        </p:nvSpPr>
        <p:spPr>
          <a:xfrm>
            <a:off x="164520" y="3246120"/>
            <a:ext cx="534888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CustomShape 26"/>
          <p:cNvSpPr/>
          <p:nvPr/>
        </p:nvSpPr>
        <p:spPr>
          <a:xfrm>
            <a:off x="164520" y="3246120"/>
            <a:ext cx="63720" cy="795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3" name="Image 3" descr="preencoded.png"/>
          <p:cNvPicPr/>
          <p:nvPr/>
        </p:nvPicPr>
        <p:blipFill>
          <a:blip r:embed="rId4"/>
          <a:stretch/>
        </p:blipFill>
        <p:spPr>
          <a:xfrm>
            <a:off x="292680" y="3420000"/>
            <a:ext cx="347040" cy="347040"/>
          </a:xfrm>
          <a:prstGeom prst="rect">
            <a:avLst/>
          </a:prstGeom>
          <a:ln>
            <a:noFill/>
          </a:ln>
        </p:spPr>
      </p:pic>
      <p:sp>
        <p:nvSpPr>
          <p:cNvPr id="74" name="CustomShape 27"/>
          <p:cNvSpPr/>
          <p:nvPr/>
        </p:nvSpPr>
        <p:spPr>
          <a:xfrm>
            <a:off x="749880" y="3310200"/>
            <a:ext cx="2651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AI Systems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5" name="CustomShape 28"/>
          <p:cNvSpPr/>
          <p:nvPr/>
        </p:nvSpPr>
        <p:spPr>
          <a:xfrm>
            <a:off x="749880" y="3538800"/>
            <a:ext cx="274284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Agents reason + act autonomously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Multi-Agent: delegation &amp; specialised roles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76" name="CustomShape 29"/>
          <p:cNvSpPr/>
          <p:nvPr/>
        </p:nvSpPr>
        <p:spPr>
          <a:xfrm>
            <a:off x="3529440" y="3465720"/>
            <a:ext cx="1828440" cy="328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CustomShape 30"/>
          <p:cNvSpPr/>
          <p:nvPr/>
        </p:nvSpPr>
        <p:spPr>
          <a:xfrm>
            <a:off x="3529440" y="3465720"/>
            <a:ext cx="18284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Backbone of enterprise AI automation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78" name="CustomShape 31"/>
          <p:cNvSpPr/>
          <p:nvPr/>
        </p:nvSpPr>
        <p:spPr>
          <a:xfrm>
            <a:off x="164520" y="4078080"/>
            <a:ext cx="534888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32"/>
          <p:cNvSpPr/>
          <p:nvPr/>
        </p:nvSpPr>
        <p:spPr>
          <a:xfrm>
            <a:off x="164520" y="4078080"/>
            <a:ext cx="63720" cy="795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0" name="Image 4" descr="preencoded.png"/>
          <p:cNvPicPr/>
          <p:nvPr/>
        </p:nvPicPr>
        <p:blipFill>
          <a:blip r:embed="rId5"/>
          <a:stretch/>
        </p:blipFill>
        <p:spPr>
          <a:xfrm>
            <a:off x="292680" y="4251960"/>
            <a:ext cx="347040" cy="347040"/>
          </a:xfrm>
          <a:prstGeom prst="rect">
            <a:avLst/>
          </a:prstGeom>
          <a:ln>
            <a:noFill/>
          </a:ln>
        </p:spPr>
      </p:pic>
      <p:sp>
        <p:nvSpPr>
          <p:cNvPr id="81" name="CustomShape 33"/>
          <p:cNvSpPr/>
          <p:nvPr/>
        </p:nvSpPr>
        <p:spPr>
          <a:xfrm>
            <a:off x="749880" y="4142160"/>
            <a:ext cx="2651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Enterprise AI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2" name="CustomShape 34"/>
          <p:cNvSpPr/>
          <p:nvPr/>
        </p:nvSpPr>
        <p:spPr>
          <a:xfrm>
            <a:off x="749880" y="4370760"/>
            <a:ext cx="2742840" cy="40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Fine-Tuning vs Prompting trade-offs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AI Engineering Roadmap: from PoC to Prod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83" name="CustomShape 35"/>
          <p:cNvSpPr/>
          <p:nvPr/>
        </p:nvSpPr>
        <p:spPr>
          <a:xfrm>
            <a:off x="3529440" y="4297680"/>
            <a:ext cx="1828440" cy="328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CustomShape 36"/>
          <p:cNvSpPr/>
          <p:nvPr/>
        </p:nvSpPr>
        <p:spPr>
          <a:xfrm>
            <a:off x="3529440" y="4297680"/>
            <a:ext cx="18284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Shapes architecture decisions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85" name="CustomShape 37"/>
          <p:cNvSpPr/>
          <p:nvPr/>
        </p:nvSpPr>
        <p:spPr>
          <a:xfrm>
            <a:off x="5715000" y="749880"/>
            <a:ext cx="3291480" cy="43156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CustomShape 38"/>
          <p:cNvSpPr/>
          <p:nvPr/>
        </p:nvSpPr>
        <p:spPr>
          <a:xfrm>
            <a:off x="5715000" y="804600"/>
            <a:ext cx="329148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48" strike="noStrike">
                <a:solidFill>
                  <a:srgbClr val="00c2cb"/>
                </a:solidFill>
                <a:latin typeface="Trebuchet MS"/>
                <a:ea typeface="Trebuchet MS"/>
              </a:rPr>
              <a:t>AI ECOSYSTEM ROADMAP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7" name="CustomShape 39"/>
          <p:cNvSpPr/>
          <p:nvPr/>
        </p:nvSpPr>
        <p:spPr>
          <a:xfrm>
            <a:off x="6035040" y="1143000"/>
            <a:ext cx="26514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  <a:effectLst>
            <a:outerShdw algn="bl" blurRad="50800" dir="162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CustomShape 40"/>
          <p:cNvSpPr/>
          <p:nvPr/>
        </p:nvSpPr>
        <p:spPr>
          <a:xfrm>
            <a:off x="6035040" y="1316880"/>
            <a:ext cx="182520" cy="18252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CustomShape 41"/>
          <p:cNvSpPr/>
          <p:nvPr/>
        </p:nvSpPr>
        <p:spPr>
          <a:xfrm>
            <a:off x="6309360" y="1207080"/>
            <a:ext cx="23313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Data + Compute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0" name="CustomShape 42"/>
          <p:cNvSpPr/>
          <p:nvPr/>
        </p:nvSpPr>
        <p:spPr>
          <a:xfrm>
            <a:off x="6309360" y="1444680"/>
            <a:ext cx="233136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Foundation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91" name="CustomShape 43"/>
          <p:cNvSpPr/>
          <p:nvPr/>
        </p:nvSpPr>
        <p:spPr>
          <a:xfrm>
            <a:off x="7269480" y="1673280"/>
            <a:ext cx="54360" cy="1641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CustomShape 44"/>
          <p:cNvSpPr/>
          <p:nvPr/>
        </p:nvSpPr>
        <p:spPr>
          <a:xfrm>
            <a:off x="6035040" y="1874520"/>
            <a:ext cx="26514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5ba6d6"/>
            </a:solidFill>
            <a:round/>
          </a:ln>
          <a:effectLst>
            <a:outerShdw algn="bl" blurRad="50800" dir="162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CustomShape 45"/>
          <p:cNvSpPr/>
          <p:nvPr/>
        </p:nvSpPr>
        <p:spPr>
          <a:xfrm>
            <a:off x="6035040" y="2048400"/>
            <a:ext cx="182520" cy="182520"/>
          </a:xfrm>
          <a:prstGeom prst="ellipse">
            <a:avLst/>
          </a:prstGeom>
          <a:solidFill>
            <a:srgbClr val="5ba6d6"/>
          </a:solidFill>
          <a:ln w="12600">
            <a:solidFill>
              <a:srgbClr val="5ba6d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CustomShape 46"/>
          <p:cNvSpPr/>
          <p:nvPr/>
        </p:nvSpPr>
        <p:spPr>
          <a:xfrm>
            <a:off x="6309360" y="1938600"/>
            <a:ext cx="23313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Machine Learning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5" name="CustomShape 47"/>
          <p:cNvSpPr/>
          <p:nvPr/>
        </p:nvSpPr>
        <p:spPr>
          <a:xfrm>
            <a:off x="6309360" y="2176200"/>
            <a:ext cx="233136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Patterns &amp; Prediction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96" name="CustomShape 48"/>
          <p:cNvSpPr/>
          <p:nvPr/>
        </p:nvSpPr>
        <p:spPr>
          <a:xfrm>
            <a:off x="7269480" y="2404800"/>
            <a:ext cx="54360" cy="1641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CustomShape 49"/>
          <p:cNvSpPr/>
          <p:nvPr/>
        </p:nvSpPr>
        <p:spPr>
          <a:xfrm>
            <a:off x="6035040" y="2606040"/>
            <a:ext cx="26514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50800" dir="162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8" name="CustomShape 50"/>
          <p:cNvSpPr/>
          <p:nvPr/>
        </p:nvSpPr>
        <p:spPr>
          <a:xfrm>
            <a:off x="6035040" y="2779920"/>
            <a:ext cx="182520" cy="18252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CustomShape 51"/>
          <p:cNvSpPr/>
          <p:nvPr/>
        </p:nvSpPr>
        <p:spPr>
          <a:xfrm>
            <a:off x="6309360" y="2670120"/>
            <a:ext cx="23313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Deep Learning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0" name="CustomShape 52"/>
          <p:cNvSpPr/>
          <p:nvPr/>
        </p:nvSpPr>
        <p:spPr>
          <a:xfrm>
            <a:off x="6309360" y="2907720"/>
            <a:ext cx="233136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Neural Networks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01" name="CustomShape 53"/>
          <p:cNvSpPr/>
          <p:nvPr/>
        </p:nvSpPr>
        <p:spPr>
          <a:xfrm>
            <a:off x="7269480" y="3136320"/>
            <a:ext cx="54360" cy="1641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CustomShape 54"/>
          <p:cNvSpPr/>
          <p:nvPr/>
        </p:nvSpPr>
        <p:spPr>
          <a:xfrm>
            <a:off x="6035040" y="3337560"/>
            <a:ext cx="26514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50800" dir="162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CustomShape 55"/>
          <p:cNvSpPr/>
          <p:nvPr/>
        </p:nvSpPr>
        <p:spPr>
          <a:xfrm>
            <a:off x="6035040" y="3511440"/>
            <a:ext cx="182520" cy="1825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CustomShape 56"/>
          <p:cNvSpPr/>
          <p:nvPr/>
        </p:nvSpPr>
        <p:spPr>
          <a:xfrm>
            <a:off x="6309360" y="3401640"/>
            <a:ext cx="23313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Large Language Models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5" name="CustomShape 57"/>
          <p:cNvSpPr/>
          <p:nvPr/>
        </p:nvSpPr>
        <p:spPr>
          <a:xfrm>
            <a:off x="6309360" y="3639240"/>
            <a:ext cx="233136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Transformers + Tokens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06" name="CustomShape 58"/>
          <p:cNvSpPr/>
          <p:nvPr/>
        </p:nvSpPr>
        <p:spPr>
          <a:xfrm>
            <a:off x="7269480" y="3867840"/>
            <a:ext cx="54360" cy="1641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CustomShape 59"/>
          <p:cNvSpPr/>
          <p:nvPr/>
        </p:nvSpPr>
        <p:spPr>
          <a:xfrm>
            <a:off x="6035040" y="4069080"/>
            <a:ext cx="26514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50800" dir="16200000" dist="255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CustomShape 60"/>
          <p:cNvSpPr/>
          <p:nvPr/>
        </p:nvSpPr>
        <p:spPr>
          <a:xfrm>
            <a:off x="6035040" y="4242960"/>
            <a:ext cx="182520" cy="18252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CustomShape 61"/>
          <p:cNvSpPr/>
          <p:nvPr/>
        </p:nvSpPr>
        <p:spPr>
          <a:xfrm>
            <a:off x="6309360" y="4133160"/>
            <a:ext cx="2331360" cy="22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Agentic AI Systems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0" name="CustomShape 62"/>
          <p:cNvSpPr/>
          <p:nvPr/>
        </p:nvSpPr>
        <p:spPr>
          <a:xfrm>
            <a:off x="6309360" y="4370760"/>
            <a:ext cx="233136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Agents · RAG · Multi-Agent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11" name="CustomShape 63"/>
          <p:cNvSpPr/>
          <p:nvPr/>
        </p:nvSpPr>
        <p:spPr>
          <a:xfrm>
            <a:off x="6035040" y="4754880"/>
            <a:ext cx="2651400" cy="2192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64"/>
          <p:cNvSpPr/>
          <p:nvPr/>
        </p:nvSpPr>
        <p:spPr>
          <a:xfrm>
            <a:off x="6035040" y="4754880"/>
            <a:ext cx="26514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Trebuchet MS"/>
                <a:ea typeface="Trebuchet MS"/>
              </a:rPr>
              <a:t>ENTERPRISE PRODUCTION AI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3" name="CustomShape 65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1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Practical Labs &amp; Hands-On Learning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0" name="CustomShape 7"/>
          <p:cNvSpPr/>
          <p:nvPr/>
        </p:nvSpPr>
        <p:spPr>
          <a:xfrm>
            <a:off x="164520" y="768240"/>
            <a:ext cx="4251600" cy="117000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CustomShape 8"/>
          <p:cNvSpPr/>
          <p:nvPr/>
        </p:nvSpPr>
        <p:spPr>
          <a:xfrm>
            <a:off x="164520" y="768240"/>
            <a:ext cx="425160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CustomShape 9"/>
          <p:cNvSpPr/>
          <p:nvPr/>
        </p:nvSpPr>
        <p:spPr>
          <a:xfrm>
            <a:off x="164520" y="768240"/>
            <a:ext cx="475200" cy="25560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CustomShape 10"/>
          <p:cNvSpPr/>
          <p:nvPr/>
        </p:nvSpPr>
        <p:spPr>
          <a:xfrm>
            <a:off x="164520" y="768240"/>
            <a:ext cx="4752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1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4" name="CustomShape 11"/>
          <p:cNvSpPr/>
          <p:nvPr/>
        </p:nvSpPr>
        <p:spPr>
          <a:xfrm>
            <a:off x="694800" y="768240"/>
            <a:ext cx="36846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Groq API Setup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274320" y="111564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126" name="CustomShape 12"/>
          <p:cNvSpPr/>
          <p:nvPr/>
        </p:nvSpPr>
        <p:spPr>
          <a:xfrm>
            <a:off x="667440" y="1069920"/>
            <a:ext cx="3657240" cy="79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Obj: 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Configure API access</a:t>
            </a:r>
            <a:endParaRPr b="0" lang="en-IN" sz="850" spc="-1" strike="noStrike">
              <a:latin typeface="Arial"/>
            </a:endParaRPr>
          </a:p>
          <a:p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Impl: 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API key, SDK install, env vars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i="1" lang="en-US" sz="850" spc="-1" strike="noStrike">
                <a:solidFill>
                  <a:srgbClr val="9bb5c8"/>
                </a:solidFill>
                <a:latin typeface="Calibri"/>
                <a:ea typeface="Calibri"/>
              </a:rPr>
              <a:t>Authentication &amp; environment setup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27" name="CustomShape 13"/>
          <p:cNvSpPr/>
          <p:nvPr/>
        </p:nvSpPr>
        <p:spPr>
          <a:xfrm>
            <a:off x="4581000" y="768240"/>
            <a:ext cx="4251600" cy="117000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CustomShape 14"/>
          <p:cNvSpPr/>
          <p:nvPr/>
        </p:nvSpPr>
        <p:spPr>
          <a:xfrm>
            <a:off x="4581000" y="768240"/>
            <a:ext cx="425160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CustomShape 15"/>
          <p:cNvSpPr/>
          <p:nvPr/>
        </p:nvSpPr>
        <p:spPr>
          <a:xfrm>
            <a:off x="4581000" y="768240"/>
            <a:ext cx="475200" cy="25560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CustomShape 16"/>
          <p:cNvSpPr/>
          <p:nvPr/>
        </p:nvSpPr>
        <p:spPr>
          <a:xfrm>
            <a:off x="4581000" y="768240"/>
            <a:ext cx="4752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2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1" name="CustomShape 17"/>
          <p:cNvSpPr/>
          <p:nvPr/>
        </p:nvSpPr>
        <p:spPr>
          <a:xfrm>
            <a:off x="5111640" y="768240"/>
            <a:ext cx="36846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First Chatbot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32" name="Image 1" descr="preencoded.png"/>
          <p:cNvPicPr/>
          <p:nvPr/>
        </p:nvPicPr>
        <p:blipFill>
          <a:blip r:embed="rId2"/>
          <a:stretch/>
        </p:blipFill>
        <p:spPr>
          <a:xfrm>
            <a:off x="4690800" y="111564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133" name="CustomShape 18"/>
          <p:cNvSpPr/>
          <p:nvPr/>
        </p:nvSpPr>
        <p:spPr>
          <a:xfrm>
            <a:off x="5083920" y="1069920"/>
            <a:ext cx="3657240" cy="79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Obj: 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Build basic Q&amp;A bot</a:t>
            </a:r>
            <a:endParaRPr b="0" lang="en-IN" sz="850" spc="-1" strike="noStrike">
              <a:latin typeface="Arial"/>
            </a:endParaRPr>
          </a:p>
          <a:p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Impl: 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groq.chat.completions.create()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i="1" lang="en-US" sz="850" spc="-1" strike="noStrike">
                <a:solidFill>
                  <a:srgbClr val="9bb5c8"/>
                </a:solidFill>
                <a:latin typeface="Calibri"/>
                <a:ea typeface="Calibri"/>
              </a:rPr>
              <a:t>Request/response lifecycle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34" name="CustomShape 19"/>
          <p:cNvSpPr/>
          <p:nvPr/>
        </p:nvSpPr>
        <p:spPr>
          <a:xfrm>
            <a:off x="164520" y="2103120"/>
            <a:ext cx="4251600" cy="117000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CustomShape 20"/>
          <p:cNvSpPr/>
          <p:nvPr/>
        </p:nvSpPr>
        <p:spPr>
          <a:xfrm>
            <a:off x="164520" y="2103120"/>
            <a:ext cx="425160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CustomShape 21"/>
          <p:cNvSpPr/>
          <p:nvPr/>
        </p:nvSpPr>
        <p:spPr>
          <a:xfrm>
            <a:off x="164520" y="2103120"/>
            <a:ext cx="475200" cy="25560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CustomShape 22"/>
          <p:cNvSpPr/>
          <p:nvPr/>
        </p:nvSpPr>
        <p:spPr>
          <a:xfrm>
            <a:off x="164520" y="2103120"/>
            <a:ext cx="4752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3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8" name="CustomShape 23"/>
          <p:cNvSpPr/>
          <p:nvPr/>
        </p:nvSpPr>
        <p:spPr>
          <a:xfrm>
            <a:off x="694800" y="2103120"/>
            <a:ext cx="36846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Temperature Testing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39" name="Image 2" descr="preencoded.png"/>
          <p:cNvPicPr/>
          <p:nvPr/>
        </p:nvPicPr>
        <p:blipFill>
          <a:blip r:embed="rId3"/>
          <a:stretch/>
        </p:blipFill>
        <p:spPr>
          <a:xfrm>
            <a:off x="274320" y="245052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140" name="CustomShape 24"/>
          <p:cNvSpPr/>
          <p:nvPr/>
        </p:nvSpPr>
        <p:spPr>
          <a:xfrm>
            <a:off x="667440" y="2404800"/>
            <a:ext cx="3657240" cy="79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Obj: 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Observe output variance</a:t>
            </a:r>
            <a:endParaRPr b="0" lang="en-IN" sz="850" spc="-1" strike="noStrike">
              <a:latin typeface="Arial"/>
            </a:endParaRPr>
          </a:p>
          <a:p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Impl: 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temp 0 → 0.5 → 1.0 → 2.0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i="1" lang="en-US" sz="850" spc="-1" strike="noStrike">
                <a:solidFill>
                  <a:srgbClr val="9bb5c8"/>
                </a:solidFill>
                <a:latin typeface="Calibri"/>
                <a:ea typeface="Calibri"/>
              </a:rPr>
              <a:t>Creativity vs determinism trade-off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41" name="CustomShape 25"/>
          <p:cNvSpPr/>
          <p:nvPr/>
        </p:nvSpPr>
        <p:spPr>
          <a:xfrm>
            <a:off x="4581000" y="2103120"/>
            <a:ext cx="4251600" cy="117000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CustomShape 26"/>
          <p:cNvSpPr/>
          <p:nvPr/>
        </p:nvSpPr>
        <p:spPr>
          <a:xfrm>
            <a:off x="4581000" y="2103120"/>
            <a:ext cx="425160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CustomShape 27"/>
          <p:cNvSpPr/>
          <p:nvPr/>
        </p:nvSpPr>
        <p:spPr>
          <a:xfrm>
            <a:off x="4581000" y="2103120"/>
            <a:ext cx="475200" cy="25560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CustomShape 28"/>
          <p:cNvSpPr/>
          <p:nvPr/>
        </p:nvSpPr>
        <p:spPr>
          <a:xfrm>
            <a:off x="4581000" y="2103120"/>
            <a:ext cx="4752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4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5" name="CustomShape 29"/>
          <p:cNvSpPr/>
          <p:nvPr/>
        </p:nvSpPr>
        <p:spPr>
          <a:xfrm>
            <a:off x="5111640" y="2103120"/>
            <a:ext cx="36846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max_tokens Testing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46" name="Image 3" descr="preencoded.png"/>
          <p:cNvPicPr/>
          <p:nvPr/>
        </p:nvPicPr>
        <p:blipFill>
          <a:blip r:embed="rId4"/>
          <a:stretch/>
        </p:blipFill>
        <p:spPr>
          <a:xfrm>
            <a:off x="4690800" y="245052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147" name="CustomShape 30"/>
          <p:cNvSpPr/>
          <p:nvPr/>
        </p:nvSpPr>
        <p:spPr>
          <a:xfrm>
            <a:off x="5083920" y="2404800"/>
            <a:ext cx="3657240" cy="79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Obj: 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Control response length</a:t>
            </a:r>
            <a:endParaRPr b="0" lang="en-IN" sz="850" spc="-1" strike="noStrike">
              <a:latin typeface="Arial"/>
            </a:endParaRPr>
          </a:p>
          <a:p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Impl: 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tokens 50 → 200 → 1000</a:t>
            </a:r>
            <a:endParaRPr b="0" lang="en-IN" sz="85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i="1" lang="en-US" sz="850" spc="-1" strike="noStrike">
                <a:solidFill>
                  <a:srgbClr val="9bb5c8"/>
                </a:solidFill>
                <a:latin typeface="Calibri"/>
                <a:ea typeface="Calibri"/>
              </a:rPr>
              <a:t>Cost optimisation &amp; truncation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48" name="CustomShape 31"/>
          <p:cNvSpPr/>
          <p:nvPr/>
        </p:nvSpPr>
        <p:spPr>
          <a:xfrm>
            <a:off x="164520" y="3163680"/>
            <a:ext cx="8814600" cy="18100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CustomShape 32"/>
          <p:cNvSpPr/>
          <p:nvPr/>
        </p:nvSpPr>
        <p:spPr>
          <a:xfrm>
            <a:off x="164520" y="3218760"/>
            <a:ext cx="88146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7" strike="noStrike">
                <a:solidFill>
                  <a:srgbClr val="00c2cb"/>
                </a:solidFill>
                <a:latin typeface="Trebuchet MS"/>
                <a:ea typeface="Trebuchet MS"/>
              </a:rPr>
              <a:t>API LIFECYCLE  ·  Response Generation Flow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0" name="CustomShape 33"/>
          <p:cNvSpPr/>
          <p:nvPr/>
        </p:nvSpPr>
        <p:spPr>
          <a:xfrm>
            <a:off x="576000" y="3547800"/>
            <a:ext cx="1188360" cy="71280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CustomShape 34"/>
          <p:cNvSpPr/>
          <p:nvPr/>
        </p:nvSpPr>
        <p:spPr>
          <a:xfrm>
            <a:off x="1060560" y="3420000"/>
            <a:ext cx="219240" cy="21924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CustomShape 35"/>
          <p:cNvSpPr/>
          <p:nvPr/>
        </p:nvSpPr>
        <p:spPr>
          <a:xfrm>
            <a:off x="576000" y="3684960"/>
            <a:ext cx="1188360" cy="5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User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Prompt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3" name="CustomShape 36"/>
          <p:cNvSpPr/>
          <p:nvPr/>
        </p:nvSpPr>
        <p:spPr>
          <a:xfrm>
            <a:off x="1801440" y="3877200"/>
            <a:ext cx="438480" cy="54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CustomShape 37"/>
          <p:cNvSpPr/>
          <p:nvPr/>
        </p:nvSpPr>
        <p:spPr>
          <a:xfrm>
            <a:off x="2185560" y="3813120"/>
            <a:ext cx="109440" cy="18252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CustomShape 38"/>
          <p:cNvSpPr/>
          <p:nvPr/>
        </p:nvSpPr>
        <p:spPr>
          <a:xfrm>
            <a:off x="2277000" y="3547800"/>
            <a:ext cx="1188360" cy="71280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39"/>
          <p:cNvSpPr/>
          <p:nvPr/>
        </p:nvSpPr>
        <p:spPr>
          <a:xfrm>
            <a:off x="2761560" y="3420000"/>
            <a:ext cx="219240" cy="21924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CustomShape 40"/>
          <p:cNvSpPr/>
          <p:nvPr/>
        </p:nvSpPr>
        <p:spPr>
          <a:xfrm>
            <a:off x="2277000" y="3684960"/>
            <a:ext cx="1188360" cy="5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Groq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API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8" name="CustomShape 41"/>
          <p:cNvSpPr/>
          <p:nvPr/>
        </p:nvSpPr>
        <p:spPr>
          <a:xfrm>
            <a:off x="3502080" y="3877200"/>
            <a:ext cx="438480" cy="54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CustomShape 42"/>
          <p:cNvSpPr/>
          <p:nvPr/>
        </p:nvSpPr>
        <p:spPr>
          <a:xfrm>
            <a:off x="3886200" y="3813120"/>
            <a:ext cx="109440" cy="18252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CustomShape 43"/>
          <p:cNvSpPr/>
          <p:nvPr/>
        </p:nvSpPr>
        <p:spPr>
          <a:xfrm>
            <a:off x="3977640" y="3547800"/>
            <a:ext cx="1188360" cy="71280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44"/>
          <p:cNvSpPr/>
          <p:nvPr/>
        </p:nvSpPr>
        <p:spPr>
          <a:xfrm>
            <a:off x="4462200" y="3420000"/>
            <a:ext cx="219240" cy="21924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CustomShape 45"/>
          <p:cNvSpPr/>
          <p:nvPr/>
        </p:nvSpPr>
        <p:spPr>
          <a:xfrm>
            <a:off x="3977640" y="3684960"/>
            <a:ext cx="1188360" cy="5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(Llama)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3" name="CustomShape 46"/>
          <p:cNvSpPr/>
          <p:nvPr/>
        </p:nvSpPr>
        <p:spPr>
          <a:xfrm>
            <a:off x="5203080" y="3877200"/>
            <a:ext cx="438480" cy="54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CustomShape 47"/>
          <p:cNvSpPr/>
          <p:nvPr/>
        </p:nvSpPr>
        <p:spPr>
          <a:xfrm>
            <a:off x="5586840" y="3813120"/>
            <a:ext cx="109440" cy="18252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48"/>
          <p:cNvSpPr/>
          <p:nvPr/>
        </p:nvSpPr>
        <p:spPr>
          <a:xfrm>
            <a:off x="5678280" y="3547800"/>
            <a:ext cx="1188360" cy="71280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CustomShape 49"/>
          <p:cNvSpPr/>
          <p:nvPr/>
        </p:nvSpPr>
        <p:spPr>
          <a:xfrm>
            <a:off x="6163200" y="3420000"/>
            <a:ext cx="219240" cy="21924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50"/>
          <p:cNvSpPr/>
          <p:nvPr/>
        </p:nvSpPr>
        <p:spPr>
          <a:xfrm>
            <a:off x="5678280" y="3684960"/>
            <a:ext cx="1188360" cy="5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Token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Generation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8" name="CustomShape 51"/>
          <p:cNvSpPr/>
          <p:nvPr/>
        </p:nvSpPr>
        <p:spPr>
          <a:xfrm>
            <a:off x="6903720" y="3877200"/>
            <a:ext cx="438480" cy="54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52"/>
          <p:cNvSpPr/>
          <p:nvPr/>
        </p:nvSpPr>
        <p:spPr>
          <a:xfrm>
            <a:off x="7287840" y="3813120"/>
            <a:ext cx="109440" cy="18252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53"/>
          <p:cNvSpPr/>
          <p:nvPr/>
        </p:nvSpPr>
        <p:spPr>
          <a:xfrm>
            <a:off x="7379280" y="3547800"/>
            <a:ext cx="1188360" cy="71280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54"/>
          <p:cNvSpPr/>
          <p:nvPr/>
        </p:nvSpPr>
        <p:spPr>
          <a:xfrm>
            <a:off x="7863840" y="3420000"/>
            <a:ext cx="219240" cy="21924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CustomShape 55"/>
          <p:cNvSpPr/>
          <p:nvPr/>
        </p:nvSpPr>
        <p:spPr>
          <a:xfrm>
            <a:off x="7379280" y="3684960"/>
            <a:ext cx="1188360" cy="57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Response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Trebuchet MS"/>
                <a:ea typeface="Trebuchet MS"/>
              </a:rPr>
              <a:t>Streamed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3" name="CustomShape 56"/>
          <p:cNvSpPr/>
          <p:nvPr/>
        </p:nvSpPr>
        <p:spPr>
          <a:xfrm>
            <a:off x="274320" y="4700160"/>
            <a:ext cx="85950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4a727"/>
                </a:solidFill>
                <a:latin typeface="Calibri"/>
                <a:ea typeface="Calibri"/>
              </a:rPr>
              <a:t>temperature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  Controls creativity/randomness of token sampling    </a:t>
            </a:r>
            <a:r>
              <a:rPr b="1" lang="en-US" sz="850" spc="-1" strike="noStrike">
                <a:solidFill>
                  <a:srgbClr val="00c2cb"/>
                </a:solidFill>
                <a:latin typeface="Calibri"/>
                <a:ea typeface="Calibri"/>
              </a:rPr>
              <a:t>max_tokens</a:t>
            </a: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  Caps response length → cost &amp; latency control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74" name="CustomShape 57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1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8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Mini Project – CLI AI Chatbot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79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1" name="CustomShape 7"/>
          <p:cNvSpPr/>
          <p:nvPr/>
        </p:nvSpPr>
        <p:spPr>
          <a:xfrm>
            <a:off x="164520" y="749880"/>
            <a:ext cx="4297320" cy="13528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8"/>
          <p:cNvSpPr/>
          <p:nvPr/>
        </p:nvSpPr>
        <p:spPr>
          <a:xfrm>
            <a:off x="164520" y="749880"/>
            <a:ext cx="54360" cy="135288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83" name="Image 0" descr="preencoded.png"/>
          <p:cNvPicPr/>
          <p:nvPr/>
        </p:nvPicPr>
        <p:blipFill>
          <a:blip r:embed="rId1"/>
          <a:stretch/>
        </p:blipFill>
        <p:spPr>
          <a:xfrm>
            <a:off x="292680" y="804600"/>
            <a:ext cx="319680" cy="319680"/>
          </a:xfrm>
          <a:prstGeom prst="rect">
            <a:avLst/>
          </a:prstGeom>
          <a:ln>
            <a:noFill/>
          </a:ln>
        </p:spPr>
      </p:pic>
      <p:sp>
        <p:nvSpPr>
          <p:cNvPr id="184" name="CustomShape 9"/>
          <p:cNvSpPr/>
          <p:nvPr/>
        </p:nvSpPr>
        <p:spPr>
          <a:xfrm>
            <a:off x="685800" y="777240"/>
            <a:ext cx="36572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Trebuchet MS"/>
                <a:ea typeface="Trebuchet MS"/>
              </a:rPr>
              <a:t>Project Overview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5" name="CustomShape 10"/>
          <p:cNvSpPr/>
          <p:nvPr/>
        </p:nvSpPr>
        <p:spPr>
          <a:xfrm>
            <a:off x="685800" y="1024200"/>
            <a:ext cx="3565800" cy="100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Built CLI chatbot via Groq API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Multi-turn conversation flow &amp; session memory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Graceful error handling &amp; env variable management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6" name="CustomShape 11"/>
          <p:cNvSpPr/>
          <p:nvPr/>
        </p:nvSpPr>
        <p:spPr>
          <a:xfrm>
            <a:off x="164520" y="2176200"/>
            <a:ext cx="4297320" cy="137124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CustomShape 12"/>
          <p:cNvSpPr/>
          <p:nvPr/>
        </p:nvSpPr>
        <p:spPr>
          <a:xfrm>
            <a:off x="164520" y="2176200"/>
            <a:ext cx="54360" cy="1371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CustomShape 13"/>
          <p:cNvSpPr/>
          <p:nvPr/>
        </p:nvSpPr>
        <p:spPr>
          <a:xfrm>
            <a:off x="292680" y="2194560"/>
            <a:ext cx="40230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2cb"/>
                </a:solidFill>
                <a:latin typeface="Trebuchet MS"/>
                <a:ea typeface="Trebuchet MS"/>
              </a:rPr>
              <a:t>Architecture Flow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9" name="CustomShape 14"/>
          <p:cNvSpPr/>
          <p:nvPr/>
        </p:nvSpPr>
        <p:spPr>
          <a:xfrm>
            <a:off x="311040" y="2523600"/>
            <a:ext cx="6397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15"/>
          <p:cNvSpPr/>
          <p:nvPr/>
        </p:nvSpPr>
        <p:spPr>
          <a:xfrm>
            <a:off x="311040" y="2523600"/>
            <a:ext cx="639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Trebuchet MS"/>
                <a:ea typeface="Trebuchet MS"/>
              </a:rPr>
              <a:t>User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91" name="CustomShape 16"/>
          <p:cNvSpPr/>
          <p:nvPr/>
        </p:nvSpPr>
        <p:spPr>
          <a:xfrm>
            <a:off x="978480" y="2729520"/>
            <a:ext cx="16416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ustomShape 17"/>
          <p:cNvSpPr/>
          <p:nvPr/>
        </p:nvSpPr>
        <p:spPr>
          <a:xfrm>
            <a:off x="1170360" y="2523600"/>
            <a:ext cx="6397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CustomShape 18"/>
          <p:cNvSpPr/>
          <p:nvPr/>
        </p:nvSpPr>
        <p:spPr>
          <a:xfrm>
            <a:off x="1170360" y="2523600"/>
            <a:ext cx="639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Trebuchet MS"/>
                <a:ea typeface="Trebuchet MS"/>
              </a:rPr>
              <a:t>Python App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94" name="CustomShape 19"/>
          <p:cNvSpPr/>
          <p:nvPr/>
        </p:nvSpPr>
        <p:spPr>
          <a:xfrm>
            <a:off x="1837800" y="2729520"/>
            <a:ext cx="16416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CustomShape 20"/>
          <p:cNvSpPr/>
          <p:nvPr/>
        </p:nvSpPr>
        <p:spPr>
          <a:xfrm>
            <a:off x="2030040" y="2523600"/>
            <a:ext cx="6397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CustomShape 21"/>
          <p:cNvSpPr/>
          <p:nvPr/>
        </p:nvSpPr>
        <p:spPr>
          <a:xfrm>
            <a:off x="2030040" y="2523600"/>
            <a:ext cx="639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Trebuchet MS"/>
                <a:ea typeface="Trebuchet MS"/>
              </a:rPr>
              <a:t>Groq API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97" name="CustomShape 22"/>
          <p:cNvSpPr/>
          <p:nvPr/>
        </p:nvSpPr>
        <p:spPr>
          <a:xfrm>
            <a:off x="2697480" y="2729520"/>
            <a:ext cx="16416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CustomShape 23"/>
          <p:cNvSpPr/>
          <p:nvPr/>
        </p:nvSpPr>
        <p:spPr>
          <a:xfrm>
            <a:off x="2889360" y="2523600"/>
            <a:ext cx="6397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CustomShape 24"/>
          <p:cNvSpPr/>
          <p:nvPr/>
        </p:nvSpPr>
        <p:spPr>
          <a:xfrm>
            <a:off x="2889360" y="2523600"/>
            <a:ext cx="639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Llama 3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00" name="CustomShape 25"/>
          <p:cNvSpPr/>
          <p:nvPr/>
        </p:nvSpPr>
        <p:spPr>
          <a:xfrm>
            <a:off x="3557160" y="2729520"/>
            <a:ext cx="16416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ustomShape 26"/>
          <p:cNvSpPr/>
          <p:nvPr/>
        </p:nvSpPr>
        <p:spPr>
          <a:xfrm>
            <a:off x="3749040" y="2523600"/>
            <a:ext cx="6397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CustomShape 27"/>
          <p:cNvSpPr/>
          <p:nvPr/>
        </p:nvSpPr>
        <p:spPr>
          <a:xfrm>
            <a:off x="3749040" y="2523600"/>
            <a:ext cx="639720" cy="45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Response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03" name="CustomShape 28"/>
          <p:cNvSpPr/>
          <p:nvPr/>
        </p:nvSpPr>
        <p:spPr>
          <a:xfrm>
            <a:off x="255960" y="3035880"/>
            <a:ext cx="411444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↑ </a:t>
            </a:r>
            <a:r>
              <a:rPr b="0" i="1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Conversation history passed on every turn (context window)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204" name="CustomShape 29"/>
          <p:cNvSpPr/>
          <p:nvPr/>
        </p:nvSpPr>
        <p:spPr>
          <a:xfrm>
            <a:off x="164520" y="3620880"/>
            <a:ext cx="4297320" cy="133452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CustomShape 30"/>
          <p:cNvSpPr/>
          <p:nvPr/>
        </p:nvSpPr>
        <p:spPr>
          <a:xfrm>
            <a:off x="164520" y="3620880"/>
            <a:ext cx="54360" cy="133452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CustomShape 31"/>
          <p:cNvSpPr/>
          <p:nvPr/>
        </p:nvSpPr>
        <p:spPr>
          <a:xfrm>
            <a:off x="292680" y="3639240"/>
            <a:ext cx="40230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4a727"/>
                </a:solidFill>
                <a:latin typeface="Trebuchet MS"/>
                <a:ea typeface="Trebuchet MS"/>
              </a:rPr>
              <a:t>Challenges &amp; Solutions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7" name="CustomShape 32"/>
          <p:cNvSpPr/>
          <p:nvPr/>
        </p:nvSpPr>
        <p:spPr>
          <a:xfrm>
            <a:off x="255960" y="3877200"/>
            <a:ext cx="411444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CustomShape 33"/>
          <p:cNvSpPr/>
          <p:nvPr/>
        </p:nvSpPr>
        <p:spPr>
          <a:xfrm>
            <a:off x="311040" y="3895200"/>
            <a:ext cx="146268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Python venv setup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9" name="CustomShape 34"/>
          <p:cNvSpPr/>
          <p:nvPr/>
        </p:nvSpPr>
        <p:spPr>
          <a:xfrm>
            <a:off x="1810440" y="3940920"/>
            <a:ext cx="36360" cy="1458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CustomShape 35"/>
          <p:cNvSpPr/>
          <p:nvPr/>
        </p:nvSpPr>
        <p:spPr>
          <a:xfrm>
            <a:off x="1901880" y="3895200"/>
            <a:ext cx="237708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Configured venv &amp; dependency isolation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1" name="CustomShape 36"/>
          <p:cNvSpPr/>
          <p:nvPr/>
        </p:nvSpPr>
        <p:spPr>
          <a:xfrm>
            <a:off x="255960" y="4206240"/>
            <a:ext cx="411444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CustomShape 37"/>
          <p:cNvSpPr/>
          <p:nvPr/>
        </p:nvSpPr>
        <p:spPr>
          <a:xfrm>
            <a:off x="311040" y="4224600"/>
            <a:ext cx="146268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API integration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3" name="CustomShape 38"/>
          <p:cNvSpPr/>
          <p:nvPr/>
        </p:nvSpPr>
        <p:spPr>
          <a:xfrm>
            <a:off x="1810440" y="4270320"/>
            <a:ext cx="36360" cy="1458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CustomShape 39"/>
          <p:cNvSpPr/>
          <p:nvPr/>
        </p:nvSpPr>
        <p:spPr>
          <a:xfrm>
            <a:off x="1901880" y="4224600"/>
            <a:ext cx="237708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Managed keys via .env &amp; dotenv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5" name="CustomShape 40"/>
          <p:cNvSpPr/>
          <p:nvPr/>
        </p:nvSpPr>
        <p:spPr>
          <a:xfrm>
            <a:off x="255960" y="4535280"/>
            <a:ext cx="411444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CustomShape 41"/>
          <p:cNvSpPr/>
          <p:nvPr/>
        </p:nvSpPr>
        <p:spPr>
          <a:xfrm>
            <a:off x="311040" y="4553640"/>
            <a:ext cx="146268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API response parsing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7" name="CustomShape 42"/>
          <p:cNvSpPr/>
          <p:nvPr/>
        </p:nvSpPr>
        <p:spPr>
          <a:xfrm>
            <a:off x="1810440" y="4599360"/>
            <a:ext cx="36360" cy="1458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CustomShape 43"/>
          <p:cNvSpPr/>
          <p:nvPr/>
        </p:nvSpPr>
        <p:spPr>
          <a:xfrm>
            <a:off x="1901880" y="4553640"/>
            <a:ext cx="237708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Implemented try/except &amp; error codes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9" name="CustomShape 44"/>
          <p:cNvSpPr/>
          <p:nvPr/>
        </p:nvSpPr>
        <p:spPr>
          <a:xfrm>
            <a:off x="4626720" y="749880"/>
            <a:ext cx="4352040" cy="42058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CustomShape 45"/>
          <p:cNvSpPr/>
          <p:nvPr/>
        </p:nvSpPr>
        <p:spPr>
          <a:xfrm>
            <a:off x="4626720" y="749880"/>
            <a:ext cx="4352040" cy="2923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CustomShape 46"/>
          <p:cNvSpPr/>
          <p:nvPr/>
        </p:nvSpPr>
        <p:spPr>
          <a:xfrm>
            <a:off x="4626720" y="749880"/>
            <a:ext cx="435204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8" strike="noStrike">
                <a:solidFill>
                  <a:srgbClr val="00c2cb"/>
                </a:solidFill>
                <a:latin typeface="Trebuchet MS"/>
                <a:ea typeface="Trebuchet MS"/>
              </a:rPr>
              <a:t>KEY TAKEAWAYS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2" name="CustomShape 47"/>
          <p:cNvSpPr/>
          <p:nvPr/>
        </p:nvSpPr>
        <p:spPr>
          <a:xfrm>
            <a:off x="4791600" y="1115640"/>
            <a:ext cx="4023000" cy="6397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CustomShape 48"/>
          <p:cNvSpPr/>
          <p:nvPr/>
        </p:nvSpPr>
        <p:spPr>
          <a:xfrm>
            <a:off x="4809600" y="1234440"/>
            <a:ext cx="310680" cy="31068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CustomShape 49"/>
          <p:cNvSpPr/>
          <p:nvPr/>
        </p:nvSpPr>
        <p:spPr>
          <a:xfrm>
            <a:off x="4809600" y="1234440"/>
            <a:ext cx="31068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25" name="Image 1" descr="preencoded.png"/>
          <p:cNvPicPr/>
          <p:nvPr/>
        </p:nvPicPr>
        <p:blipFill>
          <a:blip r:embed="rId2"/>
          <a:stretch/>
        </p:blipFill>
        <p:spPr>
          <a:xfrm>
            <a:off x="5193720" y="1261800"/>
            <a:ext cx="237240" cy="237240"/>
          </a:xfrm>
          <a:prstGeom prst="rect">
            <a:avLst/>
          </a:prstGeom>
          <a:ln>
            <a:noFill/>
          </a:ln>
        </p:spPr>
      </p:pic>
      <p:sp>
        <p:nvSpPr>
          <p:cNvPr id="226" name="CustomShape 50"/>
          <p:cNvSpPr/>
          <p:nvPr/>
        </p:nvSpPr>
        <p:spPr>
          <a:xfrm>
            <a:off x="5504760" y="1179720"/>
            <a:ext cx="325476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API Integration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7" name="CustomShape 51"/>
          <p:cNvSpPr/>
          <p:nvPr/>
        </p:nvSpPr>
        <p:spPr>
          <a:xfrm>
            <a:off x="5504760" y="1398960"/>
            <a:ext cx="32547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bb5c8"/>
                </a:solidFill>
                <a:latin typeface="Calibri"/>
                <a:ea typeface="Calibri"/>
              </a:rPr>
              <a:t>Auth, SDK, request/response structure, streaming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28" name="CustomShape 52"/>
          <p:cNvSpPr/>
          <p:nvPr/>
        </p:nvSpPr>
        <p:spPr>
          <a:xfrm>
            <a:off x="4791600" y="1792080"/>
            <a:ext cx="4023000" cy="6397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CustomShape 53"/>
          <p:cNvSpPr/>
          <p:nvPr/>
        </p:nvSpPr>
        <p:spPr>
          <a:xfrm>
            <a:off x="4809600" y="1911240"/>
            <a:ext cx="310680" cy="31068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CustomShape 54"/>
          <p:cNvSpPr/>
          <p:nvPr/>
        </p:nvSpPr>
        <p:spPr>
          <a:xfrm>
            <a:off x="4809600" y="1911240"/>
            <a:ext cx="31068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31" name="Image 2" descr="preencoded.png"/>
          <p:cNvPicPr/>
          <p:nvPr/>
        </p:nvPicPr>
        <p:blipFill>
          <a:blip r:embed="rId3"/>
          <a:stretch/>
        </p:blipFill>
        <p:spPr>
          <a:xfrm>
            <a:off x="5193720" y="1938600"/>
            <a:ext cx="237240" cy="237240"/>
          </a:xfrm>
          <a:prstGeom prst="rect">
            <a:avLst/>
          </a:prstGeom>
          <a:ln>
            <a:noFill/>
          </a:ln>
        </p:spPr>
      </p:pic>
      <p:sp>
        <p:nvSpPr>
          <p:cNvPr id="232" name="CustomShape 55"/>
          <p:cNvSpPr/>
          <p:nvPr/>
        </p:nvSpPr>
        <p:spPr>
          <a:xfrm>
            <a:off x="5504760" y="1856160"/>
            <a:ext cx="325476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Prompt Fundamentals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3" name="CustomShape 56"/>
          <p:cNvSpPr/>
          <p:nvPr/>
        </p:nvSpPr>
        <p:spPr>
          <a:xfrm>
            <a:off x="5504760" y="2075760"/>
            <a:ext cx="32547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bb5c8"/>
                </a:solidFill>
                <a:latin typeface="Calibri"/>
                <a:ea typeface="Calibri"/>
              </a:rPr>
              <a:t>System vs user roles, instruction clarity, formatting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4" name="CustomShape 57"/>
          <p:cNvSpPr/>
          <p:nvPr/>
        </p:nvSpPr>
        <p:spPr>
          <a:xfrm>
            <a:off x="4791600" y="2468880"/>
            <a:ext cx="4023000" cy="6397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CustomShape 58"/>
          <p:cNvSpPr/>
          <p:nvPr/>
        </p:nvSpPr>
        <p:spPr>
          <a:xfrm>
            <a:off x="4809600" y="2587680"/>
            <a:ext cx="310680" cy="31068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CustomShape 59"/>
          <p:cNvSpPr/>
          <p:nvPr/>
        </p:nvSpPr>
        <p:spPr>
          <a:xfrm>
            <a:off x="4809600" y="2587680"/>
            <a:ext cx="31068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37" name="Image 3" descr="preencoded.png"/>
          <p:cNvPicPr/>
          <p:nvPr/>
        </p:nvPicPr>
        <p:blipFill>
          <a:blip r:embed="rId4"/>
          <a:stretch/>
        </p:blipFill>
        <p:spPr>
          <a:xfrm>
            <a:off x="5193720" y="2615040"/>
            <a:ext cx="237240" cy="237240"/>
          </a:xfrm>
          <a:prstGeom prst="rect">
            <a:avLst/>
          </a:prstGeom>
          <a:ln>
            <a:noFill/>
          </a:ln>
        </p:spPr>
      </p:pic>
      <p:sp>
        <p:nvSpPr>
          <p:cNvPr id="238" name="CustomShape 60"/>
          <p:cNvSpPr/>
          <p:nvPr/>
        </p:nvSpPr>
        <p:spPr>
          <a:xfrm>
            <a:off x="5504760" y="2532960"/>
            <a:ext cx="325476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Conversation Memory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9" name="CustomShape 61"/>
          <p:cNvSpPr/>
          <p:nvPr/>
        </p:nvSpPr>
        <p:spPr>
          <a:xfrm>
            <a:off x="5504760" y="2752200"/>
            <a:ext cx="32547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bb5c8"/>
                </a:solidFill>
                <a:latin typeface="Calibri"/>
                <a:ea typeface="Calibri"/>
              </a:rPr>
              <a:t>Passing message history = context continuity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0" name="CustomShape 62"/>
          <p:cNvSpPr/>
          <p:nvPr/>
        </p:nvSpPr>
        <p:spPr>
          <a:xfrm>
            <a:off x="4791600" y="3145680"/>
            <a:ext cx="4023000" cy="6397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CustomShape 63"/>
          <p:cNvSpPr/>
          <p:nvPr/>
        </p:nvSpPr>
        <p:spPr>
          <a:xfrm>
            <a:off x="4809600" y="3264480"/>
            <a:ext cx="310680" cy="31068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CustomShape 64"/>
          <p:cNvSpPr/>
          <p:nvPr/>
        </p:nvSpPr>
        <p:spPr>
          <a:xfrm>
            <a:off x="4809600" y="3264480"/>
            <a:ext cx="31068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4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43" name="Image 4" descr="preencoded.png"/>
          <p:cNvPicPr/>
          <p:nvPr/>
        </p:nvPicPr>
        <p:blipFill>
          <a:blip r:embed="rId5"/>
          <a:stretch/>
        </p:blipFill>
        <p:spPr>
          <a:xfrm>
            <a:off x="5193720" y="3291840"/>
            <a:ext cx="237240" cy="237240"/>
          </a:xfrm>
          <a:prstGeom prst="rect">
            <a:avLst/>
          </a:prstGeom>
          <a:ln>
            <a:noFill/>
          </a:ln>
        </p:spPr>
      </p:pic>
      <p:sp>
        <p:nvSpPr>
          <p:cNvPr id="244" name="CustomShape 65"/>
          <p:cNvSpPr/>
          <p:nvPr/>
        </p:nvSpPr>
        <p:spPr>
          <a:xfrm>
            <a:off x="5504760" y="3209400"/>
            <a:ext cx="325476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Context Window Limitations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5" name="CustomShape 66"/>
          <p:cNvSpPr/>
          <p:nvPr/>
        </p:nvSpPr>
        <p:spPr>
          <a:xfrm>
            <a:off x="5504760" y="3429000"/>
            <a:ext cx="32547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bb5c8"/>
                </a:solidFill>
                <a:latin typeface="Calibri"/>
                <a:ea typeface="Calibri"/>
              </a:rPr>
              <a:t>Token budget planning → cost &amp; performance impact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6" name="CustomShape 67"/>
          <p:cNvSpPr/>
          <p:nvPr/>
        </p:nvSpPr>
        <p:spPr>
          <a:xfrm>
            <a:off x="4791600" y="3822120"/>
            <a:ext cx="4023000" cy="6397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CustomShape 68"/>
          <p:cNvSpPr/>
          <p:nvPr/>
        </p:nvSpPr>
        <p:spPr>
          <a:xfrm>
            <a:off x="4809600" y="3940920"/>
            <a:ext cx="310680" cy="31068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CustomShape 69"/>
          <p:cNvSpPr/>
          <p:nvPr/>
        </p:nvSpPr>
        <p:spPr>
          <a:xfrm>
            <a:off x="4809600" y="3940920"/>
            <a:ext cx="310680" cy="310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5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249" name="Image 5" descr="preencoded.png"/>
          <p:cNvPicPr/>
          <p:nvPr/>
        </p:nvPicPr>
        <p:blipFill>
          <a:blip r:embed="rId6"/>
          <a:stretch/>
        </p:blipFill>
        <p:spPr>
          <a:xfrm>
            <a:off x="5193720" y="3968640"/>
            <a:ext cx="237240" cy="237240"/>
          </a:xfrm>
          <a:prstGeom prst="rect">
            <a:avLst/>
          </a:prstGeom>
          <a:ln>
            <a:noFill/>
          </a:ln>
        </p:spPr>
      </p:pic>
      <p:sp>
        <p:nvSpPr>
          <p:cNvPr id="250" name="CustomShape 70"/>
          <p:cNvSpPr/>
          <p:nvPr/>
        </p:nvSpPr>
        <p:spPr>
          <a:xfrm>
            <a:off x="5504760" y="3886200"/>
            <a:ext cx="325476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Enterprise AI Architecture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1" name="CustomShape 71"/>
          <p:cNvSpPr/>
          <p:nvPr/>
        </p:nvSpPr>
        <p:spPr>
          <a:xfrm>
            <a:off x="5504760" y="4105800"/>
            <a:ext cx="325476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bb5c8"/>
                </a:solidFill>
                <a:latin typeface="Calibri"/>
                <a:ea typeface="Calibri"/>
              </a:rPr>
              <a:t>Separation of concerns: app / API / model layers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52" name="CustomShape 72"/>
          <p:cNvSpPr/>
          <p:nvPr/>
        </p:nvSpPr>
        <p:spPr>
          <a:xfrm>
            <a:off x="4791600" y="4224600"/>
            <a:ext cx="4023000" cy="639720"/>
          </a:xfrm>
          <a:prstGeom prst="rect">
            <a:avLst/>
          </a:prstGeom>
          <a:solidFill>
            <a:srgbClr val="007f85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CustomShape 73"/>
          <p:cNvSpPr/>
          <p:nvPr/>
        </p:nvSpPr>
        <p:spPr>
          <a:xfrm>
            <a:off x="4791600" y="4224600"/>
            <a:ext cx="4023000" cy="639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4a727"/>
                </a:solidFill>
                <a:latin typeface="Trebuchet MS"/>
                <a:ea typeface="Trebuchet MS"/>
              </a:rPr>
              <a:t>NEXT →  </a:t>
            </a: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Day 2: LLM APIs &amp; Prompt Engineering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4" name="CustomShape 74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1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Trebuchet MS"/>
                <a:ea typeface="Trebuchet MS"/>
              </a:rPr>
              <a:t>DAY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APIs &amp; Prompt Engineering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259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1" name="CustomShape 7"/>
          <p:cNvSpPr/>
          <p:nvPr/>
        </p:nvSpPr>
        <p:spPr>
          <a:xfrm>
            <a:off x="164520" y="749880"/>
            <a:ext cx="525744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CustomShape 8"/>
          <p:cNvSpPr/>
          <p:nvPr/>
        </p:nvSpPr>
        <p:spPr>
          <a:xfrm>
            <a:off x="164520" y="749880"/>
            <a:ext cx="63720" cy="795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63" name="Image 0" descr="preencoded.png"/>
          <p:cNvPicPr/>
          <p:nvPr/>
        </p:nvPicPr>
        <p:blipFill>
          <a:blip r:embed="rId1"/>
          <a:stretch/>
        </p:blipFill>
        <p:spPr>
          <a:xfrm>
            <a:off x="301680" y="93276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264" name="CustomShape 9"/>
          <p:cNvSpPr/>
          <p:nvPr/>
        </p:nvSpPr>
        <p:spPr>
          <a:xfrm>
            <a:off x="713160" y="813960"/>
            <a:ext cx="26971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API Foundations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5" name="CustomShape 10"/>
          <p:cNvSpPr/>
          <p:nvPr/>
        </p:nvSpPr>
        <p:spPr>
          <a:xfrm>
            <a:off x="713160" y="1051560"/>
            <a:ext cx="278856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API Lifecycle · Request/Response Architecture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Chat Models vs Completion Models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66" name="CustomShape 11"/>
          <p:cNvSpPr/>
          <p:nvPr/>
        </p:nvSpPr>
        <p:spPr>
          <a:xfrm>
            <a:off x="3538800" y="978480"/>
            <a:ext cx="178272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CustomShape 12"/>
          <p:cNvSpPr/>
          <p:nvPr/>
        </p:nvSpPr>
        <p:spPr>
          <a:xfrm>
            <a:off x="3538800" y="978480"/>
            <a:ext cx="178272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Core of every LLM integration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268" name="CustomShape 13"/>
          <p:cNvSpPr/>
          <p:nvPr/>
        </p:nvSpPr>
        <p:spPr>
          <a:xfrm>
            <a:off x="164520" y="1581840"/>
            <a:ext cx="525744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CustomShape 14"/>
          <p:cNvSpPr/>
          <p:nvPr/>
        </p:nvSpPr>
        <p:spPr>
          <a:xfrm>
            <a:off x="164520" y="1581840"/>
            <a:ext cx="63720" cy="795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0" name="Image 1" descr="preencoded.png"/>
          <p:cNvPicPr/>
          <p:nvPr/>
        </p:nvPicPr>
        <p:blipFill>
          <a:blip r:embed="rId2"/>
          <a:stretch/>
        </p:blipFill>
        <p:spPr>
          <a:xfrm>
            <a:off x="301680" y="176472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271" name="CustomShape 15"/>
          <p:cNvSpPr/>
          <p:nvPr/>
        </p:nvSpPr>
        <p:spPr>
          <a:xfrm>
            <a:off x="713160" y="1645920"/>
            <a:ext cx="26971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Prompting Fundamentals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2" name="CustomShape 16"/>
          <p:cNvSpPr/>
          <p:nvPr/>
        </p:nvSpPr>
        <p:spPr>
          <a:xfrm>
            <a:off x="713160" y="1883520"/>
            <a:ext cx="278856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System · User · Assistant roles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Persona Prompting · Structured Prompting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73" name="CustomShape 17"/>
          <p:cNvSpPr/>
          <p:nvPr/>
        </p:nvSpPr>
        <p:spPr>
          <a:xfrm>
            <a:off x="3538800" y="1810440"/>
            <a:ext cx="178272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18"/>
          <p:cNvSpPr/>
          <p:nvPr/>
        </p:nvSpPr>
        <p:spPr>
          <a:xfrm>
            <a:off x="3538800" y="1810440"/>
            <a:ext cx="178272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Controls model behaviour &amp; output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275" name="CustomShape 19"/>
          <p:cNvSpPr/>
          <p:nvPr/>
        </p:nvSpPr>
        <p:spPr>
          <a:xfrm>
            <a:off x="164520" y="2414160"/>
            <a:ext cx="525744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CustomShape 20"/>
          <p:cNvSpPr/>
          <p:nvPr/>
        </p:nvSpPr>
        <p:spPr>
          <a:xfrm>
            <a:off x="164520" y="2414160"/>
            <a:ext cx="63720" cy="795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77" name="Image 2" descr="preencoded.png"/>
          <p:cNvPicPr/>
          <p:nvPr/>
        </p:nvPicPr>
        <p:blipFill>
          <a:blip r:embed="rId3"/>
          <a:stretch/>
        </p:blipFill>
        <p:spPr>
          <a:xfrm>
            <a:off x="301680" y="259704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278" name="CustomShape 21"/>
          <p:cNvSpPr/>
          <p:nvPr/>
        </p:nvSpPr>
        <p:spPr>
          <a:xfrm>
            <a:off x="713160" y="2477880"/>
            <a:ext cx="26971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Response Engineering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CustomShape 22"/>
          <p:cNvSpPr/>
          <p:nvPr/>
        </p:nvSpPr>
        <p:spPr>
          <a:xfrm>
            <a:off x="713160" y="2715840"/>
            <a:ext cx="278856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Structured Outputs · JSON Mode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Streaming Responses for real-time UX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80" name="CustomShape 23"/>
          <p:cNvSpPr/>
          <p:nvPr/>
        </p:nvSpPr>
        <p:spPr>
          <a:xfrm>
            <a:off x="3538800" y="2642760"/>
            <a:ext cx="178272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ustomShape 24"/>
          <p:cNvSpPr/>
          <p:nvPr/>
        </p:nvSpPr>
        <p:spPr>
          <a:xfrm>
            <a:off x="3538800" y="2642760"/>
            <a:ext cx="178272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Enterprise data extraction &amp; pipelines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282" name="CustomShape 25"/>
          <p:cNvSpPr/>
          <p:nvPr/>
        </p:nvSpPr>
        <p:spPr>
          <a:xfrm>
            <a:off x="164520" y="3246120"/>
            <a:ext cx="525744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CustomShape 26"/>
          <p:cNvSpPr/>
          <p:nvPr/>
        </p:nvSpPr>
        <p:spPr>
          <a:xfrm>
            <a:off x="164520" y="3246120"/>
            <a:ext cx="63720" cy="79524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84" name="Image 3" descr="preencoded.png"/>
          <p:cNvPicPr/>
          <p:nvPr/>
        </p:nvPicPr>
        <p:blipFill>
          <a:blip r:embed="rId4"/>
          <a:stretch/>
        </p:blipFill>
        <p:spPr>
          <a:xfrm>
            <a:off x="301680" y="342900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285" name="CustomShape 27"/>
          <p:cNvSpPr/>
          <p:nvPr/>
        </p:nvSpPr>
        <p:spPr>
          <a:xfrm>
            <a:off x="713160" y="3310200"/>
            <a:ext cx="26971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4a727"/>
                </a:solidFill>
                <a:latin typeface="Trebuchet MS"/>
                <a:ea typeface="Trebuchet MS"/>
              </a:rPr>
              <a:t>Advanced Prompt Engineering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6" name="CustomShape 28"/>
          <p:cNvSpPr/>
          <p:nvPr/>
        </p:nvSpPr>
        <p:spPr>
          <a:xfrm>
            <a:off x="713160" y="3547800"/>
            <a:ext cx="278856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Zero-Shot · Few-Shot · Chain-of-Thought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ReAct Prompting for agentic reasoning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87" name="CustomShape 29"/>
          <p:cNvSpPr/>
          <p:nvPr/>
        </p:nvSpPr>
        <p:spPr>
          <a:xfrm>
            <a:off x="3538800" y="3474720"/>
            <a:ext cx="178272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CustomShape 30"/>
          <p:cNvSpPr/>
          <p:nvPr/>
        </p:nvSpPr>
        <p:spPr>
          <a:xfrm>
            <a:off x="3538800" y="3474720"/>
            <a:ext cx="178272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Accuracy, reasoning &amp; complex tasks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289" name="CustomShape 31"/>
          <p:cNvSpPr/>
          <p:nvPr/>
        </p:nvSpPr>
        <p:spPr>
          <a:xfrm>
            <a:off x="164520" y="4078080"/>
            <a:ext cx="5257440" cy="795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CustomShape 32"/>
          <p:cNvSpPr/>
          <p:nvPr/>
        </p:nvSpPr>
        <p:spPr>
          <a:xfrm>
            <a:off x="164520" y="4078080"/>
            <a:ext cx="63720" cy="79524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291" name="Image 4" descr="preencoded.png"/>
          <p:cNvPicPr/>
          <p:nvPr/>
        </p:nvPicPr>
        <p:blipFill>
          <a:blip r:embed="rId5"/>
          <a:stretch/>
        </p:blipFill>
        <p:spPr>
          <a:xfrm>
            <a:off x="301680" y="426096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292" name="CustomShape 33"/>
          <p:cNvSpPr/>
          <p:nvPr/>
        </p:nvSpPr>
        <p:spPr>
          <a:xfrm>
            <a:off x="713160" y="4142160"/>
            <a:ext cx="26971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a78bfa"/>
                </a:solidFill>
                <a:latin typeface="Trebuchet MS"/>
                <a:ea typeface="Trebuchet MS"/>
              </a:rPr>
              <a:t>AI Safety &amp; Reliability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3" name="CustomShape 34"/>
          <p:cNvSpPr/>
          <p:nvPr/>
        </p:nvSpPr>
        <p:spPr>
          <a:xfrm>
            <a:off x="713160" y="4380120"/>
            <a:ext cx="278856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Guardrails · Prompt Injection defence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Secure Prompt Design patterns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94" name="CustomShape 35"/>
          <p:cNvSpPr/>
          <p:nvPr/>
        </p:nvSpPr>
        <p:spPr>
          <a:xfrm>
            <a:off x="3538800" y="4306680"/>
            <a:ext cx="178272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CustomShape 36"/>
          <p:cNvSpPr/>
          <p:nvPr/>
        </p:nvSpPr>
        <p:spPr>
          <a:xfrm>
            <a:off x="3538800" y="4306680"/>
            <a:ext cx="178272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Production readiness &amp; compliance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296" name="CustomShape 37"/>
          <p:cNvSpPr/>
          <p:nvPr/>
        </p:nvSpPr>
        <p:spPr>
          <a:xfrm>
            <a:off x="5596200" y="749880"/>
            <a:ext cx="3382920" cy="43156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CustomShape 38"/>
          <p:cNvSpPr/>
          <p:nvPr/>
        </p:nvSpPr>
        <p:spPr>
          <a:xfrm>
            <a:off x="5596200" y="804600"/>
            <a:ext cx="338292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48" strike="noStrike">
                <a:solidFill>
                  <a:srgbClr val="00c2cb"/>
                </a:solidFill>
                <a:latin typeface="Trebuchet MS"/>
                <a:ea typeface="Trebuchet MS"/>
              </a:rPr>
              <a:t>LLM API REQUEST FLOW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98" name="CustomShape 39"/>
          <p:cNvSpPr/>
          <p:nvPr/>
        </p:nvSpPr>
        <p:spPr>
          <a:xfrm>
            <a:off x="5943600" y="1134000"/>
            <a:ext cx="26881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9" name="CustomShape 40"/>
          <p:cNvSpPr/>
          <p:nvPr/>
        </p:nvSpPr>
        <p:spPr>
          <a:xfrm>
            <a:off x="5943600" y="1280160"/>
            <a:ext cx="164160" cy="16416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CustomShape 41"/>
          <p:cNvSpPr/>
          <p:nvPr/>
        </p:nvSpPr>
        <p:spPr>
          <a:xfrm>
            <a:off x="6181200" y="1179720"/>
            <a:ext cx="2431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User Input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01" name="CustomShape 42"/>
          <p:cNvSpPr/>
          <p:nvPr/>
        </p:nvSpPr>
        <p:spPr>
          <a:xfrm>
            <a:off x="6181200" y="1380600"/>
            <a:ext cx="243180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Text / Query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02" name="CustomShape 43"/>
          <p:cNvSpPr/>
          <p:nvPr/>
        </p:nvSpPr>
        <p:spPr>
          <a:xfrm>
            <a:off x="7260480" y="1591200"/>
            <a:ext cx="54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CustomShape 44"/>
          <p:cNvSpPr/>
          <p:nvPr/>
        </p:nvSpPr>
        <p:spPr>
          <a:xfrm>
            <a:off x="5943600" y="1737360"/>
            <a:ext cx="26881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4" name="CustomShape 45"/>
          <p:cNvSpPr/>
          <p:nvPr/>
        </p:nvSpPr>
        <p:spPr>
          <a:xfrm>
            <a:off x="5943600" y="188352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CustomShape 46"/>
          <p:cNvSpPr/>
          <p:nvPr/>
        </p:nvSpPr>
        <p:spPr>
          <a:xfrm>
            <a:off x="6181200" y="1783080"/>
            <a:ext cx="2431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System Prompt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06" name="CustomShape 47"/>
          <p:cNvSpPr/>
          <p:nvPr/>
        </p:nvSpPr>
        <p:spPr>
          <a:xfrm>
            <a:off x="6181200" y="1984320"/>
            <a:ext cx="243180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Role · Context · Rules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07" name="CustomShape 48"/>
          <p:cNvSpPr/>
          <p:nvPr/>
        </p:nvSpPr>
        <p:spPr>
          <a:xfrm>
            <a:off x="7260480" y="2194560"/>
            <a:ext cx="54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CustomShape 49"/>
          <p:cNvSpPr/>
          <p:nvPr/>
        </p:nvSpPr>
        <p:spPr>
          <a:xfrm>
            <a:off x="5943600" y="2340720"/>
            <a:ext cx="26881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CustomShape 50"/>
          <p:cNvSpPr/>
          <p:nvPr/>
        </p:nvSpPr>
        <p:spPr>
          <a:xfrm>
            <a:off x="5943600" y="2487240"/>
            <a:ext cx="164160" cy="16416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CustomShape 51"/>
          <p:cNvSpPr/>
          <p:nvPr/>
        </p:nvSpPr>
        <p:spPr>
          <a:xfrm>
            <a:off x="6181200" y="2386440"/>
            <a:ext cx="2431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API Request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11" name="CustomShape 52"/>
          <p:cNvSpPr/>
          <p:nvPr/>
        </p:nvSpPr>
        <p:spPr>
          <a:xfrm>
            <a:off x="6181200" y="2587680"/>
            <a:ext cx="243180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model · temp · tokens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12" name="CustomShape 53"/>
          <p:cNvSpPr/>
          <p:nvPr/>
        </p:nvSpPr>
        <p:spPr>
          <a:xfrm>
            <a:off x="7260480" y="2797920"/>
            <a:ext cx="54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CustomShape 54"/>
          <p:cNvSpPr/>
          <p:nvPr/>
        </p:nvSpPr>
        <p:spPr>
          <a:xfrm>
            <a:off x="5943600" y="2944440"/>
            <a:ext cx="26881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4" name="CustomShape 55"/>
          <p:cNvSpPr/>
          <p:nvPr/>
        </p:nvSpPr>
        <p:spPr>
          <a:xfrm>
            <a:off x="5943600" y="309060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CustomShape 56"/>
          <p:cNvSpPr/>
          <p:nvPr/>
        </p:nvSpPr>
        <p:spPr>
          <a:xfrm>
            <a:off x="6181200" y="2990160"/>
            <a:ext cx="2431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Processing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16" name="CustomShape 57"/>
          <p:cNvSpPr/>
          <p:nvPr/>
        </p:nvSpPr>
        <p:spPr>
          <a:xfrm>
            <a:off x="6181200" y="3191400"/>
            <a:ext cx="243180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Tokenise → Attention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17" name="CustomShape 58"/>
          <p:cNvSpPr/>
          <p:nvPr/>
        </p:nvSpPr>
        <p:spPr>
          <a:xfrm>
            <a:off x="7260480" y="3401640"/>
            <a:ext cx="54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CustomShape 59"/>
          <p:cNvSpPr/>
          <p:nvPr/>
        </p:nvSpPr>
        <p:spPr>
          <a:xfrm>
            <a:off x="5943600" y="3547800"/>
            <a:ext cx="26881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CustomShape 60"/>
          <p:cNvSpPr/>
          <p:nvPr/>
        </p:nvSpPr>
        <p:spPr>
          <a:xfrm>
            <a:off x="5943600" y="3694320"/>
            <a:ext cx="164160" cy="16416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CustomShape 61"/>
          <p:cNvSpPr/>
          <p:nvPr/>
        </p:nvSpPr>
        <p:spPr>
          <a:xfrm>
            <a:off x="6181200" y="3593520"/>
            <a:ext cx="2431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Structured Output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21" name="CustomShape 62"/>
          <p:cNvSpPr/>
          <p:nvPr/>
        </p:nvSpPr>
        <p:spPr>
          <a:xfrm>
            <a:off x="6181200" y="3794760"/>
            <a:ext cx="243180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JSON · Text · Stream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22" name="CustomShape 63"/>
          <p:cNvSpPr/>
          <p:nvPr/>
        </p:nvSpPr>
        <p:spPr>
          <a:xfrm>
            <a:off x="7260480" y="4005000"/>
            <a:ext cx="54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CustomShape 64"/>
          <p:cNvSpPr/>
          <p:nvPr/>
        </p:nvSpPr>
        <p:spPr>
          <a:xfrm>
            <a:off x="5943600" y="4151520"/>
            <a:ext cx="2688120" cy="456840"/>
          </a:xfrm>
          <a:prstGeom prst="rect">
            <a:avLst/>
          </a:prstGeom>
          <a:solidFill>
            <a:srgbClr val="1c3354"/>
          </a:solidFill>
          <a:ln w="19080">
            <a:solidFill>
              <a:srgbClr val="5ba6d6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4" name="CustomShape 65"/>
          <p:cNvSpPr/>
          <p:nvPr/>
        </p:nvSpPr>
        <p:spPr>
          <a:xfrm>
            <a:off x="5943600" y="4297680"/>
            <a:ext cx="164160" cy="164160"/>
          </a:xfrm>
          <a:prstGeom prst="ellipse">
            <a:avLst/>
          </a:prstGeom>
          <a:solidFill>
            <a:srgbClr val="5ba6d6"/>
          </a:solidFill>
          <a:ln w="12600">
            <a:solidFill>
              <a:srgbClr val="5ba6d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CustomShape 66"/>
          <p:cNvSpPr/>
          <p:nvPr/>
        </p:nvSpPr>
        <p:spPr>
          <a:xfrm>
            <a:off x="6181200" y="4197240"/>
            <a:ext cx="2431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Application Logic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26" name="CustomShape 67"/>
          <p:cNvSpPr/>
          <p:nvPr/>
        </p:nvSpPr>
        <p:spPr>
          <a:xfrm>
            <a:off x="6181200" y="4398120"/>
            <a:ext cx="243180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Parse · Validate · Use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27" name="CustomShape 68"/>
          <p:cNvSpPr/>
          <p:nvPr/>
        </p:nvSpPr>
        <p:spPr>
          <a:xfrm>
            <a:off x="5797440" y="4663440"/>
            <a:ext cx="2962440" cy="2556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CustomShape 69"/>
          <p:cNvSpPr/>
          <p:nvPr/>
        </p:nvSpPr>
        <p:spPr>
          <a:xfrm>
            <a:off x="5797440" y="4663440"/>
            <a:ext cx="29624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Trebuchet MS"/>
                <a:ea typeface="Trebuchet MS"/>
              </a:rPr>
              <a:t>Zero-Shot  ·  Few-Shot  ·  CoT  ·  ReAct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29" name="CustomShape 70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2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3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Practical Labs &amp; Hands-On Learning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334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36" name="CustomShape 7"/>
          <p:cNvSpPr/>
          <p:nvPr/>
        </p:nvSpPr>
        <p:spPr>
          <a:xfrm>
            <a:off x="164520" y="749880"/>
            <a:ext cx="4278960" cy="20296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CustomShape 8"/>
          <p:cNvSpPr/>
          <p:nvPr/>
        </p:nvSpPr>
        <p:spPr>
          <a:xfrm>
            <a:off x="164520" y="74988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CustomShape 9"/>
          <p:cNvSpPr/>
          <p:nvPr/>
        </p:nvSpPr>
        <p:spPr>
          <a:xfrm>
            <a:off x="164520" y="749880"/>
            <a:ext cx="548280" cy="25560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CustomShape 10"/>
          <p:cNvSpPr/>
          <p:nvPr/>
        </p:nvSpPr>
        <p:spPr>
          <a:xfrm>
            <a:off x="164520" y="749880"/>
            <a:ext cx="54828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1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40" name="CustomShape 11"/>
          <p:cNvSpPr/>
          <p:nvPr/>
        </p:nvSpPr>
        <p:spPr>
          <a:xfrm>
            <a:off x="768240" y="749880"/>
            <a:ext cx="363888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Prompt Playground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341" name="Image 0" descr="preencoded.png"/>
          <p:cNvPicPr/>
          <p:nvPr/>
        </p:nvPicPr>
        <p:blipFill>
          <a:blip r:embed="rId1"/>
          <a:stretch/>
        </p:blipFill>
        <p:spPr>
          <a:xfrm>
            <a:off x="311040" y="115200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342" name="CustomShape 12"/>
          <p:cNvSpPr/>
          <p:nvPr/>
        </p:nvSpPr>
        <p:spPr>
          <a:xfrm>
            <a:off x="694800" y="1069920"/>
            <a:ext cx="3638880" cy="685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00c2cb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Experiment with prompt strategies &amp; quality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00c2cb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Zero-Shot, Persona, Structured &amp; CoT prompts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Prompt phrasing = output quality determinant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43" name="CustomShape 13"/>
          <p:cNvSpPr/>
          <p:nvPr/>
        </p:nvSpPr>
        <p:spPr>
          <a:xfrm>
            <a:off x="311040" y="1883520"/>
            <a:ext cx="86832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CustomShape 14"/>
          <p:cNvSpPr/>
          <p:nvPr/>
        </p:nvSpPr>
        <p:spPr>
          <a:xfrm>
            <a:off x="311040" y="1883520"/>
            <a:ext cx="868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c2cb"/>
                </a:solidFill>
                <a:latin typeface="Trebuchet MS"/>
                <a:ea typeface="Trebuchet MS"/>
              </a:rPr>
              <a:t>Zero-Shot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45" name="CustomShape 15"/>
          <p:cNvSpPr/>
          <p:nvPr/>
        </p:nvSpPr>
        <p:spPr>
          <a:xfrm>
            <a:off x="1271160" y="1883520"/>
            <a:ext cx="86832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CustomShape 16"/>
          <p:cNvSpPr/>
          <p:nvPr/>
        </p:nvSpPr>
        <p:spPr>
          <a:xfrm>
            <a:off x="1271160" y="1883520"/>
            <a:ext cx="868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4a727"/>
                </a:solidFill>
                <a:latin typeface="Trebuchet MS"/>
                <a:ea typeface="Trebuchet MS"/>
              </a:rPr>
              <a:t>Persona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47" name="CustomShape 17"/>
          <p:cNvSpPr/>
          <p:nvPr/>
        </p:nvSpPr>
        <p:spPr>
          <a:xfrm>
            <a:off x="2231280" y="1883520"/>
            <a:ext cx="86832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CustomShape 18"/>
          <p:cNvSpPr/>
          <p:nvPr/>
        </p:nvSpPr>
        <p:spPr>
          <a:xfrm>
            <a:off x="2231280" y="1883520"/>
            <a:ext cx="868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c2cb"/>
                </a:solidFill>
                <a:latin typeface="Trebuchet MS"/>
                <a:ea typeface="Trebuchet MS"/>
              </a:rPr>
              <a:t>Structured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49" name="CustomShape 19"/>
          <p:cNvSpPr/>
          <p:nvPr/>
        </p:nvSpPr>
        <p:spPr>
          <a:xfrm>
            <a:off x="3191400" y="1883520"/>
            <a:ext cx="86832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CustomShape 20"/>
          <p:cNvSpPr/>
          <p:nvPr/>
        </p:nvSpPr>
        <p:spPr>
          <a:xfrm>
            <a:off x="3191400" y="1883520"/>
            <a:ext cx="86832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4a727"/>
                </a:solidFill>
                <a:latin typeface="Trebuchet MS"/>
                <a:ea typeface="Trebuchet MS"/>
              </a:rPr>
              <a:t>Chain-of-Thought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51" name="CustomShape 21"/>
          <p:cNvSpPr/>
          <p:nvPr/>
        </p:nvSpPr>
        <p:spPr>
          <a:xfrm>
            <a:off x="274320" y="2267640"/>
            <a:ext cx="4059720" cy="2008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CustomShape 22"/>
          <p:cNvSpPr/>
          <p:nvPr/>
        </p:nvSpPr>
        <p:spPr>
          <a:xfrm>
            <a:off x="311040" y="2267640"/>
            <a:ext cx="39862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c2cb"/>
                </a:solidFill>
                <a:latin typeface="Calibri"/>
                <a:ea typeface="Calibri"/>
              </a:rPr>
              <a:t>✦ </a:t>
            </a: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Prompt Design Impact  </a:t>
            </a:r>
            <a:r>
              <a:rPr b="0" lang="en-US" sz="800" spc="-1" strike="noStrike">
                <a:solidFill>
                  <a:srgbClr val="9bb5c8"/>
                </a:solidFill>
                <a:latin typeface="Calibri"/>
                <a:ea typeface="Calibri"/>
              </a:rPr>
              <a:t>Word choice changes output quality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53" name="CustomShape 23"/>
          <p:cNvSpPr/>
          <p:nvPr/>
        </p:nvSpPr>
        <p:spPr>
          <a:xfrm>
            <a:off x="274320" y="2505600"/>
            <a:ext cx="4059720" cy="2008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4" name="CustomShape 24"/>
          <p:cNvSpPr/>
          <p:nvPr/>
        </p:nvSpPr>
        <p:spPr>
          <a:xfrm>
            <a:off x="311040" y="2505600"/>
            <a:ext cx="39862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00c2cb"/>
                </a:solidFill>
                <a:latin typeface="Calibri"/>
                <a:ea typeface="Calibri"/>
              </a:rPr>
              <a:t>✦ </a:t>
            </a: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Output Consistency  </a:t>
            </a:r>
            <a:r>
              <a:rPr b="0" lang="en-US" sz="800" spc="-1" strike="noStrike">
                <a:solidFill>
                  <a:srgbClr val="9bb5c8"/>
                </a:solidFill>
                <a:latin typeface="Calibri"/>
                <a:ea typeface="Calibri"/>
              </a:rPr>
              <a:t>Temperature &amp; structure matter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55" name="CustomShape 25"/>
          <p:cNvSpPr/>
          <p:nvPr/>
        </p:nvSpPr>
        <p:spPr>
          <a:xfrm>
            <a:off x="164520" y="2853000"/>
            <a:ext cx="4278960" cy="212112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CustomShape 26"/>
          <p:cNvSpPr/>
          <p:nvPr/>
        </p:nvSpPr>
        <p:spPr>
          <a:xfrm>
            <a:off x="164520" y="285300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CustomShape 27"/>
          <p:cNvSpPr/>
          <p:nvPr/>
        </p:nvSpPr>
        <p:spPr>
          <a:xfrm>
            <a:off x="164520" y="2853000"/>
            <a:ext cx="548280" cy="25560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CustomShape 28"/>
          <p:cNvSpPr/>
          <p:nvPr/>
        </p:nvSpPr>
        <p:spPr>
          <a:xfrm>
            <a:off x="164520" y="2853000"/>
            <a:ext cx="54828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2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359" name="CustomShape 29"/>
          <p:cNvSpPr/>
          <p:nvPr/>
        </p:nvSpPr>
        <p:spPr>
          <a:xfrm>
            <a:off x="768240" y="2853000"/>
            <a:ext cx="363888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Prompt Comparison Application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360" name="Image 1" descr="preencoded.png"/>
          <p:cNvPicPr/>
          <p:nvPr/>
        </p:nvPicPr>
        <p:blipFill>
          <a:blip r:embed="rId2"/>
          <a:stretch/>
        </p:blipFill>
        <p:spPr>
          <a:xfrm>
            <a:off x="311040" y="323712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361" name="CustomShape 30"/>
          <p:cNvSpPr/>
          <p:nvPr/>
        </p:nvSpPr>
        <p:spPr>
          <a:xfrm>
            <a:off x="694800" y="3154680"/>
            <a:ext cx="3638880" cy="69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00c2cb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Evaluate prompt strategies side-by-side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00c2cb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Zero-Shot vs Few-Shot · Persona · Structured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Few-Shot &amp; Structured prompts = higher precision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362" name="CustomShape 31"/>
          <p:cNvSpPr/>
          <p:nvPr/>
        </p:nvSpPr>
        <p:spPr>
          <a:xfrm>
            <a:off x="274320" y="3913560"/>
            <a:ext cx="4059720" cy="2008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CustomShape 32"/>
          <p:cNvSpPr/>
          <p:nvPr/>
        </p:nvSpPr>
        <p:spPr>
          <a:xfrm>
            <a:off x="311040" y="3913560"/>
            <a:ext cx="400464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c2cb"/>
                </a:solidFill>
                <a:latin typeface="Trebuchet MS"/>
                <a:ea typeface="Trebuchet MS"/>
              </a:rPr>
              <a:t>Strategy</a:t>
            </a:r>
            <a:r>
              <a:rPr b="0" lang="en-US" sz="750" spc="-1" strike="noStrike">
                <a:solidFill>
                  <a:srgbClr val="9bb5c8"/>
                </a:solidFill>
                <a:latin typeface="Trebuchet MS"/>
                <a:ea typeface="Trebuchet MS"/>
              </a:rPr>
              <a:t>            Strength               Trade-off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364" name="CustomShape 33"/>
          <p:cNvSpPr/>
          <p:nvPr/>
        </p:nvSpPr>
        <p:spPr>
          <a:xfrm>
            <a:off x="274320" y="4133160"/>
            <a:ext cx="4059720" cy="200880"/>
          </a:xfrm>
          <a:prstGeom prst="rect">
            <a:avLst/>
          </a:prstGeom>
          <a:solidFill>
            <a:srgbClr val="0d1b2a"/>
          </a:solidFill>
          <a:ln w="126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CustomShape 34"/>
          <p:cNvSpPr/>
          <p:nvPr/>
        </p:nvSpPr>
        <p:spPr>
          <a:xfrm>
            <a:off x="311040" y="4133160"/>
            <a:ext cx="9597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4a727"/>
                </a:solidFill>
                <a:latin typeface="Calibri"/>
                <a:ea typeface="Calibri"/>
              </a:rPr>
              <a:t>Zero-Shot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66" name="CustomShape 35"/>
          <p:cNvSpPr/>
          <p:nvPr/>
        </p:nvSpPr>
        <p:spPr>
          <a:xfrm>
            <a:off x="1316880" y="4133160"/>
            <a:ext cx="137124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e8f4f8"/>
                </a:solidFill>
                <a:latin typeface="Calibri"/>
                <a:ea typeface="Calibri"/>
              </a:rPr>
              <a:t>Fast, general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67" name="CustomShape 36"/>
          <p:cNvSpPr/>
          <p:nvPr/>
        </p:nvSpPr>
        <p:spPr>
          <a:xfrm>
            <a:off x="2743200" y="4133160"/>
            <a:ext cx="1554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Lower precision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68" name="CustomShape 37"/>
          <p:cNvSpPr/>
          <p:nvPr/>
        </p:nvSpPr>
        <p:spPr>
          <a:xfrm>
            <a:off x="274320" y="4334400"/>
            <a:ext cx="4059720" cy="2008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CustomShape 38"/>
          <p:cNvSpPr/>
          <p:nvPr/>
        </p:nvSpPr>
        <p:spPr>
          <a:xfrm>
            <a:off x="311040" y="4334400"/>
            <a:ext cx="9597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4a727"/>
                </a:solidFill>
                <a:latin typeface="Calibri"/>
                <a:ea typeface="Calibri"/>
              </a:rPr>
              <a:t>Few-Shot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70" name="CustomShape 39"/>
          <p:cNvSpPr/>
          <p:nvPr/>
        </p:nvSpPr>
        <p:spPr>
          <a:xfrm>
            <a:off x="1316880" y="4334400"/>
            <a:ext cx="137124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e8f4f8"/>
                </a:solidFill>
                <a:latin typeface="Calibri"/>
                <a:ea typeface="Calibri"/>
              </a:rPr>
              <a:t>High precision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71" name="CustomShape 40"/>
          <p:cNvSpPr/>
          <p:nvPr/>
        </p:nvSpPr>
        <p:spPr>
          <a:xfrm>
            <a:off x="2743200" y="4334400"/>
            <a:ext cx="1554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Needs examples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72" name="CustomShape 41"/>
          <p:cNvSpPr/>
          <p:nvPr/>
        </p:nvSpPr>
        <p:spPr>
          <a:xfrm>
            <a:off x="274320" y="4535280"/>
            <a:ext cx="4059720" cy="200880"/>
          </a:xfrm>
          <a:prstGeom prst="rect">
            <a:avLst/>
          </a:prstGeom>
          <a:solidFill>
            <a:srgbClr val="0d1b2a"/>
          </a:solidFill>
          <a:ln w="126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CustomShape 42"/>
          <p:cNvSpPr/>
          <p:nvPr/>
        </p:nvSpPr>
        <p:spPr>
          <a:xfrm>
            <a:off x="311040" y="4535280"/>
            <a:ext cx="9597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4a727"/>
                </a:solidFill>
                <a:latin typeface="Calibri"/>
                <a:ea typeface="Calibri"/>
              </a:rPr>
              <a:t>Persona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74" name="CustomShape 43"/>
          <p:cNvSpPr/>
          <p:nvPr/>
        </p:nvSpPr>
        <p:spPr>
          <a:xfrm>
            <a:off x="1316880" y="4535280"/>
            <a:ext cx="137124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e8f4f8"/>
                </a:solidFill>
                <a:latin typeface="Calibri"/>
                <a:ea typeface="Calibri"/>
              </a:rPr>
              <a:t>Tone control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75" name="CustomShape 44"/>
          <p:cNvSpPr/>
          <p:nvPr/>
        </p:nvSpPr>
        <p:spPr>
          <a:xfrm>
            <a:off x="2743200" y="4535280"/>
            <a:ext cx="1554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Role specificity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76" name="CustomShape 45"/>
          <p:cNvSpPr/>
          <p:nvPr/>
        </p:nvSpPr>
        <p:spPr>
          <a:xfrm>
            <a:off x="274320" y="4736520"/>
            <a:ext cx="4059720" cy="2008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7" name="CustomShape 46"/>
          <p:cNvSpPr/>
          <p:nvPr/>
        </p:nvSpPr>
        <p:spPr>
          <a:xfrm>
            <a:off x="311040" y="4736520"/>
            <a:ext cx="9597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4a727"/>
                </a:solidFill>
                <a:latin typeface="Calibri"/>
                <a:ea typeface="Calibri"/>
              </a:rPr>
              <a:t>Structured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78" name="CustomShape 47"/>
          <p:cNvSpPr/>
          <p:nvPr/>
        </p:nvSpPr>
        <p:spPr>
          <a:xfrm>
            <a:off x="1316880" y="4736520"/>
            <a:ext cx="137124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e8f4f8"/>
                </a:solidFill>
                <a:latin typeface="Calibri"/>
                <a:ea typeface="Calibri"/>
              </a:rPr>
              <a:t>Parseable JSON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79" name="CustomShape 48"/>
          <p:cNvSpPr/>
          <p:nvPr/>
        </p:nvSpPr>
        <p:spPr>
          <a:xfrm>
            <a:off x="2743200" y="4736520"/>
            <a:ext cx="1554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Prompt verbosity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80" name="CustomShape 49"/>
          <p:cNvSpPr/>
          <p:nvPr/>
        </p:nvSpPr>
        <p:spPr>
          <a:xfrm>
            <a:off x="4608720" y="749880"/>
            <a:ext cx="4370400" cy="422424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CustomShape 50"/>
          <p:cNvSpPr/>
          <p:nvPr/>
        </p:nvSpPr>
        <p:spPr>
          <a:xfrm>
            <a:off x="4608720" y="804600"/>
            <a:ext cx="4370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7" strike="noStrike">
                <a:solidFill>
                  <a:srgbClr val="00c2cb"/>
                </a:solidFill>
                <a:latin typeface="Trebuchet MS"/>
                <a:ea typeface="Trebuchet MS"/>
              </a:rPr>
              <a:t>PROMPT → OUTPUT EVALUATION FLOW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382" name="CustomShape 51"/>
          <p:cNvSpPr/>
          <p:nvPr/>
        </p:nvSpPr>
        <p:spPr>
          <a:xfrm>
            <a:off x="5239440" y="1115640"/>
            <a:ext cx="31086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3" name="CustomShape 52"/>
          <p:cNvSpPr/>
          <p:nvPr/>
        </p:nvSpPr>
        <p:spPr>
          <a:xfrm>
            <a:off x="6675120" y="996840"/>
            <a:ext cx="237240" cy="23724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CustomShape 53"/>
          <p:cNvSpPr/>
          <p:nvPr/>
        </p:nvSpPr>
        <p:spPr>
          <a:xfrm>
            <a:off x="5239440" y="1179720"/>
            <a:ext cx="31086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Prompt Design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85" name="CustomShape 54"/>
          <p:cNvSpPr/>
          <p:nvPr/>
        </p:nvSpPr>
        <p:spPr>
          <a:xfrm>
            <a:off x="5239440" y="1408320"/>
            <a:ext cx="310860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Strategy · Role · Context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86" name="CustomShape 55"/>
          <p:cNvSpPr/>
          <p:nvPr/>
        </p:nvSpPr>
        <p:spPr>
          <a:xfrm>
            <a:off x="6766560" y="1645920"/>
            <a:ext cx="54360" cy="1458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CustomShape 56"/>
          <p:cNvSpPr/>
          <p:nvPr/>
        </p:nvSpPr>
        <p:spPr>
          <a:xfrm>
            <a:off x="5239440" y="1828800"/>
            <a:ext cx="31086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8" name="CustomShape 57"/>
          <p:cNvSpPr/>
          <p:nvPr/>
        </p:nvSpPr>
        <p:spPr>
          <a:xfrm>
            <a:off x="6675120" y="1710000"/>
            <a:ext cx="237240" cy="23724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CustomShape 58"/>
          <p:cNvSpPr/>
          <p:nvPr/>
        </p:nvSpPr>
        <p:spPr>
          <a:xfrm>
            <a:off x="5239440" y="1892880"/>
            <a:ext cx="31086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Processing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90" name="CustomShape 59"/>
          <p:cNvSpPr/>
          <p:nvPr/>
        </p:nvSpPr>
        <p:spPr>
          <a:xfrm>
            <a:off x="5239440" y="2121480"/>
            <a:ext cx="310860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Groq API · Llama 3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91" name="CustomShape 60"/>
          <p:cNvSpPr/>
          <p:nvPr/>
        </p:nvSpPr>
        <p:spPr>
          <a:xfrm>
            <a:off x="6766560" y="2359080"/>
            <a:ext cx="54360" cy="1458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CustomShape 61"/>
          <p:cNvSpPr/>
          <p:nvPr/>
        </p:nvSpPr>
        <p:spPr>
          <a:xfrm>
            <a:off x="5239440" y="2541960"/>
            <a:ext cx="31086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3" name="CustomShape 62"/>
          <p:cNvSpPr/>
          <p:nvPr/>
        </p:nvSpPr>
        <p:spPr>
          <a:xfrm>
            <a:off x="6675120" y="2423160"/>
            <a:ext cx="237240" cy="23724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CustomShape 63"/>
          <p:cNvSpPr/>
          <p:nvPr/>
        </p:nvSpPr>
        <p:spPr>
          <a:xfrm>
            <a:off x="5239440" y="2606040"/>
            <a:ext cx="31086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Response Generated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395" name="CustomShape 64"/>
          <p:cNvSpPr/>
          <p:nvPr/>
        </p:nvSpPr>
        <p:spPr>
          <a:xfrm>
            <a:off x="5239440" y="2834640"/>
            <a:ext cx="310860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Text · JSON · Stream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396" name="CustomShape 65"/>
          <p:cNvSpPr/>
          <p:nvPr/>
        </p:nvSpPr>
        <p:spPr>
          <a:xfrm>
            <a:off x="6766560" y="3072240"/>
            <a:ext cx="54360" cy="1458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CustomShape 66"/>
          <p:cNvSpPr/>
          <p:nvPr/>
        </p:nvSpPr>
        <p:spPr>
          <a:xfrm>
            <a:off x="5239440" y="3255120"/>
            <a:ext cx="31086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8" name="CustomShape 67"/>
          <p:cNvSpPr/>
          <p:nvPr/>
        </p:nvSpPr>
        <p:spPr>
          <a:xfrm>
            <a:off x="6675120" y="3136320"/>
            <a:ext cx="237240" cy="23724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CustomShape 68"/>
          <p:cNvSpPr/>
          <p:nvPr/>
        </p:nvSpPr>
        <p:spPr>
          <a:xfrm>
            <a:off x="5239440" y="3319200"/>
            <a:ext cx="31086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Evaluation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00" name="CustomShape 69"/>
          <p:cNvSpPr/>
          <p:nvPr/>
        </p:nvSpPr>
        <p:spPr>
          <a:xfrm>
            <a:off x="5239440" y="3547800"/>
            <a:ext cx="310860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Consistency · Structure · Quality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401" name="CustomShape 70"/>
          <p:cNvSpPr/>
          <p:nvPr/>
        </p:nvSpPr>
        <p:spPr>
          <a:xfrm>
            <a:off x="6766560" y="3785760"/>
            <a:ext cx="54360" cy="1458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CustomShape 71"/>
          <p:cNvSpPr/>
          <p:nvPr/>
        </p:nvSpPr>
        <p:spPr>
          <a:xfrm>
            <a:off x="5239440" y="3968640"/>
            <a:ext cx="3108600" cy="52992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3" name="CustomShape 72"/>
          <p:cNvSpPr/>
          <p:nvPr/>
        </p:nvSpPr>
        <p:spPr>
          <a:xfrm>
            <a:off x="6675120" y="3849480"/>
            <a:ext cx="237240" cy="23724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CustomShape 73"/>
          <p:cNvSpPr/>
          <p:nvPr/>
        </p:nvSpPr>
        <p:spPr>
          <a:xfrm>
            <a:off x="5239440" y="4032360"/>
            <a:ext cx="310860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Iterate &amp; Improve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05" name="CustomShape 74"/>
          <p:cNvSpPr/>
          <p:nvPr/>
        </p:nvSpPr>
        <p:spPr>
          <a:xfrm>
            <a:off x="5239440" y="4260960"/>
            <a:ext cx="310860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Refine prompt → re-test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406" name="CustomShape 75"/>
          <p:cNvSpPr/>
          <p:nvPr/>
        </p:nvSpPr>
        <p:spPr>
          <a:xfrm>
            <a:off x="4791600" y="4663440"/>
            <a:ext cx="4004640" cy="2192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CustomShape 76"/>
          <p:cNvSpPr/>
          <p:nvPr/>
        </p:nvSpPr>
        <p:spPr>
          <a:xfrm>
            <a:off x="4791600" y="4663440"/>
            <a:ext cx="40046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Prompt Experimentation = Faster Engineering Iteration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08" name="CustomShape 77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2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2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Mini Project – AI Resume Reviewer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413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15" name="CustomShape 7"/>
          <p:cNvSpPr/>
          <p:nvPr/>
        </p:nvSpPr>
        <p:spPr>
          <a:xfrm>
            <a:off x="164520" y="749880"/>
            <a:ext cx="4315680" cy="138960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CustomShape 8"/>
          <p:cNvSpPr/>
          <p:nvPr/>
        </p:nvSpPr>
        <p:spPr>
          <a:xfrm>
            <a:off x="164520" y="749880"/>
            <a:ext cx="54360" cy="138960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17" name="Image 0" descr="preencoded.png"/>
          <p:cNvPicPr/>
          <p:nvPr/>
        </p:nvPicPr>
        <p:blipFill>
          <a:blip r:embed="rId1"/>
          <a:stretch/>
        </p:blipFill>
        <p:spPr>
          <a:xfrm>
            <a:off x="292680" y="82296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418" name="CustomShape 9"/>
          <p:cNvSpPr/>
          <p:nvPr/>
        </p:nvSpPr>
        <p:spPr>
          <a:xfrm>
            <a:off x="676800" y="795600"/>
            <a:ext cx="36572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Trebuchet MS"/>
                <a:ea typeface="Trebuchet MS"/>
              </a:rPr>
              <a:t>Project Overview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9" name="CustomShape 10"/>
          <p:cNvSpPr/>
          <p:nvPr/>
        </p:nvSpPr>
        <p:spPr>
          <a:xfrm>
            <a:off x="676800" y="1042560"/>
            <a:ext cx="3657240" cy="100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AI-powered Resume Reviewer via Groq API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PDF text extraction + prompt-driven analysis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Structured feedback + ATS-style recommendations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20" name="CustomShape 11"/>
          <p:cNvSpPr/>
          <p:nvPr/>
        </p:nvSpPr>
        <p:spPr>
          <a:xfrm>
            <a:off x="164520" y="2212920"/>
            <a:ext cx="4315680" cy="14626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1" name="CustomShape 12"/>
          <p:cNvSpPr/>
          <p:nvPr/>
        </p:nvSpPr>
        <p:spPr>
          <a:xfrm>
            <a:off x="164520" y="2212920"/>
            <a:ext cx="54360" cy="146268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CustomShape 13"/>
          <p:cNvSpPr/>
          <p:nvPr/>
        </p:nvSpPr>
        <p:spPr>
          <a:xfrm>
            <a:off x="292680" y="2240280"/>
            <a:ext cx="41144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2cb"/>
                </a:solidFill>
                <a:latin typeface="Trebuchet MS"/>
                <a:ea typeface="Trebuchet MS"/>
              </a:rPr>
              <a:t>Architecture Flow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23" name="CustomShape 14"/>
          <p:cNvSpPr/>
          <p:nvPr/>
        </p:nvSpPr>
        <p:spPr>
          <a:xfrm>
            <a:off x="292680" y="2560320"/>
            <a:ext cx="548280" cy="42012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4" name="CustomShape 15"/>
          <p:cNvSpPr/>
          <p:nvPr/>
        </p:nvSpPr>
        <p:spPr>
          <a:xfrm>
            <a:off x="292680" y="2560320"/>
            <a:ext cx="548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Trebuchet MS"/>
                <a:ea typeface="Trebuchet MS"/>
              </a:rPr>
              <a:t>PDF</a:t>
            </a:r>
            <a:endParaRPr b="0" lang="en-IN" sz="700" spc="-1" strike="noStrike">
              <a:latin typeface="Arial"/>
            </a:endParaRPr>
          </a:p>
        </p:txBody>
      </p:sp>
      <p:sp>
        <p:nvSpPr>
          <p:cNvPr id="425" name="CustomShape 16"/>
          <p:cNvSpPr/>
          <p:nvPr/>
        </p:nvSpPr>
        <p:spPr>
          <a:xfrm>
            <a:off x="859680" y="2747880"/>
            <a:ext cx="12780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CustomShape 17"/>
          <p:cNvSpPr/>
          <p:nvPr/>
        </p:nvSpPr>
        <p:spPr>
          <a:xfrm>
            <a:off x="1005840" y="2560320"/>
            <a:ext cx="548280" cy="42012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CustomShape 18"/>
          <p:cNvSpPr/>
          <p:nvPr/>
        </p:nvSpPr>
        <p:spPr>
          <a:xfrm>
            <a:off x="1005840" y="2560320"/>
            <a:ext cx="548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Trebuchet MS"/>
                <a:ea typeface="Trebuchet MS"/>
              </a:rPr>
              <a:t>Reader</a:t>
            </a:r>
            <a:endParaRPr b="0" lang="en-IN" sz="700" spc="-1" strike="noStrike">
              <a:latin typeface="Arial"/>
            </a:endParaRPr>
          </a:p>
        </p:txBody>
      </p:sp>
      <p:sp>
        <p:nvSpPr>
          <p:cNvPr id="428" name="CustomShape 19"/>
          <p:cNvSpPr/>
          <p:nvPr/>
        </p:nvSpPr>
        <p:spPr>
          <a:xfrm>
            <a:off x="1572840" y="2747880"/>
            <a:ext cx="12780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CustomShape 20"/>
          <p:cNvSpPr/>
          <p:nvPr/>
        </p:nvSpPr>
        <p:spPr>
          <a:xfrm>
            <a:off x="1719000" y="2560320"/>
            <a:ext cx="548280" cy="42012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CustomShape 21"/>
          <p:cNvSpPr/>
          <p:nvPr/>
        </p:nvSpPr>
        <p:spPr>
          <a:xfrm>
            <a:off x="1719000" y="2560320"/>
            <a:ext cx="548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Prompt</a:t>
            </a:r>
            <a:endParaRPr b="0" lang="en-IN" sz="700" spc="-1" strike="noStrike">
              <a:latin typeface="Arial"/>
            </a:endParaRPr>
          </a:p>
        </p:txBody>
      </p:sp>
      <p:sp>
        <p:nvSpPr>
          <p:cNvPr id="431" name="CustomShape 22"/>
          <p:cNvSpPr/>
          <p:nvPr/>
        </p:nvSpPr>
        <p:spPr>
          <a:xfrm>
            <a:off x="2286000" y="2747880"/>
            <a:ext cx="12780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CustomShape 23"/>
          <p:cNvSpPr/>
          <p:nvPr/>
        </p:nvSpPr>
        <p:spPr>
          <a:xfrm>
            <a:off x="2432160" y="2560320"/>
            <a:ext cx="548280" cy="42012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CustomShape 24"/>
          <p:cNvSpPr/>
          <p:nvPr/>
        </p:nvSpPr>
        <p:spPr>
          <a:xfrm>
            <a:off x="2432160" y="2560320"/>
            <a:ext cx="548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Trebuchet MS"/>
                <a:ea typeface="Trebuchet MS"/>
              </a:rPr>
              <a:t>Groq API</a:t>
            </a:r>
            <a:endParaRPr b="0" lang="en-IN" sz="700" spc="-1" strike="noStrike">
              <a:latin typeface="Arial"/>
            </a:endParaRPr>
          </a:p>
        </p:txBody>
      </p:sp>
      <p:sp>
        <p:nvSpPr>
          <p:cNvPr id="434" name="CustomShape 25"/>
          <p:cNvSpPr/>
          <p:nvPr/>
        </p:nvSpPr>
        <p:spPr>
          <a:xfrm>
            <a:off x="2999160" y="2747880"/>
            <a:ext cx="12780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CustomShape 26"/>
          <p:cNvSpPr/>
          <p:nvPr/>
        </p:nvSpPr>
        <p:spPr>
          <a:xfrm>
            <a:off x="3145680" y="2560320"/>
            <a:ext cx="548280" cy="42012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6" name="CustomShape 27"/>
          <p:cNvSpPr/>
          <p:nvPr/>
        </p:nvSpPr>
        <p:spPr>
          <a:xfrm>
            <a:off x="3145680" y="2560320"/>
            <a:ext cx="548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Trebuchet MS"/>
                <a:ea typeface="Trebuchet MS"/>
              </a:rPr>
              <a:t>Llama 3</a:t>
            </a:r>
            <a:endParaRPr b="0" lang="en-IN" sz="700" spc="-1" strike="noStrike">
              <a:latin typeface="Arial"/>
            </a:endParaRPr>
          </a:p>
        </p:txBody>
      </p:sp>
      <p:sp>
        <p:nvSpPr>
          <p:cNvPr id="437" name="CustomShape 28"/>
          <p:cNvSpPr/>
          <p:nvPr/>
        </p:nvSpPr>
        <p:spPr>
          <a:xfrm>
            <a:off x="3712320" y="2747880"/>
            <a:ext cx="127800" cy="45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CustomShape 29"/>
          <p:cNvSpPr/>
          <p:nvPr/>
        </p:nvSpPr>
        <p:spPr>
          <a:xfrm>
            <a:off x="3858840" y="2560320"/>
            <a:ext cx="548280" cy="42012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CustomShape 30"/>
          <p:cNvSpPr/>
          <p:nvPr/>
        </p:nvSpPr>
        <p:spPr>
          <a:xfrm>
            <a:off x="3858840" y="2560320"/>
            <a:ext cx="548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00" spc="-1" strike="noStrike">
                <a:solidFill>
                  <a:srgbClr val="ffffff"/>
                </a:solidFill>
                <a:latin typeface="Trebuchet MS"/>
                <a:ea typeface="Trebuchet MS"/>
              </a:rPr>
              <a:t>Report</a:t>
            </a:r>
            <a:endParaRPr b="0" lang="en-IN" sz="700" spc="-1" strike="noStrike">
              <a:latin typeface="Arial"/>
            </a:endParaRPr>
          </a:p>
        </p:txBody>
      </p:sp>
      <p:sp>
        <p:nvSpPr>
          <p:cNvPr id="440" name="CustomShape 31"/>
          <p:cNvSpPr/>
          <p:nvPr/>
        </p:nvSpPr>
        <p:spPr>
          <a:xfrm>
            <a:off x="255960" y="3054240"/>
            <a:ext cx="416016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↑ </a:t>
            </a:r>
            <a:r>
              <a:rPr b="0" i="1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Prompt Engineering layer controls analysis depth &amp; output structure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441" name="CustomShape 32"/>
          <p:cNvSpPr/>
          <p:nvPr/>
        </p:nvSpPr>
        <p:spPr>
          <a:xfrm>
            <a:off x="164520" y="3749040"/>
            <a:ext cx="4315680" cy="115164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2" name="CustomShape 33"/>
          <p:cNvSpPr/>
          <p:nvPr/>
        </p:nvSpPr>
        <p:spPr>
          <a:xfrm>
            <a:off x="164520" y="3749040"/>
            <a:ext cx="54360" cy="115164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3" name="CustomShape 34"/>
          <p:cNvSpPr/>
          <p:nvPr/>
        </p:nvSpPr>
        <p:spPr>
          <a:xfrm>
            <a:off x="292680" y="3776400"/>
            <a:ext cx="4114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4a727"/>
                </a:solidFill>
                <a:latin typeface="Trebuchet MS"/>
                <a:ea typeface="Trebuchet MS"/>
              </a:rPr>
              <a:t>Challenges &amp; Solutions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44" name="CustomShape 35"/>
          <p:cNvSpPr/>
          <p:nvPr/>
        </p:nvSpPr>
        <p:spPr>
          <a:xfrm>
            <a:off x="255960" y="4014360"/>
            <a:ext cx="41328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CustomShape 36"/>
          <p:cNvSpPr/>
          <p:nvPr/>
        </p:nvSpPr>
        <p:spPr>
          <a:xfrm>
            <a:off x="311040" y="4032360"/>
            <a:ext cx="14626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PDF extraction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46" name="CustomShape 37"/>
          <p:cNvSpPr/>
          <p:nvPr/>
        </p:nvSpPr>
        <p:spPr>
          <a:xfrm>
            <a:off x="1810440" y="4078080"/>
            <a:ext cx="36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CustomShape 38"/>
          <p:cNvSpPr/>
          <p:nvPr/>
        </p:nvSpPr>
        <p:spPr>
          <a:xfrm>
            <a:off x="1901880" y="4032360"/>
            <a:ext cx="23770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Implemented PDF parser library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48" name="CustomShape 39"/>
          <p:cNvSpPr/>
          <p:nvPr/>
        </p:nvSpPr>
        <p:spPr>
          <a:xfrm>
            <a:off x="255960" y="4288680"/>
            <a:ext cx="41328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CustomShape 40"/>
          <p:cNvSpPr/>
          <p:nvPr/>
        </p:nvSpPr>
        <p:spPr>
          <a:xfrm>
            <a:off x="311040" y="4306680"/>
            <a:ext cx="14626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Prompt optimisation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50" name="CustomShape 41"/>
          <p:cNvSpPr/>
          <p:nvPr/>
        </p:nvSpPr>
        <p:spPr>
          <a:xfrm>
            <a:off x="1810440" y="4352400"/>
            <a:ext cx="36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1" name="CustomShape 42"/>
          <p:cNvSpPr/>
          <p:nvPr/>
        </p:nvSpPr>
        <p:spPr>
          <a:xfrm>
            <a:off x="1901880" y="4306680"/>
            <a:ext cx="23770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Iterated with System/User/Assistant roles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52" name="CustomShape 43"/>
          <p:cNvSpPr/>
          <p:nvPr/>
        </p:nvSpPr>
        <p:spPr>
          <a:xfrm>
            <a:off x="255960" y="4563000"/>
            <a:ext cx="41328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3" name="CustomShape 44"/>
          <p:cNvSpPr/>
          <p:nvPr/>
        </p:nvSpPr>
        <p:spPr>
          <a:xfrm>
            <a:off x="311040" y="4581000"/>
            <a:ext cx="14626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Structured outputs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54" name="CustomShape 45"/>
          <p:cNvSpPr/>
          <p:nvPr/>
        </p:nvSpPr>
        <p:spPr>
          <a:xfrm>
            <a:off x="1810440" y="4626720"/>
            <a:ext cx="36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CustomShape 46"/>
          <p:cNvSpPr/>
          <p:nvPr/>
        </p:nvSpPr>
        <p:spPr>
          <a:xfrm>
            <a:off x="1901880" y="4581000"/>
            <a:ext cx="23770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Applied JSON-mode + output templates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56" name="CustomShape 47"/>
          <p:cNvSpPr/>
          <p:nvPr/>
        </p:nvSpPr>
        <p:spPr>
          <a:xfrm>
            <a:off x="4645080" y="749880"/>
            <a:ext cx="4334040" cy="4151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CustomShape 48"/>
          <p:cNvSpPr/>
          <p:nvPr/>
        </p:nvSpPr>
        <p:spPr>
          <a:xfrm>
            <a:off x="4645080" y="749880"/>
            <a:ext cx="433404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CustomShape 49"/>
          <p:cNvSpPr/>
          <p:nvPr/>
        </p:nvSpPr>
        <p:spPr>
          <a:xfrm>
            <a:off x="4645080" y="749880"/>
            <a:ext cx="43340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8" strike="noStrike">
                <a:solidFill>
                  <a:srgbClr val="00c2cb"/>
                </a:solidFill>
                <a:latin typeface="Trebuchet MS"/>
                <a:ea typeface="Trebuchet MS"/>
              </a:rPr>
              <a:t>KEY TAKEAWAYS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59" name="CustomShape 50"/>
          <p:cNvSpPr/>
          <p:nvPr/>
        </p:nvSpPr>
        <p:spPr>
          <a:xfrm>
            <a:off x="4809600" y="108828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CustomShape 51"/>
          <p:cNvSpPr/>
          <p:nvPr/>
        </p:nvSpPr>
        <p:spPr>
          <a:xfrm>
            <a:off x="4827960" y="1197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1" name="CustomShape 52"/>
          <p:cNvSpPr/>
          <p:nvPr/>
        </p:nvSpPr>
        <p:spPr>
          <a:xfrm>
            <a:off x="4827960" y="1197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462" name="Image 1" descr="preencoded.png"/>
          <p:cNvPicPr/>
          <p:nvPr/>
        </p:nvPicPr>
        <p:blipFill>
          <a:blip r:embed="rId2"/>
          <a:stretch/>
        </p:blipFill>
        <p:spPr>
          <a:xfrm>
            <a:off x="5193720" y="122544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463" name="CustomShape 53"/>
          <p:cNvSpPr/>
          <p:nvPr/>
        </p:nvSpPr>
        <p:spPr>
          <a:xfrm>
            <a:off x="5486400" y="1143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API Integration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64" name="CustomShape 54"/>
          <p:cNvSpPr/>
          <p:nvPr/>
        </p:nvSpPr>
        <p:spPr>
          <a:xfrm>
            <a:off x="5486400" y="136260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Request lifecycle, SDK patterns, auth &amp; error handling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465" name="CustomShape 55"/>
          <p:cNvSpPr/>
          <p:nvPr/>
        </p:nvSpPr>
        <p:spPr>
          <a:xfrm>
            <a:off x="4809600" y="1654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CustomShape 56"/>
          <p:cNvSpPr/>
          <p:nvPr/>
        </p:nvSpPr>
        <p:spPr>
          <a:xfrm>
            <a:off x="4827960" y="1764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CustomShape 57"/>
          <p:cNvSpPr/>
          <p:nvPr/>
        </p:nvSpPr>
        <p:spPr>
          <a:xfrm>
            <a:off x="4827960" y="1764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468" name="Image 2" descr="preencoded.png"/>
          <p:cNvPicPr/>
          <p:nvPr/>
        </p:nvPicPr>
        <p:blipFill>
          <a:blip r:embed="rId3"/>
          <a:stretch/>
        </p:blipFill>
        <p:spPr>
          <a:xfrm>
            <a:off x="5193720" y="1792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469" name="CustomShape 58"/>
          <p:cNvSpPr/>
          <p:nvPr/>
        </p:nvSpPr>
        <p:spPr>
          <a:xfrm>
            <a:off x="5486400" y="1710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Prompt Engineering Fundamentals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70" name="CustomShape 59"/>
          <p:cNvSpPr/>
          <p:nvPr/>
        </p:nvSpPr>
        <p:spPr>
          <a:xfrm>
            <a:off x="5486400" y="1929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System / User / Assistant roles, tone &amp; output control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471" name="CustomShape 60"/>
          <p:cNvSpPr/>
          <p:nvPr/>
        </p:nvSpPr>
        <p:spPr>
          <a:xfrm>
            <a:off x="4809600" y="2221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CustomShape 61"/>
          <p:cNvSpPr/>
          <p:nvPr/>
        </p:nvSpPr>
        <p:spPr>
          <a:xfrm>
            <a:off x="4827960" y="2331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3" name="CustomShape 62"/>
          <p:cNvSpPr/>
          <p:nvPr/>
        </p:nvSpPr>
        <p:spPr>
          <a:xfrm>
            <a:off x="4827960" y="2331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474" name="Image 3" descr="preencoded.png"/>
          <p:cNvPicPr/>
          <p:nvPr/>
        </p:nvPicPr>
        <p:blipFill>
          <a:blip r:embed="rId4"/>
          <a:stretch/>
        </p:blipFill>
        <p:spPr>
          <a:xfrm>
            <a:off x="5193720" y="2359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475" name="CustomShape 63"/>
          <p:cNvSpPr/>
          <p:nvPr/>
        </p:nvSpPr>
        <p:spPr>
          <a:xfrm>
            <a:off x="5486400" y="2277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Zero-Shot vs Few-Shot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76" name="CustomShape 64"/>
          <p:cNvSpPr/>
          <p:nvPr/>
        </p:nvSpPr>
        <p:spPr>
          <a:xfrm>
            <a:off x="5486400" y="2496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Examples raise precision; trade-off is prompt length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477" name="CustomShape 65"/>
          <p:cNvSpPr/>
          <p:nvPr/>
        </p:nvSpPr>
        <p:spPr>
          <a:xfrm>
            <a:off x="4809600" y="2788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CustomShape 66"/>
          <p:cNvSpPr/>
          <p:nvPr/>
        </p:nvSpPr>
        <p:spPr>
          <a:xfrm>
            <a:off x="4827960" y="2898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9" name="CustomShape 67"/>
          <p:cNvSpPr/>
          <p:nvPr/>
        </p:nvSpPr>
        <p:spPr>
          <a:xfrm>
            <a:off x="4827960" y="2898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4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480" name="Image 4" descr="preencoded.png"/>
          <p:cNvPicPr/>
          <p:nvPr/>
        </p:nvPicPr>
        <p:blipFill>
          <a:blip r:embed="rId5"/>
          <a:stretch/>
        </p:blipFill>
        <p:spPr>
          <a:xfrm>
            <a:off x="5193720" y="2926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481" name="CustomShape 68"/>
          <p:cNvSpPr/>
          <p:nvPr/>
        </p:nvSpPr>
        <p:spPr>
          <a:xfrm>
            <a:off x="5486400" y="2843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Structured Outputs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82" name="CustomShape 69"/>
          <p:cNvSpPr/>
          <p:nvPr/>
        </p:nvSpPr>
        <p:spPr>
          <a:xfrm>
            <a:off x="5486400" y="3063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JSON mode enables downstream parsing &amp; automation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483" name="CustomShape 70"/>
          <p:cNvSpPr/>
          <p:nvPr/>
        </p:nvSpPr>
        <p:spPr>
          <a:xfrm>
            <a:off x="4809600" y="3355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CustomShape 71"/>
          <p:cNvSpPr/>
          <p:nvPr/>
        </p:nvSpPr>
        <p:spPr>
          <a:xfrm>
            <a:off x="4827960" y="3465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5" name="CustomShape 72"/>
          <p:cNvSpPr/>
          <p:nvPr/>
        </p:nvSpPr>
        <p:spPr>
          <a:xfrm>
            <a:off x="4827960" y="3465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5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486" name="Image 5" descr="preencoded.png"/>
          <p:cNvPicPr/>
          <p:nvPr/>
        </p:nvPicPr>
        <p:blipFill>
          <a:blip r:embed="rId6"/>
          <a:stretch/>
        </p:blipFill>
        <p:spPr>
          <a:xfrm>
            <a:off x="5193720" y="3493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487" name="CustomShape 73"/>
          <p:cNvSpPr/>
          <p:nvPr/>
        </p:nvSpPr>
        <p:spPr>
          <a:xfrm>
            <a:off x="5486400" y="3410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AI Safety &amp; Guardrails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88" name="CustomShape 74"/>
          <p:cNvSpPr/>
          <p:nvPr/>
        </p:nvSpPr>
        <p:spPr>
          <a:xfrm>
            <a:off x="5486400" y="3630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Prompt injection defence &amp; secure system prompts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489" name="CustomShape 75"/>
          <p:cNvSpPr/>
          <p:nvPr/>
        </p:nvSpPr>
        <p:spPr>
          <a:xfrm>
            <a:off x="4809600" y="3922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CustomShape 76"/>
          <p:cNvSpPr/>
          <p:nvPr/>
        </p:nvSpPr>
        <p:spPr>
          <a:xfrm>
            <a:off x="4827960" y="403236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1" name="CustomShape 77"/>
          <p:cNvSpPr/>
          <p:nvPr/>
        </p:nvSpPr>
        <p:spPr>
          <a:xfrm>
            <a:off x="4827960" y="403236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6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492" name="Image 6" descr="preencoded.png"/>
          <p:cNvPicPr/>
          <p:nvPr/>
        </p:nvPicPr>
        <p:blipFill>
          <a:blip r:embed="rId7"/>
          <a:stretch/>
        </p:blipFill>
        <p:spPr>
          <a:xfrm>
            <a:off x="5193720" y="4060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493" name="CustomShape 78"/>
          <p:cNvSpPr/>
          <p:nvPr/>
        </p:nvSpPr>
        <p:spPr>
          <a:xfrm>
            <a:off x="5486400" y="3977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Resume Analysis Workflow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494" name="CustomShape 79"/>
          <p:cNvSpPr/>
          <p:nvPr/>
        </p:nvSpPr>
        <p:spPr>
          <a:xfrm>
            <a:off x="5486400" y="4197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PDF → Extraction → Prompt → Report pipeline built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495" name="CustomShape 80"/>
          <p:cNvSpPr/>
          <p:nvPr/>
        </p:nvSpPr>
        <p:spPr>
          <a:xfrm>
            <a:off x="4809600" y="4260960"/>
            <a:ext cx="4004640" cy="566640"/>
          </a:xfrm>
          <a:prstGeom prst="rect">
            <a:avLst/>
          </a:prstGeom>
          <a:solidFill>
            <a:srgbClr val="007f85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6" name="CustomShape 81"/>
          <p:cNvSpPr/>
          <p:nvPr/>
        </p:nvSpPr>
        <p:spPr>
          <a:xfrm>
            <a:off x="4809600" y="4260960"/>
            <a:ext cx="4004640" cy="56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4a727"/>
                </a:solidFill>
                <a:latin typeface="Trebuchet MS"/>
                <a:ea typeface="Trebuchet MS"/>
              </a:rPr>
              <a:t>NEXT →  </a:t>
            </a: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Day 3: Embeddings, Vector DBs &amp; RAG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7" name="CustomShape 82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2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0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Trebuchet MS"/>
                <a:ea typeface="Trebuchet MS"/>
              </a:rPr>
              <a:t>DAY 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01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Embeddings, Vector Databases &amp; RAG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502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04" name="CustomShape 7"/>
          <p:cNvSpPr/>
          <p:nvPr/>
        </p:nvSpPr>
        <p:spPr>
          <a:xfrm>
            <a:off x="164520" y="749880"/>
            <a:ext cx="5284800" cy="95076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05" name="CustomShape 8"/>
          <p:cNvSpPr/>
          <p:nvPr/>
        </p:nvSpPr>
        <p:spPr>
          <a:xfrm>
            <a:off x="164520" y="749880"/>
            <a:ext cx="63720" cy="95076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06" name="Image 0" descr="preencoded.png"/>
          <p:cNvPicPr/>
          <p:nvPr/>
        </p:nvPicPr>
        <p:blipFill>
          <a:blip r:embed="rId1"/>
          <a:stretch/>
        </p:blipFill>
        <p:spPr>
          <a:xfrm>
            <a:off x="301680" y="97848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507" name="CustomShape 9"/>
          <p:cNvSpPr/>
          <p:nvPr/>
        </p:nvSpPr>
        <p:spPr>
          <a:xfrm>
            <a:off x="713160" y="84132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Semantic Understanding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08" name="CustomShape 10"/>
          <p:cNvSpPr/>
          <p:nvPr/>
        </p:nvSpPr>
        <p:spPr>
          <a:xfrm>
            <a:off x="713160" y="1115640"/>
            <a:ext cx="2788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Embeddings: text → high-dimensional vectors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Cosine Similarity measures semantic closeness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09" name="CustomShape 11"/>
          <p:cNvSpPr/>
          <p:nvPr/>
        </p:nvSpPr>
        <p:spPr>
          <a:xfrm>
            <a:off x="3538800" y="102420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0" name="CustomShape 12"/>
          <p:cNvSpPr/>
          <p:nvPr/>
        </p:nvSpPr>
        <p:spPr>
          <a:xfrm>
            <a:off x="3538800" y="102420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Foundation of all semantic search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11" name="CustomShape 13"/>
          <p:cNvSpPr/>
          <p:nvPr/>
        </p:nvSpPr>
        <p:spPr>
          <a:xfrm>
            <a:off x="164520" y="1755720"/>
            <a:ext cx="5284800" cy="95076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2" name="CustomShape 14"/>
          <p:cNvSpPr/>
          <p:nvPr/>
        </p:nvSpPr>
        <p:spPr>
          <a:xfrm>
            <a:off x="164520" y="1755720"/>
            <a:ext cx="63720" cy="95076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13" name="Image 1" descr="preencoded.png"/>
          <p:cNvPicPr/>
          <p:nvPr/>
        </p:nvPicPr>
        <p:blipFill>
          <a:blip r:embed="rId2"/>
          <a:stretch/>
        </p:blipFill>
        <p:spPr>
          <a:xfrm>
            <a:off x="301680" y="198432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514" name="CustomShape 15"/>
          <p:cNvSpPr/>
          <p:nvPr/>
        </p:nvSpPr>
        <p:spPr>
          <a:xfrm>
            <a:off x="713160" y="184716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Retrieval Fundamentals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15" name="CustomShape 16"/>
          <p:cNvSpPr/>
          <p:nvPr/>
        </p:nvSpPr>
        <p:spPr>
          <a:xfrm>
            <a:off x="713160" y="2121480"/>
            <a:ext cx="2788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Chunking strategies: fixed, semantic, overlap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Metadata filtering boosts retrieval precision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16" name="CustomShape 17"/>
          <p:cNvSpPr/>
          <p:nvPr/>
        </p:nvSpPr>
        <p:spPr>
          <a:xfrm>
            <a:off x="3538800" y="203004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CustomShape 18"/>
          <p:cNvSpPr/>
          <p:nvPr/>
        </p:nvSpPr>
        <p:spPr>
          <a:xfrm>
            <a:off x="3538800" y="203004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Controls search accuracy &amp; relevance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18" name="CustomShape 19"/>
          <p:cNvSpPr/>
          <p:nvPr/>
        </p:nvSpPr>
        <p:spPr>
          <a:xfrm>
            <a:off x="164520" y="2761560"/>
            <a:ext cx="5284800" cy="95076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9" name="CustomShape 20"/>
          <p:cNvSpPr/>
          <p:nvPr/>
        </p:nvSpPr>
        <p:spPr>
          <a:xfrm>
            <a:off x="164520" y="2761560"/>
            <a:ext cx="63720" cy="950760"/>
          </a:xfrm>
          <a:prstGeom prst="rect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20" name="Image 2" descr="preencoded.png"/>
          <p:cNvPicPr/>
          <p:nvPr/>
        </p:nvPicPr>
        <p:blipFill>
          <a:blip r:embed="rId3"/>
          <a:stretch/>
        </p:blipFill>
        <p:spPr>
          <a:xfrm>
            <a:off x="301680" y="299016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521" name="CustomShape 21"/>
          <p:cNvSpPr/>
          <p:nvPr/>
        </p:nvSpPr>
        <p:spPr>
          <a:xfrm>
            <a:off x="713160" y="285300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Trebuchet MS"/>
                <a:ea typeface="Trebuchet MS"/>
              </a:rPr>
              <a:t>Vector DB Ecosystem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22" name="CustomShape 22"/>
          <p:cNvSpPr/>
          <p:nvPr/>
        </p:nvSpPr>
        <p:spPr>
          <a:xfrm>
            <a:off x="713160" y="3127320"/>
            <a:ext cx="2788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Chroma (local) · FAISS (speed) · Pinecone (cloud)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Purpose-built for similarity search at scale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23" name="CustomShape 23"/>
          <p:cNvSpPr/>
          <p:nvPr/>
        </p:nvSpPr>
        <p:spPr>
          <a:xfrm>
            <a:off x="3538800" y="303588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4" name="CustomShape 24"/>
          <p:cNvSpPr/>
          <p:nvPr/>
        </p:nvSpPr>
        <p:spPr>
          <a:xfrm>
            <a:off x="3538800" y="303588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Enterprise knowledge store layer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25" name="CustomShape 25"/>
          <p:cNvSpPr/>
          <p:nvPr/>
        </p:nvSpPr>
        <p:spPr>
          <a:xfrm>
            <a:off x="164520" y="3767400"/>
            <a:ext cx="5284800" cy="95076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CustomShape 26"/>
          <p:cNvSpPr/>
          <p:nvPr/>
        </p:nvSpPr>
        <p:spPr>
          <a:xfrm>
            <a:off x="164520" y="3767400"/>
            <a:ext cx="63720" cy="95076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527" name="Image 3" descr="preencoded.png"/>
          <p:cNvPicPr/>
          <p:nvPr/>
        </p:nvPicPr>
        <p:blipFill>
          <a:blip r:embed="rId4"/>
          <a:stretch/>
        </p:blipFill>
        <p:spPr>
          <a:xfrm>
            <a:off x="301680" y="399600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528" name="CustomShape 27"/>
          <p:cNvSpPr/>
          <p:nvPr/>
        </p:nvSpPr>
        <p:spPr>
          <a:xfrm>
            <a:off x="713160" y="385884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4a727"/>
                </a:solidFill>
                <a:latin typeface="Trebuchet MS"/>
                <a:ea typeface="Trebuchet MS"/>
              </a:rPr>
              <a:t>Enterprise Applications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29" name="CustomShape 28"/>
          <p:cNvSpPr/>
          <p:nvPr/>
        </p:nvSpPr>
        <p:spPr>
          <a:xfrm>
            <a:off x="713160" y="4133160"/>
            <a:ext cx="2788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Semantic Search · Document Q&amp;A · Knowledge Retrieval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RAG-based AI systems reduce hallucination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30" name="CustomShape 29"/>
          <p:cNvSpPr/>
          <p:nvPr/>
        </p:nvSpPr>
        <p:spPr>
          <a:xfrm>
            <a:off x="3538800" y="404172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CustomShape 30"/>
          <p:cNvSpPr/>
          <p:nvPr/>
        </p:nvSpPr>
        <p:spPr>
          <a:xfrm>
            <a:off x="3538800" y="404172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Grounded, auditable AI answers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32" name="CustomShape 31"/>
          <p:cNvSpPr/>
          <p:nvPr/>
        </p:nvSpPr>
        <p:spPr>
          <a:xfrm>
            <a:off x="5614560" y="749880"/>
            <a:ext cx="3364560" cy="43156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CustomShape 32"/>
          <p:cNvSpPr/>
          <p:nvPr/>
        </p:nvSpPr>
        <p:spPr>
          <a:xfrm>
            <a:off x="5614560" y="804600"/>
            <a:ext cx="3364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48" strike="noStrike">
                <a:solidFill>
                  <a:srgbClr val="34d399"/>
                </a:solidFill>
                <a:latin typeface="Trebuchet MS"/>
                <a:ea typeface="Trebuchet MS"/>
              </a:rPr>
              <a:t>RAG ARCHITECTURE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534" name="CustomShape 33"/>
          <p:cNvSpPr/>
          <p:nvPr/>
        </p:nvSpPr>
        <p:spPr>
          <a:xfrm>
            <a:off x="5970960" y="113400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5" name="CustomShape 34"/>
          <p:cNvSpPr/>
          <p:nvPr/>
        </p:nvSpPr>
        <p:spPr>
          <a:xfrm>
            <a:off x="5952600" y="127116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6" name="CustomShape 35"/>
          <p:cNvSpPr/>
          <p:nvPr/>
        </p:nvSpPr>
        <p:spPr>
          <a:xfrm>
            <a:off x="6172200" y="1170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Document Input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37" name="CustomShape 36"/>
          <p:cNvSpPr/>
          <p:nvPr/>
        </p:nvSpPr>
        <p:spPr>
          <a:xfrm>
            <a:off x="6172200" y="1380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PDF · DOCX · Web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38" name="CustomShape 37"/>
          <p:cNvSpPr/>
          <p:nvPr/>
        </p:nvSpPr>
        <p:spPr>
          <a:xfrm>
            <a:off x="7269480" y="157284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9" name="CustomShape 38"/>
          <p:cNvSpPr/>
          <p:nvPr/>
        </p:nvSpPr>
        <p:spPr>
          <a:xfrm>
            <a:off x="5970960" y="1700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0" name="CustomShape 39"/>
          <p:cNvSpPr/>
          <p:nvPr/>
        </p:nvSpPr>
        <p:spPr>
          <a:xfrm>
            <a:off x="5952600" y="1837800"/>
            <a:ext cx="164160" cy="16416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1" name="CustomShape 40"/>
          <p:cNvSpPr/>
          <p:nvPr/>
        </p:nvSpPr>
        <p:spPr>
          <a:xfrm>
            <a:off x="6172200" y="1737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Chunking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42" name="CustomShape 41"/>
          <p:cNvSpPr/>
          <p:nvPr/>
        </p:nvSpPr>
        <p:spPr>
          <a:xfrm>
            <a:off x="6172200" y="1947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Fixed · Semantic · Overlap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43" name="CustomShape 42"/>
          <p:cNvSpPr/>
          <p:nvPr/>
        </p:nvSpPr>
        <p:spPr>
          <a:xfrm>
            <a:off x="7269480" y="213984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4" name="CustomShape 43"/>
          <p:cNvSpPr/>
          <p:nvPr/>
        </p:nvSpPr>
        <p:spPr>
          <a:xfrm>
            <a:off x="5970960" y="2267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45" name="CustomShape 44"/>
          <p:cNvSpPr/>
          <p:nvPr/>
        </p:nvSpPr>
        <p:spPr>
          <a:xfrm>
            <a:off x="5952600" y="240480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CustomShape 45"/>
          <p:cNvSpPr/>
          <p:nvPr/>
        </p:nvSpPr>
        <p:spPr>
          <a:xfrm>
            <a:off x="6172200" y="2304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Embeddings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47" name="CustomShape 46"/>
          <p:cNvSpPr/>
          <p:nvPr/>
        </p:nvSpPr>
        <p:spPr>
          <a:xfrm>
            <a:off x="6172200" y="2514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Text → Vector (1536-dim)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48" name="CustomShape 47"/>
          <p:cNvSpPr/>
          <p:nvPr/>
        </p:nvSpPr>
        <p:spPr>
          <a:xfrm>
            <a:off x="7269480" y="2706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49" name="CustomShape 48"/>
          <p:cNvSpPr/>
          <p:nvPr/>
        </p:nvSpPr>
        <p:spPr>
          <a:xfrm>
            <a:off x="5970960" y="2834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34d399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0" name="CustomShape 49"/>
          <p:cNvSpPr/>
          <p:nvPr/>
        </p:nvSpPr>
        <p:spPr>
          <a:xfrm>
            <a:off x="5952600" y="2971800"/>
            <a:ext cx="164160" cy="164160"/>
          </a:xfrm>
          <a:prstGeom prst="ellipse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1" name="CustomShape 50"/>
          <p:cNvSpPr/>
          <p:nvPr/>
        </p:nvSpPr>
        <p:spPr>
          <a:xfrm>
            <a:off x="6172200" y="2871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Vector Database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52" name="CustomShape 51"/>
          <p:cNvSpPr/>
          <p:nvPr/>
        </p:nvSpPr>
        <p:spPr>
          <a:xfrm>
            <a:off x="6172200" y="3081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Chroma · FAISS · Pinecone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53" name="CustomShape 52"/>
          <p:cNvSpPr/>
          <p:nvPr/>
        </p:nvSpPr>
        <p:spPr>
          <a:xfrm>
            <a:off x="7269480" y="3273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4" name="CustomShape 53"/>
          <p:cNvSpPr/>
          <p:nvPr/>
        </p:nvSpPr>
        <p:spPr>
          <a:xfrm>
            <a:off x="5970960" y="3401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55" name="CustomShape 54"/>
          <p:cNvSpPr/>
          <p:nvPr/>
        </p:nvSpPr>
        <p:spPr>
          <a:xfrm>
            <a:off x="5952600" y="3538800"/>
            <a:ext cx="164160" cy="16416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6" name="CustomShape 55"/>
          <p:cNvSpPr/>
          <p:nvPr/>
        </p:nvSpPr>
        <p:spPr>
          <a:xfrm>
            <a:off x="6172200" y="343800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Semantic Search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57" name="CustomShape 56"/>
          <p:cNvSpPr/>
          <p:nvPr/>
        </p:nvSpPr>
        <p:spPr>
          <a:xfrm>
            <a:off x="6172200" y="3648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Cosine Similarity Top-K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58" name="CustomShape 57"/>
          <p:cNvSpPr/>
          <p:nvPr/>
        </p:nvSpPr>
        <p:spPr>
          <a:xfrm>
            <a:off x="7269480" y="3840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CustomShape 58"/>
          <p:cNvSpPr/>
          <p:nvPr/>
        </p:nvSpPr>
        <p:spPr>
          <a:xfrm>
            <a:off x="5970960" y="3968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0" name="CustomShape 59"/>
          <p:cNvSpPr/>
          <p:nvPr/>
        </p:nvSpPr>
        <p:spPr>
          <a:xfrm>
            <a:off x="5952600" y="4105800"/>
            <a:ext cx="164160" cy="16416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1" name="CustomShape 60"/>
          <p:cNvSpPr/>
          <p:nvPr/>
        </p:nvSpPr>
        <p:spPr>
          <a:xfrm>
            <a:off x="6172200" y="400500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+ Context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62" name="CustomShape 61"/>
          <p:cNvSpPr/>
          <p:nvPr/>
        </p:nvSpPr>
        <p:spPr>
          <a:xfrm>
            <a:off x="6172200" y="421524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Grounded Answer Generation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563" name="CustomShape 62"/>
          <p:cNvSpPr/>
          <p:nvPr/>
        </p:nvSpPr>
        <p:spPr>
          <a:xfrm>
            <a:off x="5815440" y="4663440"/>
            <a:ext cx="2706120" cy="237240"/>
          </a:xfrm>
          <a:prstGeom prst="rect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4" name="CustomShape 63"/>
          <p:cNvSpPr/>
          <p:nvPr/>
        </p:nvSpPr>
        <p:spPr>
          <a:xfrm>
            <a:off x="5815440" y="4663440"/>
            <a:ext cx="27061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✓  </a:t>
            </a: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Grounded · Accurate · Enterprise Answer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65" name="CustomShape 64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3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7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69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Practical Labs &amp; Hands-On Learning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570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1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72" name="CustomShape 7"/>
          <p:cNvSpPr/>
          <p:nvPr/>
        </p:nvSpPr>
        <p:spPr>
          <a:xfrm>
            <a:off x="164520" y="749880"/>
            <a:ext cx="4278960" cy="1298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CustomShape 8"/>
          <p:cNvSpPr/>
          <p:nvPr/>
        </p:nvSpPr>
        <p:spPr>
          <a:xfrm>
            <a:off x="164520" y="74988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4" name="CustomShape 9"/>
          <p:cNvSpPr/>
          <p:nvPr/>
        </p:nvSpPr>
        <p:spPr>
          <a:xfrm>
            <a:off x="164520" y="749880"/>
            <a:ext cx="566640" cy="25560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CustomShape 10"/>
          <p:cNvSpPr/>
          <p:nvPr/>
        </p:nvSpPr>
        <p:spPr>
          <a:xfrm>
            <a:off x="164520" y="749880"/>
            <a:ext cx="5666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1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76" name="CustomShape 11"/>
          <p:cNvSpPr/>
          <p:nvPr/>
        </p:nvSpPr>
        <p:spPr>
          <a:xfrm>
            <a:off x="786240" y="749880"/>
            <a:ext cx="34560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PDF Ingestion Pipeline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577" name="Image 0" descr="preencoded.png"/>
          <p:cNvPicPr/>
          <p:nvPr/>
        </p:nvPicPr>
        <p:blipFill>
          <a:blip r:embed="rId1"/>
          <a:stretch/>
        </p:blipFill>
        <p:spPr>
          <a:xfrm>
            <a:off x="255960" y="115200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578" name="CustomShape 12"/>
          <p:cNvSpPr/>
          <p:nvPr/>
        </p:nvSpPr>
        <p:spPr>
          <a:xfrm>
            <a:off x="603360" y="1060560"/>
            <a:ext cx="356580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00c2cb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Extract and prepare text from PDF documents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00c2cb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PyPDF2 extraction · text cleaning · pre-processing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Raw PDF → structured text is the data foundation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579" name="CustomShape 13"/>
          <p:cNvSpPr/>
          <p:nvPr/>
        </p:nvSpPr>
        <p:spPr>
          <a:xfrm>
            <a:off x="164520" y="2167200"/>
            <a:ext cx="4278960" cy="1298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CustomShape 14"/>
          <p:cNvSpPr/>
          <p:nvPr/>
        </p:nvSpPr>
        <p:spPr>
          <a:xfrm>
            <a:off x="164520" y="216720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1" name="CustomShape 15"/>
          <p:cNvSpPr/>
          <p:nvPr/>
        </p:nvSpPr>
        <p:spPr>
          <a:xfrm>
            <a:off x="164520" y="2167200"/>
            <a:ext cx="566640" cy="255600"/>
          </a:xfrm>
          <a:prstGeom prst="rect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2" name="CustomShape 16"/>
          <p:cNvSpPr/>
          <p:nvPr/>
        </p:nvSpPr>
        <p:spPr>
          <a:xfrm>
            <a:off x="164520" y="2167200"/>
            <a:ext cx="5666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2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83" name="CustomShape 17"/>
          <p:cNvSpPr/>
          <p:nvPr/>
        </p:nvSpPr>
        <p:spPr>
          <a:xfrm>
            <a:off x="786240" y="2167200"/>
            <a:ext cx="34560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Embedding Generation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584" name="Image 1" descr="preencoded.png"/>
          <p:cNvPicPr/>
          <p:nvPr/>
        </p:nvPicPr>
        <p:blipFill>
          <a:blip r:embed="rId2"/>
          <a:stretch/>
        </p:blipFill>
        <p:spPr>
          <a:xfrm>
            <a:off x="255960" y="256932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585" name="CustomShape 18"/>
          <p:cNvSpPr/>
          <p:nvPr/>
        </p:nvSpPr>
        <p:spPr>
          <a:xfrm>
            <a:off x="603360" y="2477880"/>
            <a:ext cx="356580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34d399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Convert text chunks into vector representations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34d399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Embedding model · chunk batching · vector output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Each chunk = a point in high-dimensional semantic space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586" name="CustomShape 19"/>
          <p:cNvSpPr/>
          <p:nvPr/>
        </p:nvSpPr>
        <p:spPr>
          <a:xfrm>
            <a:off x="164520" y="3584520"/>
            <a:ext cx="4278960" cy="1298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CustomShape 20"/>
          <p:cNvSpPr/>
          <p:nvPr/>
        </p:nvSpPr>
        <p:spPr>
          <a:xfrm>
            <a:off x="164520" y="358452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CustomShape 21"/>
          <p:cNvSpPr/>
          <p:nvPr/>
        </p:nvSpPr>
        <p:spPr>
          <a:xfrm>
            <a:off x="164520" y="3584520"/>
            <a:ext cx="566640" cy="25560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9" name="CustomShape 22"/>
          <p:cNvSpPr/>
          <p:nvPr/>
        </p:nvSpPr>
        <p:spPr>
          <a:xfrm>
            <a:off x="164520" y="3584520"/>
            <a:ext cx="5666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3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90" name="CustomShape 23"/>
          <p:cNvSpPr/>
          <p:nvPr/>
        </p:nvSpPr>
        <p:spPr>
          <a:xfrm>
            <a:off x="786240" y="3584520"/>
            <a:ext cx="34560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Semantic Search Implementation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591" name="Image 2" descr="preencoded.png"/>
          <p:cNvPicPr/>
          <p:nvPr/>
        </p:nvPicPr>
        <p:blipFill>
          <a:blip r:embed="rId3"/>
          <a:stretch/>
        </p:blipFill>
        <p:spPr>
          <a:xfrm>
            <a:off x="255960" y="398664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592" name="CustomShape 24"/>
          <p:cNvSpPr/>
          <p:nvPr/>
        </p:nvSpPr>
        <p:spPr>
          <a:xfrm>
            <a:off x="603360" y="3895200"/>
            <a:ext cx="356580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Retrieve relevant chunks via similarity matching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Query embedding · cosine similarity · Top-K retrieval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Similarity &gt; keyword — context matters more than words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593" name="CustomShape 25"/>
          <p:cNvSpPr/>
          <p:nvPr/>
        </p:nvSpPr>
        <p:spPr>
          <a:xfrm>
            <a:off x="16452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4" name="CustomShape 26"/>
          <p:cNvSpPr/>
          <p:nvPr/>
        </p:nvSpPr>
        <p:spPr>
          <a:xfrm>
            <a:off x="16452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c2cb"/>
                </a:solidFill>
                <a:latin typeface="Trebuchet MS"/>
                <a:ea typeface="Trebuchet MS"/>
              </a:rPr>
              <a:t>Document Processing Pipeline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95" name="CustomShape 27"/>
          <p:cNvSpPr/>
          <p:nvPr/>
        </p:nvSpPr>
        <p:spPr>
          <a:xfrm>
            <a:off x="221292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CustomShape 28"/>
          <p:cNvSpPr/>
          <p:nvPr/>
        </p:nvSpPr>
        <p:spPr>
          <a:xfrm>
            <a:off x="221292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34d399"/>
                </a:solidFill>
                <a:latin typeface="Trebuchet MS"/>
                <a:ea typeface="Trebuchet MS"/>
              </a:rPr>
              <a:t>Embedding Creation Workflow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97" name="CustomShape 29"/>
          <p:cNvSpPr/>
          <p:nvPr/>
        </p:nvSpPr>
        <p:spPr>
          <a:xfrm>
            <a:off x="426096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8" name="CustomShape 30"/>
          <p:cNvSpPr/>
          <p:nvPr/>
        </p:nvSpPr>
        <p:spPr>
          <a:xfrm>
            <a:off x="426096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4a727"/>
                </a:solidFill>
                <a:latin typeface="Trebuchet MS"/>
                <a:ea typeface="Trebuchet MS"/>
              </a:rPr>
              <a:t>Similarity-Based Retrieval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599" name="CustomShape 31"/>
          <p:cNvSpPr/>
          <p:nvPr/>
        </p:nvSpPr>
        <p:spPr>
          <a:xfrm>
            <a:off x="630936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0" name="CustomShape 32"/>
          <p:cNvSpPr/>
          <p:nvPr/>
        </p:nvSpPr>
        <p:spPr>
          <a:xfrm>
            <a:off x="630936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a78bfa"/>
                </a:solidFill>
                <a:latin typeface="Trebuchet MS"/>
                <a:ea typeface="Trebuchet MS"/>
              </a:rPr>
              <a:t>Search Relevance Improvement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601" name="CustomShape 33"/>
          <p:cNvSpPr/>
          <p:nvPr/>
        </p:nvSpPr>
        <p:spPr>
          <a:xfrm>
            <a:off x="4608720" y="749880"/>
            <a:ext cx="4370400" cy="38584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2" name="CustomShape 34"/>
          <p:cNvSpPr/>
          <p:nvPr/>
        </p:nvSpPr>
        <p:spPr>
          <a:xfrm>
            <a:off x="4608720" y="804600"/>
            <a:ext cx="4370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7" strike="noStrike">
                <a:solidFill>
                  <a:srgbClr val="34d399"/>
                </a:solidFill>
                <a:latin typeface="Trebuchet MS"/>
                <a:ea typeface="Trebuchet MS"/>
              </a:rPr>
              <a:t>DOCUMENT INGESTION PIPELINE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603" name="CustomShape 35"/>
          <p:cNvSpPr/>
          <p:nvPr/>
        </p:nvSpPr>
        <p:spPr>
          <a:xfrm>
            <a:off x="5230440" y="111564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4" name="CustomShape 36"/>
          <p:cNvSpPr/>
          <p:nvPr/>
        </p:nvSpPr>
        <p:spPr>
          <a:xfrm>
            <a:off x="5212080" y="125280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5" name="CustomShape 37"/>
          <p:cNvSpPr/>
          <p:nvPr/>
        </p:nvSpPr>
        <p:spPr>
          <a:xfrm>
            <a:off x="5449680" y="115200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PDF Documents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06" name="CustomShape 38"/>
          <p:cNvSpPr/>
          <p:nvPr/>
        </p:nvSpPr>
        <p:spPr>
          <a:xfrm>
            <a:off x="5449680" y="136260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Source files input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607" name="CustomShape 39"/>
          <p:cNvSpPr/>
          <p:nvPr/>
        </p:nvSpPr>
        <p:spPr>
          <a:xfrm>
            <a:off x="6766560" y="155448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8" name="CustomShape 40"/>
          <p:cNvSpPr/>
          <p:nvPr/>
        </p:nvSpPr>
        <p:spPr>
          <a:xfrm>
            <a:off x="5230440" y="166428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9" name="CustomShape 41"/>
          <p:cNvSpPr/>
          <p:nvPr/>
        </p:nvSpPr>
        <p:spPr>
          <a:xfrm>
            <a:off x="5212080" y="1801440"/>
            <a:ext cx="164160" cy="16416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0" name="CustomShape 42"/>
          <p:cNvSpPr/>
          <p:nvPr/>
        </p:nvSpPr>
        <p:spPr>
          <a:xfrm>
            <a:off x="5449680" y="170064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Text Extraction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11" name="CustomShape 43"/>
          <p:cNvSpPr/>
          <p:nvPr/>
        </p:nvSpPr>
        <p:spPr>
          <a:xfrm>
            <a:off x="5449680" y="191124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PyPDF2 · pdfplumber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612" name="CustomShape 44"/>
          <p:cNvSpPr/>
          <p:nvPr/>
        </p:nvSpPr>
        <p:spPr>
          <a:xfrm>
            <a:off x="6766560" y="210312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3" name="CustomShape 45"/>
          <p:cNvSpPr/>
          <p:nvPr/>
        </p:nvSpPr>
        <p:spPr>
          <a:xfrm>
            <a:off x="5230440" y="221292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4" name="CustomShape 46"/>
          <p:cNvSpPr/>
          <p:nvPr/>
        </p:nvSpPr>
        <p:spPr>
          <a:xfrm>
            <a:off x="5212080" y="235008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5" name="CustomShape 47"/>
          <p:cNvSpPr/>
          <p:nvPr/>
        </p:nvSpPr>
        <p:spPr>
          <a:xfrm>
            <a:off x="5449680" y="224928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Chunking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16" name="CustomShape 48"/>
          <p:cNvSpPr/>
          <p:nvPr/>
        </p:nvSpPr>
        <p:spPr>
          <a:xfrm>
            <a:off x="5449680" y="245988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256–512 tokens · overlap 20%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617" name="CustomShape 49"/>
          <p:cNvSpPr/>
          <p:nvPr/>
        </p:nvSpPr>
        <p:spPr>
          <a:xfrm>
            <a:off x="6766560" y="265176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18" name="CustomShape 50"/>
          <p:cNvSpPr/>
          <p:nvPr/>
        </p:nvSpPr>
        <p:spPr>
          <a:xfrm>
            <a:off x="5230440" y="276156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34d399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19" name="CustomShape 51"/>
          <p:cNvSpPr/>
          <p:nvPr/>
        </p:nvSpPr>
        <p:spPr>
          <a:xfrm>
            <a:off x="5212080" y="2898720"/>
            <a:ext cx="164160" cy="164160"/>
          </a:xfrm>
          <a:prstGeom prst="ellipse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0" name="CustomShape 52"/>
          <p:cNvSpPr/>
          <p:nvPr/>
        </p:nvSpPr>
        <p:spPr>
          <a:xfrm>
            <a:off x="5449680" y="279792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Embedding Model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21" name="CustomShape 53"/>
          <p:cNvSpPr/>
          <p:nvPr/>
        </p:nvSpPr>
        <p:spPr>
          <a:xfrm>
            <a:off x="5449680" y="300852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text-embedding-ada / local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622" name="CustomShape 54"/>
          <p:cNvSpPr/>
          <p:nvPr/>
        </p:nvSpPr>
        <p:spPr>
          <a:xfrm>
            <a:off x="6766560" y="320040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3" name="CustomShape 55"/>
          <p:cNvSpPr/>
          <p:nvPr/>
        </p:nvSpPr>
        <p:spPr>
          <a:xfrm>
            <a:off x="5230440" y="331020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4" name="CustomShape 56"/>
          <p:cNvSpPr/>
          <p:nvPr/>
        </p:nvSpPr>
        <p:spPr>
          <a:xfrm>
            <a:off x="5212080" y="3447360"/>
            <a:ext cx="164160" cy="16416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5" name="CustomShape 57"/>
          <p:cNvSpPr/>
          <p:nvPr/>
        </p:nvSpPr>
        <p:spPr>
          <a:xfrm>
            <a:off x="5449680" y="334656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Vector Storage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26" name="CustomShape 58"/>
          <p:cNvSpPr/>
          <p:nvPr/>
        </p:nvSpPr>
        <p:spPr>
          <a:xfrm>
            <a:off x="5449680" y="355716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Chroma · FAISS · Pinecone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627" name="CustomShape 59"/>
          <p:cNvSpPr/>
          <p:nvPr/>
        </p:nvSpPr>
        <p:spPr>
          <a:xfrm>
            <a:off x="6766560" y="374904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8" name="CustomShape 60"/>
          <p:cNvSpPr/>
          <p:nvPr/>
        </p:nvSpPr>
        <p:spPr>
          <a:xfrm>
            <a:off x="5230440" y="385884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9" name="CustomShape 61"/>
          <p:cNvSpPr/>
          <p:nvPr/>
        </p:nvSpPr>
        <p:spPr>
          <a:xfrm>
            <a:off x="5212080" y="3996000"/>
            <a:ext cx="164160" cy="16416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0" name="CustomShape 62"/>
          <p:cNvSpPr/>
          <p:nvPr/>
        </p:nvSpPr>
        <p:spPr>
          <a:xfrm>
            <a:off x="5449680" y="389520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Semantic Search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31" name="CustomShape 63"/>
          <p:cNvSpPr/>
          <p:nvPr/>
        </p:nvSpPr>
        <p:spPr>
          <a:xfrm>
            <a:off x="5449680" y="410580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Query → cosine match → Top-K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632" name="CustomShape 64"/>
          <p:cNvSpPr/>
          <p:nvPr/>
        </p:nvSpPr>
        <p:spPr>
          <a:xfrm>
            <a:off x="4791600" y="4407480"/>
            <a:ext cx="4004640" cy="1825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3" name="CustomShape 65"/>
          <p:cNvSpPr/>
          <p:nvPr/>
        </p:nvSpPr>
        <p:spPr>
          <a:xfrm>
            <a:off x="4791600" y="4407480"/>
            <a:ext cx="400464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fffff"/>
                </a:solidFill>
                <a:latin typeface="Trebuchet MS"/>
                <a:ea typeface="Trebuchet MS"/>
              </a:rPr>
              <a:t>Relevant Document Chunks Retrieved for LLM Context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634" name="CustomShape 66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3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6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7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38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Mini Project – PDF Q&amp;A Chatbot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639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0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41" name="CustomShape 7"/>
          <p:cNvSpPr/>
          <p:nvPr/>
        </p:nvSpPr>
        <p:spPr>
          <a:xfrm>
            <a:off x="164520" y="749880"/>
            <a:ext cx="4315680" cy="138960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2" name="CustomShape 8"/>
          <p:cNvSpPr/>
          <p:nvPr/>
        </p:nvSpPr>
        <p:spPr>
          <a:xfrm>
            <a:off x="164520" y="749880"/>
            <a:ext cx="54360" cy="138960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643" name="Image 0" descr="preencoded.png"/>
          <p:cNvPicPr/>
          <p:nvPr/>
        </p:nvPicPr>
        <p:blipFill>
          <a:blip r:embed="rId1"/>
          <a:stretch/>
        </p:blipFill>
        <p:spPr>
          <a:xfrm>
            <a:off x="292680" y="82296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644" name="CustomShape 9"/>
          <p:cNvSpPr/>
          <p:nvPr/>
        </p:nvSpPr>
        <p:spPr>
          <a:xfrm>
            <a:off x="676800" y="795600"/>
            <a:ext cx="36572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Trebuchet MS"/>
                <a:ea typeface="Trebuchet MS"/>
              </a:rPr>
              <a:t>Project Overview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5" name="CustomShape 10"/>
          <p:cNvSpPr/>
          <p:nvPr/>
        </p:nvSpPr>
        <p:spPr>
          <a:xfrm>
            <a:off x="676800" y="1042560"/>
            <a:ext cx="3657240" cy="100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PDF-based Q&amp;A Chatbot using Groq API + RAG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PDF ingestion → text extraction → chunking → embeddings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Semantic search retrieves context · LLM generates answer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46" name="CustomShape 11"/>
          <p:cNvSpPr/>
          <p:nvPr/>
        </p:nvSpPr>
        <p:spPr>
          <a:xfrm>
            <a:off x="164520" y="2212920"/>
            <a:ext cx="4315680" cy="160884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7" name="CustomShape 12"/>
          <p:cNvSpPr/>
          <p:nvPr/>
        </p:nvSpPr>
        <p:spPr>
          <a:xfrm>
            <a:off x="164520" y="2212920"/>
            <a:ext cx="54360" cy="16088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8" name="CustomShape 13"/>
          <p:cNvSpPr/>
          <p:nvPr/>
        </p:nvSpPr>
        <p:spPr>
          <a:xfrm>
            <a:off x="292680" y="2240280"/>
            <a:ext cx="41144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2cb"/>
                </a:solidFill>
                <a:latin typeface="Trebuchet MS"/>
                <a:ea typeface="Trebuchet MS"/>
              </a:rPr>
              <a:t>Architecture Flow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9" name="CustomShape 14"/>
          <p:cNvSpPr/>
          <p:nvPr/>
        </p:nvSpPr>
        <p:spPr>
          <a:xfrm>
            <a:off x="2743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0" name="CustomShape 15"/>
          <p:cNvSpPr/>
          <p:nvPr/>
        </p:nvSpPr>
        <p:spPr>
          <a:xfrm>
            <a:off x="2743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PDF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51" name="CustomShape 16"/>
          <p:cNvSpPr/>
          <p:nvPr/>
        </p:nvSpPr>
        <p:spPr>
          <a:xfrm>
            <a:off x="649080" y="269748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2" name="CustomShape 17"/>
          <p:cNvSpPr/>
          <p:nvPr/>
        </p:nvSpPr>
        <p:spPr>
          <a:xfrm>
            <a:off x="7315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3" name="CustomShape 18"/>
          <p:cNvSpPr/>
          <p:nvPr/>
        </p:nvSpPr>
        <p:spPr>
          <a:xfrm>
            <a:off x="7315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Extract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54" name="CustomShape 19"/>
          <p:cNvSpPr/>
          <p:nvPr/>
        </p:nvSpPr>
        <p:spPr>
          <a:xfrm>
            <a:off x="1106280" y="269748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5" name="CustomShape 20"/>
          <p:cNvSpPr/>
          <p:nvPr/>
        </p:nvSpPr>
        <p:spPr>
          <a:xfrm>
            <a:off x="11887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6" name="CustomShape 21"/>
          <p:cNvSpPr/>
          <p:nvPr/>
        </p:nvSpPr>
        <p:spPr>
          <a:xfrm>
            <a:off x="11887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Chunk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57" name="CustomShape 22"/>
          <p:cNvSpPr/>
          <p:nvPr/>
        </p:nvSpPr>
        <p:spPr>
          <a:xfrm>
            <a:off x="1563480" y="269748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8" name="CustomShape 23"/>
          <p:cNvSpPr/>
          <p:nvPr/>
        </p:nvSpPr>
        <p:spPr>
          <a:xfrm>
            <a:off x="16459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9" name="CustomShape 24"/>
          <p:cNvSpPr/>
          <p:nvPr/>
        </p:nvSpPr>
        <p:spPr>
          <a:xfrm>
            <a:off x="16459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Embed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60" name="CustomShape 25"/>
          <p:cNvSpPr/>
          <p:nvPr/>
        </p:nvSpPr>
        <p:spPr>
          <a:xfrm>
            <a:off x="2020680" y="269748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1" name="CustomShape 26"/>
          <p:cNvSpPr/>
          <p:nvPr/>
        </p:nvSpPr>
        <p:spPr>
          <a:xfrm>
            <a:off x="21031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2" name="CustomShape 27"/>
          <p:cNvSpPr/>
          <p:nvPr/>
        </p:nvSpPr>
        <p:spPr>
          <a:xfrm>
            <a:off x="21031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Vector DB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63" name="CustomShape 28"/>
          <p:cNvSpPr/>
          <p:nvPr/>
        </p:nvSpPr>
        <p:spPr>
          <a:xfrm>
            <a:off x="2477880" y="269748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4" name="CustomShape 29"/>
          <p:cNvSpPr/>
          <p:nvPr/>
        </p:nvSpPr>
        <p:spPr>
          <a:xfrm>
            <a:off x="25603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5" name="CustomShape 30"/>
          <p:cNvSpPr/>
          <p:nvPr/>
        </p:nvSpPr>
        <p:spPr>
          <a:xfrm>
            <a:off x="25603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Search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66" name="CustomShape 31"/>
          <p:cNvSpPr/>
          <p:nvPr/>
        </p:nvSpPr>
        <p:spPr>
          <a:xfrm>
            <a:off x="2935080" y="269748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7" name="CustomShape 32"/>
          <p:cNvSpPr/>
          <p:nvPr/>
        </p:nvSpPr>
        <p:spPr>
          <a:xfrm>
            <a:off x="30175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8" name="CustomShape 33"/>
          <p:cNvSpPr/>
          <p:nvPr/>
        </p:nvSpPr>
        <p:spPr>
          <a:xfrm>
            <a:off x="30175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Context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69" name="CustomShape 34"/>
          <p:cNvSpPr/>
          <p:nvPr/>
        </p:nvSpPr>
        <p:spPr>
          <a:xfrm>
            <a:off x="3392280" y="269748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0" name="CustomShape 35"/>
          <p:cNvSpPr/>
          <p:nvPr/>
        </p:nvSpPr>
        <p:spPr>
          <a:xfrm>
            <a:off x="34747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1" name="CustomShape 36"/>
          <p:cNvSpPr/>
          <p:nvPr/>
        </p:nvSpPr>
        <p:spPr>
          <a:xfrm>
            <a:off x="34747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72" name="CustomShape 37"/>
          <p:cNvSpPr/>
          <p:nvPr/>
        </p:nvSpPr>
        <p:spPr>
          <a:xfrm>
            <a:off x="3849480" y="269748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3" name="CustomShape 38"/>
          <p:cNvSpPr/>
          <p:nvPr/>
        </p:nvSpPr>
        <p:spPr>
          <a:xfrm>
            <a:off x="3931920" y="2541960"/>
            <a:ext cx="365400" cy="347040"/>
          </a:xfrm>
          <a:prstGeom prst="rect">
            <a:avLst/>
          </a:prstGeom>
          <a:solidFill>
            <a:srgbClr val="1c3354"/>
          </a:solidFill>
          <a:ln w="1908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4" name="CustomShape 39"/>
          <p:cNvSpPr/>
          <p:nvPr/>
        </p:nvSpPr>
        <p:spPr>
          <a:xfrm>
            <a:off x="3931920" y="2541960"/>
            <a:ext cx="365400" cy="34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Answer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675" name="CustomShape 40"/>
          <p:cNvSpPr/>
          <p:nvPr/>
        </p:nvSpPr>
        <p:spPr>
          <a:xfrm>
            <a:off x="255960" y="2962800"/>
            <a:ext cx="416016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730" spc="-1" strike="noStrike">
                <a:solidFill>
                  <a:srgbClr val="9bb5c8"/>
                </a:solidFill>
                <a:latin typeface="Calibri"/>
                <a:ea typeface="Calibri"/>
              </a:rPr>
              <a:t>↑  </a:t>
            </a:r>
            <a:r>
              <a:rPr b="0" i="1" lang="en-US" sz="730" spc="-1" strike="noStrike">
                <a:solidFill>
                  <a:srgbClr val="9bb5c8"/>
                </a:solidFill>
                <a:latin typeface="Calibri"/>
                <a:ea typeface="Calibri"/>
              </a:rPr>
              <a:t>RAG loop: every question → fresh semantic retrieval → grounded answer</a:t>
            </a:r>
            <a:endParaRPr b="0" lang="en-IN" sz="730" spc="-1" strike="noStrike">
              <a:latin typeface="Arial"/>
            </a:endParaRPr>
          </a:p>
        </p:txBody>
      </p:sp>
      <p:sp>
        <p:nvSpPr>
          <p:cNvPr id="676" name="CustomShape 41"/>
          <p:cNvSpPr/>
          <p:nvPr/>
        </p:nvSpPr>
        <p:spPr>
          <a:xfrm>
            <a:off x="164520" y="3895200"/>
            <a:ext cx="4315680" cy="10054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7" name="CustomShape 42"/>
          <p:cNvSpPr/>
          <p:nvPr/>
        </p:nvSpPr>
        <p:spPr>
          <a:xfrm>
            <a:off x="164520" y="3895200"/>
            <a:ext cx="54360" cy="100548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8" name="CustomShape 43"/>
          <p:cNvSpPr/>
          <p:nvPr/>
        </p:nvSpPr>
        <p:spPr>
          <a:xfrm>
            <a:off x="292680" y="3913560"/>
            <a:ext cx="4114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4a727"/>
                </a:solidFill>
                <a:latin typeface="Trebuchet MS"/>
                <a:ea typeface="Trebuchet MS"/>
              </a:rPr>
              <a:t>Challenges &amp; Solutions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79" name="CustomShape 44"/>
          <p:cNvSpPr/>
          <p:nvPr/>
        </p:nvSpPr>
        <p:spPr>
          <a:xfrm>
            <a:off x="255960" y="4151520"/>
            <a:ext cx="4132800" cy="20088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0" name="CustomShape 45"/>
          <p:cNvSpPr/>
          <p:nvPr/>
        </p:nvSpPr>
        <p:spPr>
          <a:xfrm>
            <a:off x="311040" y="4169520"/>
            <a:ext cx="146268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4a727"/>
                </a:solidFill>
                <a:latin typeface="Calibri"/>
                <a:ea typeface="Calibri"/>
              </a:rPr>
              <a:t>Chunking strategy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681" name="CustomShape 46"/>
          <p:cNvSpPr/>
          <p:nvPr/>
        </p:nvSpPr>
        <p:spPr>
          <a:xfrm>
            <a:off x="1810440" y="4206240"/>
            <a:ext cx="36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2" name="CustomShape 47"/>
          <p:cNvSpPr/>
          <p:nvPr/>
        </p:nvSpPr>
        <p:spPr>
          <a:xfrm>
            <a:off x="1901880" y="4169520"/>
            <a:ext cx="237708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e8f4f8"/>
                </a:solidFill>
                <a:latin typeface="Calibri"/>
                <a:ea typeface="Calibri"/>
              </a:rPr>
              <a:t>Tested fixed-size + overlap for best retrieval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683" name="CustomShape 48"/>
          <p:cNvSpPr/>
          <p:nvPr/>
        </p:nvSpPr>
        <p:spPr>
          <a:xfrm>
            <a:off x="255960" y="4389120"/>
            <a:ext cx="4132800" cy="200880"/>
          </a:xfrm>
          <a:prstGeom prst="rect">
            <a:avLst/>
          </a:prstGeom>
          <a:solidFill>
            <a:srgbClr val="0d1b2a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4" name="CustomShape 49"/>
          <p:cNvSpPr/>
          <p:nvPr/>
        </p:nvSpPr>
        <p:spPr>
          <a:xfrm>
            <a:off x="311040" y="4407480"/>
            <a:ext cx="146268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4a727"/>
                </a:solidFill>
                <a:latin typeface="Calibri"/>
                <a:ea typeface="Calibri"/>
              </a:rPr>
              <a:t>Context selection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685" name="CustomShape 50"/>
          <p:cNvSpPr/>
          <p:nvPr/>
        </p:nvSpPr>
        <p:spPr>
          <a:xfrm>
            <a:off x="1810440" y="4443840"/>
            <a:ext cx="36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6" name="CustomShape 51"/>
          <p:cNvSpPr/>
          <p:nvPr/>
        </p:nvSpPr>
        <p:spPr>
          <a:xfrm>
            <a:off x="1901880" y="4407480"/>
            <a:ext cx="237708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e8f4f8"/>
                </a:solidFill>
                <a:latin typeface="Calibri"/>
                <a:ea typeface="Calibri"/>
              </a:rPr>
              <a:t>Top-K cosine match → filtered by metadata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687" name="CustomShape 52"/>
          <p:cNvSpPr/>
          <p:nvPr/>
        </p:nvSpPr>
        <p:spPr>
          <a:xfrm>
            <a:off x="255960" y="4626720"/>
            <a:ext cx="4132800" cy="20088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88" name="CustomShape 53"/>
          <p:cNvSpPr/>
          <p:nvPr/>
        </p:nvSpPr>
        <p:spPr>
          <a:xfrm>
            <a:off x="311040" y="4645080"/>
            <a:ext cx="146268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4a727"/>
                </a:solidFill>
                <a:latin typeface="Calibri"/>
                <a:ea typeface="Calibri"/>
              </a:rPr>
              <a:t>Search accuracy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689" name="CustomShape 54"/>
          <p:cNvSpPr/>
          <p:nvPr/>
        </p:nvSpPr>
        <p:spPr>
          <a:xfrm>
            <a:off x="1810440" y="4681800"/>
            <a:ext cx="36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0" name="CustomShape 55"/>
          <p:cNvSpPr/>
          <p:nvPr/>
        </p:nvSpPr>
        <p:spPr>
          <a:xfrm>
            <a:off x="1901880" y="4645080"/>
            <a:ext cx="237708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e8f4f8"/>
                </a:solidFill>
                <a:latin typeface="Calibri"/>
                <a:ea typeface="Calibri"/>
              </a:rPr>
              <a:t>Embedding model choice critical for quality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691" name="CustomShape 56"/>
          <p:cNvSpPr/>
          <p:nvPr/>
        </p:nvSpPr>
        <p:spPr>
          <a:xfrm>
            <a:off x="4645080" y="749880"/>
            <a:ext cx="4334040" cy="4151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2" name="CustomShape 57"/>
          <p:cNvSpPr/>
          <p:nvPr/>
        </p:nvSpPr>
        <p:spPr>
          <a:xfrm>
            <a:off x="4645080" y="749880"/>
            <a:ext cx="433404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3" name="CustomShape 58"/>
          <p:cNvSpPr/>
          <p:nvPr/>
        </p:nvSpPr>
        <p:spPr>
          <a:xfrm>
            <a:off x="4645080" y="749880"/>
            <a:ext cx="43340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8" strike="noStrike">
                <a:solidFill>
                  <a:srgbClr val="00c2cb"/>
                </a:solidFill>
                <a:latin typeface="Trebuchet MS"/>
                <a:ea typeface="Trebuchet MS"/>
              </a:rPr>
              <a:t>KEY TAKEAWAYS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94" name="CustomShape 59"/>
          <p:cNvSpPr/>
          <p:nvPr/>
        </p:nvSpPr>
        <p:spPr>
          <a:xfrm>
            <a:off x="4809600" y="108828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5" name="CustomShape 60"/>
          <p:cNvSpPr/>
          <p:nvPr/>
        </p:nvSpPr>
        <p:spPr>
          <a:xfrm>
            <a:off x="4827960" y="1197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6" name="CustomShape 61"/>
          <p:cNvSpPr/>
          <p:nvPr/>
        </p:nvSpPr>
        <p:spPr>
          <a:xfrm>
            <a:off x="4827960" y="1197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697" name="Image 1" descr="preencoded.png"/>
          <p:cNvPicPr/>
          <p:nvPr/>
        </p:nvPicPr>
        <p:blipFill>
          <a:blip r:embed="rId2"/>
          <a:stretch/>
        </p:blipFill>
        <p:spPr>
          <a:xfrm>
            <a:off x="5193720" y="122544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698" name="CustomShape 62"/>
          <p:cNvSpPr/>
          <p:nvPr/>
        </p:nvSpPr>
        <p:spPr>
          <a:xfrm>
            <a:off x="5486400" y="1143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Embeddings &amp; Semantic Search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699" name="CustomShape 63"/>
          <p:cNvSpPr/>
          <p:nvPr/>
        </p:nvSpPr>
        <p:spPr>
          <a:xfrm>
            <a:off x="5486400" y="136260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Text as vectors; similarity over keywords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700" name="CustomShape 64"/>
          <p:cNvSpPr/>
          <p:nvPr/>
        </p:nvSpPr>
        <p:spPr>
          <a:xfrm>
            <a:off x="4809600" y="1654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1" name="CustomShape 65"/>
          <p:cNvSpPr/>
          <p:nvPr/>
        </p:nvSpPr>
        <p:spPr>
          <a:xfrm>
            <a:off x="4827960" y="1764720"/>
            <a:ext cx="292320" cy="292320"/>
          </a:xfrm>
          <a:prstGeom prst="ellipse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2" name="CustomShape 66"/>
          <p:cNvSpPr/>
          <p:nvPr/>
        </p:nvSpPr>
        <p:spPr>
          <a:xfrm>
            <a:off x="4827960" y="1764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703" name="Image 2" descr="preencoded.png"/>
          <p:cNvPicPr/>
          <p:nvPr/>
        </p:nvPicPr>
        <p:blipFill>
          <a:blip r:embed="rId3"/>
          <a:stretch/>
        </p:blipFill>
        <p:spPr>
          <a:xfrm>
            <a:off x="5193720" y="1792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704" name="CustomShape 67"/>
          <p:cNvSpPr/>
          <p:nvPr/>
        </p:nvSpPr>
        <p:spPr>
          <a:xfrm>
            <a:off x="5486400" y="1710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Vector Database Fundamentals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05" name="CustomShape 68"/>
          <p:cNvSpPr/>
          <p:nvPr/>
        </p:nvSpPr>
        <p:spPr>
          <a:xfrm>
            <a:off x="5486400" y="1929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Chroma, FAISS, Pinecone — built for speed at scale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706" name="CustomShape 69"/>
          <p:cNvSpPr/>
          <p:nvPr/>
        </p:nvSpPr>
        <p:spPr>
          <a:xfrm>
            <a:off x="4809600" y="2221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7" name="CustomShape 70"/>
          <p:cNvSpPr/>
          <p:nvPr/>
        </p:nvSpPr>
        <p:spPr>
          <a:xfrm>
            <a:off x="4827960" y="2331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8" name="CustomShape 71"/>
          <p:cNvSpPr/>
          <p:nvPr/>
        </p:nvSpPr>
        <p:spPr>
          <a:xfrm>
            <a:off x="4827960" y="2331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709" name="Image 3" descr="preencoded.png"/>
          <p:cNvPicPr/>
          <p:nvPr/>
        </p:nvPicPr>
        <p:blipFill>
          <a:blip r:embed="rId4"/>
          <a:stretch/>
        </p:blipFill>
        <p:spPr>
          <a:xfrm>
            <a:off x="5193720" y="2359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710" name="CustomShape 72"/>
          <p:cNvSpPr/>
          <p:nvPr/>
        </p:nvSpPr>
        <p:spPr>
          <a:xfrm>
            <a:off x="5486400" y="2277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Retrieval Systems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11" name="CustomShape 73"/>
          <p:cNvSpPr/>
          <p:nvPr/>
        </p:nvSpPr>
        <p:spPr>
          <a:xfrm>
            <a:off x="5486400" y="2496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Cosine similarity · Top-K · metadata filtering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712" name="CustomShape 74"/>
          <p:cNvSpPr/>
          <p:nvPr/>
        </p:nvSpPr>
        <p:spPr>
          <a:xfrm>
            <a:off x="4809600" y="2788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3" name="CustomShape 75"/>
          <p:cNvSpPr/>
          <p:nvPr/>
        </p:nvSpPr>
        <p:spPr>
          <a:xfrm>
            <a:off x="4827960" y="2898720"/>
            <a:ext cx="292320" cy="29232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4" name="CustomShape 76"/>
          <p:cNvSpPr/>
          <p:nvPr/>
        </p:nvSpPr>
        <p:spPr>
          <a:xfrm>
            <a:off x="4827960" y="2898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4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715" name="Image 4" descr="preencoded.png"/>
          <p:cNvPicPr/>
          <p:nvPr/>
        </p:nvPicPr>
        <p:blipFill>
          <a:blip r:embed="rId5"/>
          <a:stretch/>
        </p:blipFill>
        <p:spPr>
          <a:xfrm>
            <a:off x="5193720" y="2926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716" name="CustomShape 77"/>
          <p:cNvSpPr/>
          <p:nvPr/>
        </p:nvSpPr>
        <p:spPr>
          <a:xfrm>
            <a:off x="5486400" y="2843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RAG Architecture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17" name="CustomShape 78"/>
          <p:cNvSpPr/>
          <p:nvPr/>
        </p:nvSpPr>
        <p:spPr>
          <a:xfrm>
            <a:off x="5486400" y="3063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Grounded answers; hallucination dramatically reduced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718" name="CustomShape 79"/>
          <p:cNvSpPr/>
          <p:nvPr/>
        </p:nvSpPr>
        <p:spPr>
          <a:xfrm>
            <a:off x="4809600" y="3355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19" name="CustomShape 80"/>
          <p:cNvSpPr/>
          <p:nvPr/>
        </p:nvSpPr>
        <p:spPr>
          <a:xfrm>
            <a:off x="4827960" y="3465720"/>
            <a:ext cx="292320" cy="292320"/>
          </a:xfrm>
          <a:prstGeom prst="ellipse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0" name="CustomShape 81"/>
          <p:cNvSpPr/>
          <p:nvPr/>
        </p:nvSpPr>
        <p:spPr>
          <a:xfrm>
            <a:off x="4827960" y="3465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5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721" name="Image 5" descr="preencoded.png"/>
          <p:cNvPicPr/>
          <p:nvPr/>
        </p:nvPicPr>
        <p:blipFill>
          <a:blip r:embed="rId6"/>
          <a:stretch/>
        </p:blipFill>
        <p:spPr>
          <a:xfrm>
            <a:off x="5193720" y="3493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722" name="CustomShape 82"/>
          <p:cNvSpPr/>
          <p:nvPr/>
        </p:nvSpPr>
        <p:spPr>
          <a:xfrm>
            <a:off x="5486400" y="3410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Enterprise Knowledge Assistants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23" name="CustomShape 83"/>
          <p:cNvSpPr/>
          <p:nvPr/>
        </p:nvSpPr>
        <p:spPr>
          <a:xfrm>
            <a:off x="5486400" y="3630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Internal docs · policy search · contract review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724" name="CustomShape 84"/>
          <p:cNvSpPr/>
          <p:nvPr/>
        </p:nvSpPr>
        <p:spPr>
          <a:xfrm>
            <a:off x="4809600" y="3922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5" name="CustomShape 85"/>
          <p:cNvSpPr/>
          <p:nvPr/>
        </p:nvSpPr>
        <p:spPr>
          <a:xfrm>
            <a:off x="4827960" y="4032360"/>
            <a:ext cx="292320" cy="29232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26" name="CustomShape 86"/>
          <p:cNvSpPr/>
          <p:nvPr/>
        </p:nvSpPr>
        <p:spPr>
          <a:xfrm>
            <a:off x="4827960" y="403236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6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727" name="Image 6" descr="preencoded.png"/>
          <p:cNvPicPr/>
          <p:nvPr/>
        </p:nvPicPr>
        <p:blipFill>
          <a:blip r:embed="rId7"/>
          <a:stretch/>
        </p:blipFill>
        <p:spPr>
          <a:xfrm>
            <a:off x="5193720" y="4060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728" name="CustomShape 87"/>
          <p:cNvSpPr/>
          <p:nvPr/>
        </p:nvSpPr>
        <p:spPr>
          <a:xfrm>
            <a:off x="5486400" y="3977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AI-Powered Document Search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29" name="CustomShape 88"/>
          <p:cNvSpPr/>
          <p:nvPr/>
        </p:nvSpPr>
        <p:spPr>
          <a:xfrm>
            <a:off x="5486400" y="4197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PDF → embed → retrieve → answer production pipeline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730" name="CustomShape 89"/>
          <p:cNvSpPr/>
          <p:nvPr/>
        </p:nvSpPr>
        <p:spPr>
          <a:xfrm>
            <a:off x="4809600" y="4260960"/>
            <a:ext cx="4004640" cy="566640"/>
          </a:xfrm>
          <a:prstGeom prst="rect">
            <a:avLst/>
          </a:prstGeom>
          <a:solidFill>
            <a:srgbClr val="007f85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1" name="CustomShape 90"/>
          <p:cNvSpPr/>
          <p:nvPr/>
        </p:nvSpPr>
        <p:spPr>
          <a:xfrm>
            <a:off x="4809600" y="4260960"/>
            <a:ext cx="4004640" cy="56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4a727"/>
                </a:solidFill>
                <a:latin typeface="Trebuchet MS"/>
                <a:ea typeface="Trebuchet MS"/>
              </a:rPr>
              <a:t>NEXT →  </a:t>
            </a: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Day 4: AI Agents &amp; Tool Calling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2" name="CustomShape 91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3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4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5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Trebuchet MS"/>
                <a:ea typeface="Trebuchet MS"/>
              </a:rPr>
              <a:t>DAY 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6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AI Agents &amp; Tool Calling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737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8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739" name="CustomShape 7"/>
          <p:cNvSpPr/>
          <p:nvPr/>
        </p:nvSpPr>
        <p:spPr>
          <a:xfrm>
            <a:off x="164520" y="749880"/>
            <a:ext cx="5284800" cy="95076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0" name="CustomShape 8"/>
          <p:cNvSpPr/>
          <p:nvPr/>
        </p:nvSpPr>
        <p:spPr>
          <a:xfrm>
            <a:off x="164520" y="749880"/>
            <a:ext cx="63720" cy="950760"/>
          </a:xfrm>
          <a:prstGeom prst="rect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41" name="Image 0" descr="preencoded.png"/>
          <p:cNvPicPr/>
          <p:nvPr/>
        </p:nvPicPr>
        <p:blipFill>
          <a:blip r:embed="rId1"/>
          <a:stretch/>
        </p:blipFill>
        <p:spPr>
          <a:xfrm>
            <a:off x="301680" y="97848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742" name="CustomShape 9"/>
          <p:cNvSpPr/>
          <p:nvPr/>
        </p:nvSpPr>
        <p:spPr>
          <a:xfrm>
            <a:off x="713160" y="84132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e9af1"/>
                </a:solidFill>
                <a:latin typeface="Trebuchet MS"/>
                <a:ea typeface="Trebuchet MS"/>
              </a:rPr>
              <a:t>AI Agent Fundamentals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43" name="CustomShape 10"/>
          <p:cNvSpPr/>
          <p:nvPr/>
        </p:nvSpPr>
        <p:spPr>
          <a:xfrm>
            <a:off x="713160" y="1115640"/>
            <a:ext cx="2788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What is an AI Agent: intelligent autonomous system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Architecture &amp; Components: reasoning loop, tool access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744" name="CustomShape 11"/>
          <p:cNvSpPr/>
          <p:nvPr/>
        </p:nvSpPr>
        <p:spPr>
          <a:xfrm>
            <a:off x="3538800" y="102420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5" name="CustomShape 12"/>
          <p:cNvSpPr/>
          <p:nvPr/>
        </p:nvSpPr>
        <p:spPr>
          <a:xfrm>
            <a:off x="3538800" y="102420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Core of autonomous AI systems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46" name="CustomShape 13"/>
          <p:cNvSpPr/>
          <p:nvPr/>
        </p:nvSpPr>
        <p:spPr>
          <a:xfrm>
            <a:off x="164520" y="1755720"/>
            <a:ext cx="5284800" cy="95076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7" name="CustomShape 14"/>
          <p:cNvSpPr/>
          <p:nvPr/>
        </p:nvSpPr>
        <p:spPr>
          <a:xfrm>
            <a:off x="164520" y="1755720"/>
            <a:ext cx="63720" cy="95076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48" name="Image 1" descr="preencoded.png"/>
          <p:cNvPicPr/>
          <p:nvPr/>
        </p:nvPicPr>
        <p:blipFill>
          <a:blip r:embed="rId2"/>
          <a:stretch/>
        </p:blipFill>
        <p:spPr>
          <a:xfrm>
            <a:off x="301680" y="198432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749" name="CustomShape 15"/>
          <p:cNvSpPr/>
          <p:nvPr/>
        </p:nvSpPr>
        <p:spPr>
          <a:xfrm>
            <a:off x="713160" y="184716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Decision Making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50" name="CustomShape 16"/>
          <p:cNvSpPr/>
          <p:nvPr/>
        </p:nvSpPr>
        <p:spPr>
          <a:xfrm>
            <a:off x="713160" y="2121480"/>
            <a:ext cx="2788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Planning &amp; Reasoning: breaking down complex tasks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Task Execution: step-by-step autonomy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751" name="CustomShape 17"/>
          <p:cNvSpPr/>
          <p:nvPr/>
        </p:nvSpPr>
        <p:spPr>
          <a:xfrm>
            <a:off x="3538800" y="203004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2" name="CustomShape 18"/>
          <p:cNvSpPr/>
          <p:nvPr/>
        </p:nvSpPr>
        <p:spPr>
          <a:xfrm>
            <a:off x="3538800" y="203004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Enables intelligent action selection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53" name="CustomShape 19"/>
          <p:cNvSpPr/>
          <p:nvPr/>
        </p:nvSpPr>
        <p:spPr>
          <a:xfrm>
            <a:off x="164520" y="2761560"/>
            <a:ext cx="5284800" cy="95076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4" name="CustomShape 20"/>
          <p:cNvSpPr/>
          <p:nvPr/>
        </p:nvSpPr>
        <p:spPr>
          <a:xfrm>
            <a:off x="164520" y="2761560"/>
            <a:ext cx="63720" cy="950760"/>
          </a:xfrm>
          <a:prstGeom prst="rect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55" name="Image 2" descr="preencoded.png"/>
          <p:cNvPicPr/>
          <p:nvPr/>
        </p:nvPicPr>
        <p:blipFill>
          <a:blip r:embed="rId3"/>
          <a:stretch/>
        </p:blipFill>
        <p:spPr>
          <a:xfrm>
            <a:off x="301680" y="299016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756" name="CustomShape 21"/>
          <p:cNvSpPr/>
          <p:nvPr/>
        </p:nvSpPr>
        <p:spPr>
          <a:xfrm>
            <a:off x="713160" y="285300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e9af1"/>
                </a:solidFill>
                <a:latin typeface="Trebuchet MS"/>
                <a:ea typeface="Trebuchet MS"/>
              </a:rPr>
              <a:t>Tool Integration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57" name="CustomShape 22"/>
          <p:cNvSpPr/>
          <p:nvPr/>
        </p:nvSpPr>
        <p:spPr>
          <a:xfrm>
            <a:off x="713160" y="3127320"/>
            <a:ext cx="2788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Tool Calling &amp; Function Calling: LLM → external functions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External Tool Usage: APIs, databases, services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758" name="CustomShape 23"/>
          <p:cNvSpPr/>
          <p:nvPr/>
        </p:nvSpPr>
        <p:spPr>
          <a:xfrm>
            <a:off x="3538800" y="303588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9" name="CustomShape 24"/>
          <p:cNvSpPr/>
          <p:nvPr/>
        </p:nvSpPr>
        <p:spPr>
          <a:xfrm>
            <a:off x="3538800" y="303588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Extends AI beyond text generation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60" name="CustomShape 25"/>
          <p:cNvSpPr/>
          <p:nvPr/>
        </p:nvSpPr>
        <p:spPr>
          <a:xfrm>
            <a:off x="164520" y="3767400"/>
            <a:ext cx="5284800" cy="95076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1" name="CustomShape 26"/>
          <p:cNvSpPr/>
          <p:nvPr/>
        </p:nvSpPr>
        <p:spPr>
          <a:xfrm>
            <a:off x="164520" y="3767400"/>
            <a:ext cx="63720" cy="950760"/>
          </a:xfrm>
          <a:prstGeom prst="rect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762" name="Image 3" descr="preencoded.png"/>
          <p:cNvPicPr/>
          <p:nvPr/>
        </p:nvPicPr>
        <p:blipFill>
          <a:blip r:embed="rId4"/>
          <a:stretch/>
        </p:blipFill>
        <p:spPr>
          <a:xfrm>
            <a:off x="301680" y="3996000"/>
            <a:ext cx="310680" cy="310680"/>
          </a:xfrm>
          <a:prstGeom prst="rect">
            <a:avLst/>
          </a:prstGeom>
          <a:ln>
            <a:noFill/>
          </a:ln>
        </p:spPr>
      </p:pic>
      <p:sp>
        <p:nvSpPr>
          <p:cNvPr id="763" name="CustomShape 27"/>
          <p:cNvSpPr/>
          <p:nvPr/>
        </p:nvSpPr>
        <p:spPr>
          <a:xfrm>
            <a:off x="713160" y="385884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4d399"/>
                </a:solidFill>
                <a:latin typeface="Trebuchet MS"/>
                <a:ea typeface="Trebuchet MS"/>
              </a:rPr>
              <a:t>Agent Intelligence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764" name="CustomShape 28"/>
          <p:cNvSpPr/>
          <p:nvPr/>
        </p:nvSpPr>
        <p:spPr>
          <a:xfrm>
            <a:off x="713160" y="4133160"/>
            <a:ext cx="27885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Memory Basics: conversation history &amp; state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ReAct: Reasoning + Acting framework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765" name="CustomShape 29"/>
          <p:cNvSpPr/>
          <p:nvPr/>
        </p:nvSpPr>
        <p:spPr>
          <a:xfrm>
            <a:off x="3538800" y="404172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6" name="CustomShape 30"/>
          <p:cNvSpPr/>
          <p:nvPr/>
        </p:nvSpPr>
        <p:spPr>
          <a:xfrm>
            <a:off x="3538800" y="404172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Stateful, contextual decision-making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67" name="CustomShape 31"/>
          <p:cNvSpPr/>
          <p:nvPr/>
        </p:nvSpPr>
        <p:spPr>
          <a:xfrm>
            <a:off x="5614560" y="749880"/>
            <a:ext cx="3364560" cy="43156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8" name="CustomShape 32"/>
          <p:cNvSpPr/>
          <p:nvPr/>
        </p:nvSpPr>
        <p:spPr>
          <a:xfrm>
            <a:off x="5614560" y="804600"/>
            <a:ext cx="3364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48" strike="noStrike">
                <a:solidFill>
                  <a:srgbClr val="4e9af1"/>
                </a:solidFill>
                <a:latin typeface="Trebuchet MS"/>
                <a:ea typeface="Trebuchet MS"/>
              </a:rPr>
              <a:t>AGENT FLOW ARCHITECTURE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769" name="CustomShape 33"/>
          <p:cNvSpPr/>
          <p:nvPr/>
        </p:nvSpPr>
        <p:spPr>
          <a:xfrm>
            <a:off x="5970960" y="113400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0" name="CustomShape 34"/>
          <p:cNvSpPr/>
          <p:nvPr/>
        </p:nvSpPr>
        <p:spPr>
          <a:xfrm>
            <a:off x="5952600" y="127116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1" name="CustomShape 35"/>
          <p:cNvSpPr/>
          <p:nvPr/>
        </p:nvSpPr>
        <p:spPr>
          <a:xfrm>
            <a:off x="6172200" y="1170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User Query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72" name="CustomShape 36"/>
          <p:cNvSpPr/>
          <p:nvPr/>
        </p:nvSpPr>
        <p:spPr>
          <a:xfrm>
            <a:off x="6172200" y="1380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Natural language input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73" name="CustomShape 37"/>
          <p:cNvSpPr/>
          <p:nvPr/>
        </p:nvSpPr>
        <p:spPr>
          <a:xfrm>
            <a:off x="7269480" y="157284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4" name="CustomShape 38"/>
          <p:cNvSpPr/>
          <p:nvPr/>
        </p:nvSpPr>
        <p:spPr>
          <a:xfrm>
            <a:off x="5970960" y="1700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5" name="CustomShape 39"/>
          <p:cNvSpPr/>
          <p:nvPr/>
        </p:nvSpPr>
        <p:spPr>
          <a:xfrm>
            <a:off x="5952600" y="1837800"/>
            <a:ext cx="164160" cy="16416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6" name="CustomShape 40"/>
          <p:cNvSpPr/>
          <p:nvPr/>
        </p:nvSpPr>
        <p:spPr>
          <a:xfrm>
            <a:off x="6172200" y="1737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Agent Processing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77" name="CustomShape 41"/>
          <p:cNvSpPr/>
          <p:nvPr/>
        </p:nvSpPr>
        <p:spPr>
          <a:xfrm>
            <a:off x="6172200" y="1947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Understanding &amp; planning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78" name="CustomShape 42"/>
          <p:cNvSpPr/>
          <p:nvPr/>
        </p:nvSpPr>
        <p:spPr>
          <a:xfrm>
            <a:off x="7269480" y="213984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9" name="CustomShape 43"/>
          <p:cNvSpPr/>
          <p:nvPr/>
        </p:nvSpPr>
        <p:spPr>
          <a:xfrm>
            <a:off x="5970960" y="2267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0" name="CustomShape 44"/>
          <p:cNvSpPr/>
          <p:nvPr/>
        </p:nvSpPr>
        <p:spPr>
          <a:xfrm>
            <a:off x="5952600" y="240480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1" name="CustomShape 45"/>
          <p:cNvSpPr/>
          <p:nvPr/>
        </p:nvSpPr>
        <p:spPr>
          <a:xfrm>
            <a:off x="6172200" y="2304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Reasoning Loop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82" name="CustomShape 46"/>
          <p:cNvSpPr/>
          <p:nvPr/>
        </p:nvSpPr>
        <p:spPr>
          <a:xfrm>
            <a:off x="6172200" y="2514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Thought → Action → Result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83" name="CustomShape 47"/>
          <p:cNvSpPr/>
          <p:nvPr/>
        </p:nvSpPr>
        <p:spPr>
          <a:xfrm>
            <a:off x="7269480" y="2706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4" name="CustomShape 48"/>
          <p:cNvSpPr/>
          <p:nvPr/>
        </p:nvSpPr>
        <p:spPr>
          <a:xfrm>
            <a:off x="5970960" y="2834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85" name="CustomShape 49"/>
          <p:cNvSpPr/>
          <p:nvPr/>
        </p:nvSpPr>
        <p:spPr>
          <a:xfrm>
            <a:off x="5952600" y="2971800"/>
            <a:ext cx="164160" cy="16416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6" name="CustomShape 50"/>
          <p:cNvSpPr/>
          <p:nvPr/>
        </p:nvSpPr>
        <p:spPr>
          <a:xfrm>
            <a:off x="6172200" y="2871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Tool Selection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87" name="CustomShape 51"/>
          <p:cNvSpPr/>
          <p:nvPr/>
        </p:nvSpPr>
        <p:spPr>
          <a:xfrm>
            <a:off x="6172200" y="3081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Which tool to call?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88" name="CustomShape 52"/>
          <p:cNvSpPr/>
          <p:nvPr/>
        </p:nvSpPr>
        <p:spPr>
          <a:xfrm>
            <a:off x="7269480" y="3273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9" name="CustomShape 53"/>
          <p:cNvSpPr/>
          <p:nvPr/>
        </p:nvSpPr>
        <p:spPr>
          <a:xfrm>
            <a:off x="5970960" y="3401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0" name="CustomShape 54"/>
          <p:cNvSpPr/>
          <p:nvPr/>
        </p:nvSpPr>
        <p:spPr>
          <a:xfrm>
            <a:off x="5952600" y="353880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1" name="CustomShape 55"/>
          <p:cNvSpPr/>
          <p:nvPr/>
        </p:nvSpPr>
        <p:spPr>
          <a:xfrm>
            <a:off x="6172200" y="343800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Tool Execution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92" name="CustomShape 56"/>
          <p:cNvSpPr/>
          <p:nvPr/>
        </p:nvSpPr>
        <p:spPr>
          <a:xfrm>
            <a:off x="6172200" y="3648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Calculator / Search / API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93" name="CustomShape 57"/>
          <p:cNvSpPr/>
          <p:nvPr/>
        </p:nvSpPr>
        <p:spPr>
          <a:xfrm>
            <a:off x="7269480" y="3840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4" name="CustomShape 58"/>
          <p:cNvSpPr/>
          <p:nvPr/>
        </p:nvSpPr>
        <p:spPr>
          <a:xfrm>
            <a:off x="5970960" y="3968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5" name="CustomShape 59"/>
          <p:cNvSpPr/>
          <p:nvPr/>
        </p:nvSpPr>
        <p:spPr>
          <a:xfrm>
            <a:off x="5952600" y="4105800"/>
            <a:ext cx="164160" cy="16416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6" name="CustomShape 60"/>
          <p:cNvSpPr/>
          <p:nvPr/>
        </p:nvSpPr>
        <p:spPr>
          <a:xfrm>
            <a:off x="6172200" y="400500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Response Generation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797" name="CustomShape 61"/>
          <p:cNvSpPr/>
          <p:nvPr/>
        </p:nvSpPr>
        <p:spPr>
          <a:xfrm>
            <a:off x="6172200" y="421524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Synthesised answer to user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798" name="CustomShape 62"/>
          <p:cNvSpPr/>
          <p:nvPr/>
        </p:nvSpPr>
        <p:spPr>
          <a:xfrm>
            <a:off x="5815440" y="4663440"/>
            <a:ext cx="2706120" cy="237240"/>
          </a:xfrm>
          <a:prstGeom prst="rect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99" name="CustomShape 63"/>
          <p:cNvSpPr/>
          <p:nvPr/>
        </p:nvSpPr>
        <p:spPr>
          <a:xfrm>
            <a:off x="5815440" y="4663440"/>
            <a:ext cx="27061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fffff"/>
                </a:solidFill>
                <a:latin typeface="Trebuchet MS"/>
                <a:ea typeface="Trebuchet MS"/>
              </a:rPr>
              <a:t>✓  </a:t>
            </a:r>
            <a:r>
              <a:rPr b="1" lang="en-US" sz="780" spc="-1" strike="noStrike">
                <a:solidFill>
                  <a:srgbClr val="ffffff"/>
                </a:solidFill>
                <a:latin typeface="Trebuchet MS"/>
                <a:ea typeface="Trebuchet MS"/>
              </a:rPr>
              <a:t>Autonomous · Tool-Augmented · Intelligent Response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800" name="CustomShape 64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4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2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3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04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Practical Labs &amp; Hands-On Learning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805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6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07" name="CustomShape 7"/>
          <p:cNvSpPr/>
          <p:nvPr/>
        </p:nvSpPr>
        <p:spPr>
          <a:xfrm>
            <a:off x="164520" y="749880"/>
            <a:ext cx="4278960" cy="1298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8" name="CustomShape 8"/>
          <p:cNvSpPr/>
          <p:nvPr/>
        </p:nvSpPr>
        <p:spPr>
          <a:xfrm>
            <a:off x="164520" y="74988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9" name="CustomShape 9"/>
          <p:cNvSpPr/>
          <p:nvPr/>
        </p:nvSpPr>
        <p:spPr>
          <a:xfrm>
            <a:off x="164520" y="749880"/>
            <a:ext cx="566640" cy="255600"/>
          </a:xfrm>
          <a:prstGeom prst="rect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0" name="CustomShape 10"/>
          <p:cNvSpPr/>
          <p:nvPr/>
        </p:nvSpPr>
        <p:spPr>
          <a:xfrm>
            <a:off x="164520" y="749880"/>
            <a:ext cx="5666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1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11" name="CustomShape 11"/>
          <p:cNvSpPr/>
          <p:nvPr/>
        </p:nvSpPr>
        <p:spPr>
          <a:xfrm>
            <a:off x="786240" y="749880"/>
            <a:ext cx="34560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Calculator Tool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812" name="Image 0" descr="preencoded.png"/>
          <p:cNvPicPr/>
          <p:nvPr/>
        </p:nvPicPr>
        <p:blipFill>
          <a:blip r:embed="rId1"/>
          <a:stretch/>
        </p:blipFill>
        <p:spPr>
          <a:xfrm>
            <a:off x="255960" y="115200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813" name="CustomShape 12"/>
          <p:cNvSpPr/>
          <p:nvPr/>
        </p:nvSpPr>
        <p:spPr>
          <a:xfrm>
            <a:off x="603360" y="1060560"/>
            <a:ext cx="356580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4e9af1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Build a tool that performs arithmetic operations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4e9af1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Function definition · parameter parsing · result return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Tool = LLM-callable function with defined schema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814" name="CustomShape 13"/>
          <p:cNvSpPr/>
          <p:nvPr/>
        </p:nvSpPr>
        <p:spPr>
          <a:xfrm>
            <a:off x="164520" y="2167200"/>
            <a:ext cx="4278960" cy="1298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5" name="CustomShape 14"/>
          <p:cNvSpPr/>
          <p:nvPr/>
        </p:nvSpPr>
        <p:spPr>
          <a:xfrm>
            <a:off x="164520" y="216720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6" name="CustomShape 15"/>
          <p:cNvSpPr/>
          <p:nvPr/>
        </p:nvSpPr>
        <p:spPr>
          <a:xfrm>
            <a:off x="164520" y="2167200"/>
            <a:ext cx="566640" cy="25560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7" name="CustomShape 16"/>
          <p:cNvSpPr/>
          <p:nvPr/>
        </p:nvSpPr>
        <p:spPr>
          <a:xfrm>
            <a:off x="164520" y="2167200"/>
            <a:ext cx="5666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2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18" name="CustomShape 17"/>
          <p:cNvSpPr/>
          <p:nvPr/>
        </p:nvSpPr>
        <p:spPr>
          <a:xfrm>
            <a:off x="786240" y="2167200"/>
            <a:ext cx="34560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Search Tool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819" name="Image 1" descr="preencoded.png"/>
          <p:cNvPicPr/>
          <p:nvPr/>
        </p:nvPicPr>
        <p:blipFill>
          <a:blip r:embed="rId2"/>
          <a:stretch/>
        </p:blipFill>
        <p:spPr>
          <a:xfrm>
            <a:off x="255960" y="256932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820" name="CustomShape 18"/>
          <p:cNvSpPr/>
          <p:nvPr/>
        </p:nvSpPr>
        <p:spPr>
          <a:xfrm>
            <a:off x="603360" y="2477880"/>
            <a:ext cx="356580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00c2cb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Retrieve information from a knowledge source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00c2cb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Query processing · knowledge base search · ranking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Tools extend agents beyond model knowledge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821" name="CustomShape 19"/>
          <p:cNvSpPr/>
          <p:nvPr/>
        </p:nvSpPr>
        <p:spPr>
          <a:xfrm>
            <a:off x="164520" y="3584520"/>
            <a:ext cx="4278960" cy="1298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2" name="CustomShape 20"/>
          <p:cNvSpPr/>
          <p:nvPr/>
        </p:nvSpPr>
        <p:spPr>
          <a:xfrm>
            <a:off x="164520" y="358452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3" name="CustomShape 21"/>
          <p:cNvSpPr/>
          <p:nvPr/>
        </p:nvSpPr>
        <p:spPr>
          <a:xfrm>
            <a:off x="164520" y="3584520"/>
            <a:ext cx="566640" cy="25560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4" name="CustomShape 22"/>
          <p:cNvSpPr/>
          <p:nvPr/>
        </p:nvSpPr>
        <p:spPr>
          <a:xfrm>
            <a:off x="164520" y="3584520"/>
            <a:ext cx="5666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3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825" name="CustomShape 23"/>
          <p:cNvSpPr/>
          <p:nvPr/>
        </p:nvSpPr>
        <p:spPr>
          <a:xfrm>
            <a:off x="786240" y="3584520"/>
            <a:ext cx="34560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Multi-Tool Agent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826" name="Image 2" descr="preencoded.png"/>
          <p:cNvPicPr/>
          <p:nvPr/>
        </p:nvPicPr>
        <p:blipFill>
          <a:blip r:embed="rId3"/>
          <a:stretch/>
        </p:blipFill>
        <p:spPr>
          <a:xfrm>
            <a:off x="255960" y="398664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827" name="CustomShape 24"/>
          <p:cNvSpPr/>
          <p:nvPr/>
        </p:nvSpPr>
        <p:spPr>
          <a:xfrm>
            <a:off x="603360" y="3895200"/>
            <a:ext cx="3565800" cy="9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Build agent that selects appropriate tools by intent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Intent detection · tool selection logic · execution flow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Agent reasoning decides which tool solves the task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828" name="CustomShape 25"/>
          <p:cNvSpPr/>
          <p:nvPr/>
        </p:nvSpPr>
        <p:spPr>
          <a:xfrm>
            <a:off x="16452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9" name="CustomShape 26"/>
          <p:cNvSpPr/>
          <p:nvPr/>
        </p:nvSpPr>
        <p:spPr>
          <a:xfrm>
            <a:off x="16452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4e9af1"/>
                </a:solidFill>
                <a:latin typeface="Trebuchet MS"/>
                <a:ea typeface="Trebuchet MS"/>
              </a:rPr>
              <a:t>Tool Integration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830" name="CustomShape 27"/>
          <p:cNvSpPr/>
          <p:nvPr/>
        </p:nvSpPr>
        <p:spPr>
          <a:xfrm>
            <a:off x="221292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1" name="CustomShape 28"/>
          <p:cNvSpPr/>
          <p:nvPr/>
        </p:nvSpPr>
        <p:spPr>
          <a:xfrm>
            <a:off x="221292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c2cb"/>
                </a:solidFill>
                <a:latin typeface="Trebuchet MS"/>
                <a:ea typeface="Trebuchet MS"/>
              </a:rPr>
              <a:t>Agent Decision-Making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832" name="CustomShape 29"/>
          <p:cNvSpPr/>
          <p:nvPr/>
        </p:nvSpPr>
        <p:spPr>
          <a:xfrm>
            <a:off x="426096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3" name="CustomShape 30"/>
          <p:cNvSpPr/>
          <p:nvPr/>
        </p:nvSpPr>
        <p:spPr>
          <a:xfrm>
            <a:off x="426096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4a727"/>
                </a:solidFill>
                <a:latin typeface="Trebuchet MS"/>
                <a:ea typeface="Trebuchet MS"/>
              </a:rPr>
              <a:t>Dynamic Task Execution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834" name="CustomShape 31"/>
          <p:cNvSpPr/>
          <p:nvPr/>
        </p:nvSpPr>
        <p:spPr>
          <a:xfrm>
            <a:off x="630936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CustomShape 32"/>
          <p:cNvSpPr/>
          <p:nvPr/>
        </p:nvSpPr>
        <p:spPr>
          <a:xfrm>
            <a:off x="630936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a78bfa"/>
                </a:solidFill>
                <a:latin typeface="Trebuchet MS"/>
                <a:ea typeface="Trebuchet MS"/>
              </a:rPr>
              <a:t>Multi-Tool Orchestration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836" name="CustomShape 33"/>
          <p:cNvSpPr/>
          <p:nvPr/>
        </p:nvSpPr>
        <p:spPr>
          <a:xfrm>
            <a:off x="4608720" y="749880"/>
            <a:ext cx="4370400" cy="38584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7" name="CustomShape 34"/>
          <p:cNvSpPr/>
          <p:nvPr/>
        </p:nvSpPr>
        <p:spPr>
          <a:xfrm>
            <a:off x="4608720" y="804600"/>
            <a:ext cx="4370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7" strike="noStrike">
                <a:solidFill>
                  <a:srgbClr val="4e9af1"/>
                </a:solidFill>
                <a:latin typeface="Trebuchet MS"/>
                <a:ea typeface="Trebuchet MS"/>
              </a:rPr>
              <a:t>AGENT DECISION FLOW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838" name="CustomShape 35"/>
          <p:cNvSpPr/>
          <p:nvPr/>
        </p:nvSpPr>
        <p:spPr>
          <a:xfrm>
            <a:off x="5230440" y="111564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9" name="CustomShape 36"/>
          <p:cNvSpPr/>
          <p:nvPr/>
        </p:nvSpPr>
        <p:spPr>
          <a:xfrm>
            <a:off x="5212080" y="125280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0" name="CustomShape 37"/>
          <p:cNvSpPr/>
          <p:nvPr/>
        </p:nvSpPr>
        <p:spPr>
          <a:xfrm>
            <a:off x="5449680" y="115200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User Query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41" name="CustomShape 38"/>
          <p:cNvSpPr/>
          <p:nvPr/>
        </p:nvSpPr>
        <p:spPr>
          <a:xfrm>
            <a:off x="5449680" y="136260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Natural language question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842" name="CustomShape 39"/>
          <p:cNvSpPr/>
          <p:nvPr/>
        </p:nvSpPr>
        <p:spPr>
          <a:xfrm>
            <a:off x="6766560" y="155448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3" name="CustomShape 40"/>
          <p:cNvSpPr/>
          <p:nvPr/>
        </p:nvSpPr>
        <p:spPr>
          <a:xfrm>
            <a:off x="5230440" y="166428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4" name="CustomShape 41"/>
          <p:cNvSpPr/>
          <p:nvPr/>
        </p:nvSpPr>
        <p:spPr>
          <a:xfrm>
            <a:off x="5212080" y="1801440"/>
            <a:ext cx="164160" cy="16416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5" name="CustomShape 42"/>
          <p:cNvSpPr/>
          <p:nvPr/>
        </p:nvSpPr>
        <p:spPr>
          <a:xfrm>
            <a:off x="5449680" y="170064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Agent Analysis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46" name="CustomShape 43"/>
          <p:cNvSpPr/>
          <p:nvPr/>
        </p:nvSpPr>
        <p:spPr>
          <a:xfrm>
            <a:off x="5449680" y="191124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What intent? What goal?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847" name="CustomShape 44"/>
          <p:cNvSpPr/>
          <p:nvPr/>
        </p:nvSpPr>
        <p:spPr>
          <a:xfrm>
            <a:off x="6766560" y="210312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8" name="CustomShape 45"/>
          <p:cNvSpPr/>
          <p:nvPr/>
        </p:nvSpPr>
        <p:spPr>
          <a:xfrm>
            <a:off x="5230440" y="221292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9" name="CustomShape 46"/>
          <p:cNvSpPr/>
          <p:nvPr/>
        </p:nvSpPr>
        <p:spPr>
          <a:xfrm>
            <a:off x="5212080" y="235008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CustomShape 47"/>
          <p:cNvSpPr/>
          <p:nvPr/>
        </p:nvSpPr>
        <p:spPr>
          <a:xfrm>
            <a:off x="5449680" y="224928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Tool Selection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51" name="CustomShape 48"/>
          <p:cNvSpPr/>
          <p:nvPr/>
        </p:nvSpPr>
        <p:spPr>
          <a:xfrm>
            <a:off x="5449680" y="245988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Calculator vs Search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852" name="CustomShape 49"/>
          <p:cNvSpPr/>
          <p:nvPr/>
        </p:nvSpPr>
        <p:spPr>
          <a:xfrm>
            <a:off x="6766560" y="265176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3" name="CustomShape 50"/>
          <p:cNvSpPr/>
          <p:nvPr/>
        </p:nvSpPr>
        <p:spPr>
          <a:xfrm>
            <a:off x="5230440" y="276156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4" name="CustomShape 51"/>
          <p:cNvSpPr/>
          <p:nvPr/>
        </p:nvSpPr>
        <p:spPr>
          <a:xfrm>
            <a:off x="5212080" y="2898720"/>
            <a:ext cx="164160" cy="16416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5" name="CustomShape 52"/>
          <p:cNvSpPr/>
          <p:nvPr/>
        </p:nvSpPr>
        <p:spPr>
          <a:xfrm>
            <a:off x="5449680" y="279792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Parallel Execution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56" name="CustomShape 53"/>
          <p:cNvSpPr/>
          <p:nvPr/>
        </p:nvSpPr>
        <p:spPr>
          <a:xfrm>
            <a:off x="5449680" y="300852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Run selected tool(s)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857" name="CustomShape 54"/>
          <p:cNvSpPr/>
          <p:nvPr/>
        </p:nvSpPr>
        <p:spPr>
          <a:xfrm>
            <a:off x="6766560" y="320040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8" name="CustomShape 55"/>
          <p:cNvSpPr/>
          <p:nvPr/>
        </p:nvSpPr>
        <p:spPr>
          <a:xfrm>
            <a:off x="5230440" y="331020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9" name="CustomShape 56"/>
          <p:cNvSpPr/>
          <p:nvPr/>
        </p:nvSpPr>
        <p:spPr>
          <a:xfrm>
            <a:off x="5212080" y="344736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0" name="CustomShape 57"/>
          <p:cNvSpPr/>
          <p:nvPr/>
        </p:nvSpPr>
        <p:spPr>
          <a:xfrm>
            <a:off x="5449680" y="334656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Result Integration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61" name="CustomShape 58"/>
          <p:cNvSpPr/>
          <p:nvPr/>
        </p:nvSpPr>
        <p:spPr>
          <a:xfrm>
            <a:off x="5449680" y="355716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Tool output → context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862" name="CustomShape 59"/>
          <p:cNvSpPr/>
          <p:nvPr/>
        </p:nvSpPr>
        <p:spPr>
          <a:xfrm>
            <a:off x="6766560" y="374904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3" name="CustomShape 60"/>
          <p:cNvSpPr/>
          <p:nvPr/>
        </p:nvSpPr>
        <p:spPr>
          <a:xfrm>
            <a:off x="5230440" y="385884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4" name="CustomShape 61"/>
          <p:cNvSpPr/>
          <p:nvPr/>
        </p:nvSpPr>
        <p:spPr>
          <a:xfrm>
            <a:off x="5212080" y="3996000"/>
            <a:ext cx="164160" cy="16416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5" name="CustomShape 62"/>
          <p:cNvSpPr/>
          <p:nvPr/>
        </p:nvSpPr>
        <p:spPr>
          <a:xfrm>
            <a:off x="5449680" y="389520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Synthesis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866" name="CustomShape 63"/>
          <p:cNvSpPr/>
          <p:nvPr/>
        </p:nvSpPr>
        <p:spPr>
          <a:xfrm>
            <a:off x="5449680" y="410580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Generate final response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867" name="CustomShape 64"/>
          <p:cNvSpPr/>
          <p:nvPr/>
        </p:nvSpPr>
        <p:spPr>
          <a:xfrm>
            <a:off x="4791600" y="4407480"/>
            <a:ext cx="4004640" cy="1825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8" name="CustomShape 65"/>
          <p:cNvSpPr/>
          <p:nvPr/>
        </p:nvSpPr>
        <p:spPr>
          <a:xfrm>
            <a:off x="4791600" y="4407480"/>
            <a:ext cx="400464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fffff"/>
                </a:solidFill>
                <a:latin typeface="Trebuchet MS"/>
                <a:ea typeface="Trebuchet MS"/>
              </a:rPr>
              <a:t>Tool-Augmented Agent Response to User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869" name="CustomShape 66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4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1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2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73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Mini Project – Personal AI Assistant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874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5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76" name="CustomShape 7"/>
          <p:cNvSpPr/>
          <p:nvPr/>
        </p:nvSpPr>
        <p:spPr>
          <a:xfrm>
            <a:off x="164520" y="749880"/>
            <a:ext cx="4315680" cy="148104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7" name="CustomShape 8"/>
          <p:cNvSpPr/>
          <p:nvPr/>
        </p:nvSpPr>
        <p:spPr>
          <a:xfrm>
            <a:off x="164520" y="749880"/>
            <a:ext cx="54360" cy="148104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878" name="Image 0" descr="preencoded.png"/>
          <p:cNvPicPr/>
          <p:nvPr/>
        </p:nvPicPr>
        <p:blipFill>
          <a:blip r:embed="rId1"/>
          <a:stretch/>
        </p:blipFill>
        <p:spPr>
          <a:xfrm>
            <a:off x="292680" y="804600"/>
            <a:ext cx="328680" cy="328680"/>
          </a:xfrm>
          <a:prstGeom prst="rect">
            <a:avLst/>
          </a:prstGeom>
          <a:ln>
            <a:noFill/>
          </a:ln>
        </p:spPr>
      </p:pic>
      <p:sp>
        <p:nvSpPr>
          <p:cNvPr id="879" name="CustomShape 9"/>
          <p:cNvSpPr/>
          <p:nvPr/>
        </p:nvSpPr>
        <p:spPr>
          <a:xfrm>
            <a:off x="676800" y="777240"/>
            <a:ext cx="36572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Trebuchet MS"/>
                <a:ea typeface="Trebuchet MS"/>
              </a:rPr>
              <a:t>Project Overview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80" name="CustomShape 10"/>
          <p:cNvSpPr/>
          <p:nvPr/>
        </p:nvSpPr>
        <p:spPr>
          <a:xfrm>
            <a:off x="676800" y="1024200"/>
            <a:ext cx="3657240" cy="1096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Personal AI Assistant with multi-tool capability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Conversation memory · intent understanding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Multi-tool decision logic · LLM response synthesis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81" name="CustomShape 11"/>
          <p:cNvSpPr/>
          <p:nvPr/>
        </p:nvSpPr>
        <p:spPr>
          <a:xfrm>
            <a:off x="164520" y="2304360"/>
            <a:ext cx="4315680" cy="137124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2" name="CustomShape 12"/>
          <p:cNvSpPr/>
          <p:nvPr/>
        </p:nvSpPr>
        <p:spPr>
          <a:xfrm>
            <a:off x="164520" y="2304360"/>
            <a:ext cx="54360" cy="1371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3" name="CustomShape 13"/>
          <p:cNvSpPr/>
          <p:nvPr/>
        </p:nvSpPr>
        <p:spPr>
          <a:xfrm>
            <a:off x="292680" y="2331720"/>
            <a:ext cx="41144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2cb"/>
                </a:solidFill>
                <a:latin typeface="Trebuchet MS"/>
                <a:ea typeface="Trebuchet MS"/>
              </a:rPr>
              <a:t>Agent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84" name="CustomShape 14"/>
          <p:cNvSpPr/>
          <p:nvPr/>
        </p:nvSpPr>
        <p:spPr>
          <a:xfrm>
            <a:off x="292680" y="263340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5" name="CustomShape 15"/>
          <p:cNvSpPr/>
          <p:nvPr/>
        </p:nvSpPr>
        <p:spPr>
          <a:xfrm>
            <a:off x="292680" y="263340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User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886" name="CustomShape 16"/>
          <p:cNvSpPr/>
          <p:nvPr/>
        </p:nvSpPr>
        <p:spPr>
          <a:xfrm>
            <a:off x="649080" y="277992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7" name="CustomShape 17"/>
          <p:cNvSpPr/>
          <p:nvPr/>
        </p:nvSpPr>
        <p:spPr>
          <a:xfrm>
            <a:off x="731520" y="263340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88" name="CustomShape 18"/>
          <p:cNvSpPr/>
          <p:nvPr/>
        </p:nvSpPr>
        <p:spPr>
          <a:xfrm>
            <a:off x="731520" y="263340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Agent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889" name="CustomShape 19"/>
          <p:cNvSpPr/>
          <p:nvPr/>
        </p:nvSpPr>
        <p:spPr>
          <a:xfrm>
            <a:off x="1088280" y="277992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0" name="CustomShape 20"/>
          <p:cNvSpPr/>
          <p:nvPr/>
        </p:nvSpPr>
        <p:spPr>
          <a:xfrm>
            <a:off x="1170360" y="263340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1" name="CustomShape 21"/>
          <p:cNvSpPr/>
          <p:nvPr/>
        </p:nvSpPr>
        <p:spPr>
          <a:xfrm>
            <a:off x="1170360" y="263340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Memory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892" name="CustomShape 22"/>
          <p:cNvSpPr/>
          <p:nvPr/>
        </p:nvSpPr>
        <p:spPr>
          <a:xfrm>
            <a:off x="1609200" y="263340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3" name="CustomShape 23"/>
          <p:cNvSpPr/>
          <p:nvPr/>
        </p:nvSpPr>
        <p:spPr>
          <a:xfrm>
            <a:off x="1609200" y="263340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Tools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894" name="CustomShape 24"/>
          <p:cNvSpPr/>
          <p:nvPr/>
        </p:nvSpPr>
        <p:spPr>
          <a:xfrm>
            <a:off x="1965960" y="277992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5" name="CustomShape 25"/>
          <p:cNvSpPr/>
          <p:nvPr/>
        </p:nvSpPr>
        <p:spPr>
          <a:xfrm>
            <a:off x="2048400" y="263340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6" name="CustomShape 26"/>
          <p:cNvSpPr/>
          <p:nvPr/>
        </p:nvSpPr>
        <p:spPr>
          <a:xfrm>
            <a:off x="2048400" y="263340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Calc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897" name="CustomShape 27"/>
          <p:cNvSpPr/>
          <p:nvPr/>
        </p:nvSpPr>
        <p:spPr>
          <a:xfrm>
            <a:off x="2487240" y="263340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8" name="CustomShape 28"/>
          <p:cNvSpPr/>
          <p:nvPr/>
        </p:nvSpPr>
        <p:spPr>
          <a:xfrm>
            <a:off x="2487240" y="263340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Search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899" name="CustomShape 29"/>
          <p:cNvSpPr/>
          <p:nvPr/>
        </p:nvSpPr>
        <p:spPr>
          <a:xfrm>
            <a:off x="2926080" y="263340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0" name="CustomShape 30"/>
          <p:cNvSpPr/>
          <p:nvPr/>
        </p:nvSpPr>
        <p:spPr>
          <a:xfrm>
            <a:off x="2926080" y="263340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901" name="CustomShape 31"/>
          <p:cNvSpPr/>
          <p:nvPr/>
        </p:nvSpPr>
        <p:spPr>
          <a:xfrm>
            <a:off x="3282840" y="2779920"/>
            <a:ext cx="7272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2" name="CustomShape 32"/>
          <p:cNvSpPr/>
          <p:nvPr/>
        </p:nvSpPr>
        <p:spPr>
          <a:xfrm>
            <a:off x="3364920" y="263340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3" name="CustomShape 33"/>
          <p:cNvSpPr/>
          <p:nvPr/>
        </p:nvSpPr>
        <p:spPr>
          <a:xfrm>
            <a:off x="3364920" y="263340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Response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904" name="CustomShape 34"/>
          <p:cNvSpPr/>
          <p:nvPr/>
        </p:nvSpPr>
        <p:spPr>
          <a:xfrm>
            <a:off x="255960" y="3035880"/>
            <a:ext cx="416016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730" spc="-1" strike="noStrike">
                <a:solidFill>
                  <a:srgbClr val="9bb5c8"/>
                </a:solidFill>
                <a:latin typeface="Calibri"/>
                <a:ea typeface="Calibri"/>
              </a:rPr>
              <a:t>↑  </a:t>
            </a:r>
            <a:r>
              <a:rPr b="0" i="1" lang="en-US" sz="730" spc="-1" strike="noStrike">
                <a:solidFill>
                  <a:srgbClr val="9bb5c8"/>
                </a:solidFill>
                <a:latin typeface="Calibri"/>
                <a:ea typeface="Calibri"/>
              </a:rPr>
              <a:t>Agent orchestrates tools, memory, &amp; LLM responses in unified system</a:t>
            </a:r>
            <a:endParaRPr b="0" lang="en-IN" sz="730" spc="-1" strike="noStrike">
              <a:latin typeface="Arial"/>
            </a:endParaRPr>
          </a:p>
        </p:txBody>
      </p:sp>
      <p:sp>
        <p:nvSpPr>
          <p:cNvPr id="905" name="CustomShape 35"/>
          <p:cNvSpPr/>
          <p:nvPr/>
        </p:nvSpPr>
        <p:spPr>
          <a:xfrm>
            <a:off x="164520" y="3730680"/>
            <a:ext cx="4315680" cy="117000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6" name="CustomShape 36"/>
          <p:cNvSpPr/>
          <p:nvPr/>
        </p:nvSpPr>
        <p:spPr>
          <a:xfrm>
            <a:off x="164520" y="3730680"/>
            <a:ext cx="54360" cy="117000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7" name="CustomShape 37"/>
          <p:cNvSpPr/>
          <p:nvPr/>
        </p:nvSpPr>
        <p:spPr>
          <a:xfrm>
            <a:off x="292680" y="3758040"/>
            <a:ext cx="4114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4a727"/>
                </a:solidFill>
                <a:latin typeface="Trebuchet MS"/>
                <a:ea typeface="Trebuchet MS"/>
              </a:rPr>
              <a:t>Challenges &amp; Solutions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08" name="CustomShape 38"/>
          <p:cNvSpPr/>
          <p:nvPr/>
        </p:nvSpPr>
        <p:spPr>
          <a:xfrm>
            <a:off x="255960" y="3996000"/>
            <a:ext cx="41328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9" name="CustomShape 39"/>
          <p:cNvSpPr/>
          <p:nvPr/>
        </p:nvSpPr>
        <p:spPr>
          <a:xfrm>
            <a:off x="311040" y="4014360"/>
            <a:ext cx="14626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Tool selection logic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10" name="CustomShape 40"/>
          <p:cNvSpPr/>
          <p:nvPr/>
        </p:nvSpPr>
        <p:spPr>
          <a:xfrm>
            <a:off x="1810440" y="4069080"/>
            <a:ext cx="36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1" name="CustomShape 41"/>
          <p:cNvSpPr/>
          <p:nvPr/>
        </p:nvSpPr>
        <p:spPr>
          <a:xfrm>
            <a:off x="1901880" y="4014360"/>
            <a:ext cx="23770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Intent-based routing; LLM determines tool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12" name="CustomShape 42"/>
          <p:cNvSpPr/>
          <p:nvPr/>
        </p:nvSpPr>
        <p:spPr>
          <a:xfrm>
            <a:off x="255960" y="4270320"/>
            <a:ext cx="4132800" cy="237240"/>
          </a:xfrm>
          <a:prstGeom prst="rect">
            <a:avLst/>
          </a:prstGeom>
          <a:solidFill>
            <a:srgbClr val="0d1b2a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3" name="CustomShape 43"/>
          <p:cNvSpPr/>
          <p:nvPr/>
        </p:nvSpPr>
        <p:spPr>
          <a:xfrm>
            <a:off x="311040" y="4288680"/>
            <a:ext cx="14626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Memory management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14" name="CustomShape 44"/>
          <p:cNvSpPr/>
          <p:nvPr/>
        </p:nvSpPr>
        <p:spPr>
          <a:xfrm>
            <a:off x="1810440" y="4343400"/>
            <a:ext cx="36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5" name="CustomShape 45"/>
          <p:cNvSpPr/>
          <p:nvPr/>
        </p:nvSpPr>
        <p:spPr>
          <a:xfrm>
            <a:off x="1901880" y="4288680"/>
            <a:ext cx="23770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Conversation history storage &amp; retrieval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16" name="CustomShape 46"/>
          <p:cNvSpPr/>
          <p:nvPr/>
        </p:nvSpPr>
        <p:spPr>
          <a:xfrm>
            <a:off x="255960" y="4544640"/>
            <a:ext cx="41328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7" name="CustomShape 47"/>
          <p:cNvSpPr/>
          <p:nvPr/>
        </p:nvSpPr>
        <p:spPr>
          <a:xfrm>
            <a:off x="311040" y="4563000"/>
            <a:ext cx="14626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Workflow design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18" name="CustomShape 48"/>
          <p:cNvSpPr/>
          <p:nvPr/>
        </p:nvSpPr>
        <p:spPr>
          <a:xfrm>
            <a:off x="1810440" y="4617720"/>
            <a:ext cx="36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9" name="CustomShape 49"/>
          <p:cNvSpPr/>
          <p:nvPr/>
        </p:nvSpPr>
        <p:spPr>
          <a:xfrm>
            <a:off x="1901880" y="4563000"/>
            <a:ext cx="237708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Agent loop framework with error handling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20" name="CustomShape 50"/>
          <p:cNvSpPr/>
          <p:nvPr/>
        </p:nvSpPr>
        <p:spPr>
          <a:xfrm>
            <a:off x="4645080" y="749880"/>
            <a:ext cx="4334040" cy="4151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1" name="CustomShape 51"/>
          <p:cNvSpPr/>
          <p:nvPr/>
        </p:nvSpPr>
        <p:spPr>
          <a:xfrm>
            <a:off x="4645080" y="749880"/>
            <a:ext cx="433404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2" name="CustomShape 52"/>
          <p:cNvSpPr/>
          <p:nvPr/>
        </p:nvSpPr>
        <p:spPr>
          <a:xfrm>
            <a:off x="4645080" y="749880"/>
            <a:ext cx="43340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8" strike="noStrike">
                <a:solidFill>
                  <a:srgbClr val="00c2cb"/>
                </a:solidFill>
                <a:latin typeface="Trebuchet MS"/>
                <a:ea typeface="Trebuchet MS"/>
              </a:rPr>
              <a:t>KEY TAKEAWAYS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23" name="CustomShape 53"/>
          <p:cNvSpPr/>
          <p:nvPr/>
        </p:nvSpPr>
        <p:spPr>
          <a:xfrm>
            <a:off x="4809600" y="108828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4" name="CustomShape 54"/>
          <p:cNvSpPr/>
          <p:nvPr/>
        </p:nvSpPr>
        <p:spPr>
          <a:xfrm>
            <a:off x="4827960" y="1197720"/>
            <a:ext cx="292320" cy="292320"/>
          </a:xfrm>
          <a:prstGeom prst="ellipse">
            <a:avLst/>
          </a:prstGeom>
          <a:solidFill>
            <a:srgbClr val="4e9af1"/>
          </a:solidFill>
          <a:ln w="12600">
            <a:solidFill>
              <a:srgbClr val="4e9a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5" name="CustomShape 55"/>
          <p:cNvSpPr/>
          <p:nvPr/>
        </p:nvSpPr>
        <p:spPr>
          <a:xfrm>
            <a:off x="4827960" y="1197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926" name="Image 1" descr="preencoded.png"/>
          <p:cNvPicPr/>
          <p:nvPr/>
        </p:nvPicPr>
        <p:blipFill>
          <a:blip r:embed="rId2"/>
          <a:stretch/>
        </p:blipFill>
        <p:spPr>
          <a:xfrm>
            <a:off x="5193720" y="122544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927" name="CustomShape 56"/>
          <p:cNvSpPr/>
          <p:nvPr/>
        </p:nvSpPr>
        <p:spPr>
          <a:xfrm>
            <a:off x="5486400" y="1143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AI Agent Architecture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28" name="CustomShape 57"/>
          <p:cNvSpPr/>
          <p:nvPr/>
        </p:nvSpPr>
        <p:spPr>
          <a:xfrm>
            <a:off x="5486400" y="136260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Autonomous reasoning loop; planning &amp; execution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929" name="CustomShape 58"/>
          <p:cNvSpPr/>
          <p:nvPr/>
        </p:nvSpPr>
        <p:spPr>
          <a:xfrm>
            <a:off x="4809600" y="1654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0" name="CustomShape 59"/>
          <p:cNvSpPr/>
          <p:nvPr/>
        </p:nvSpPr>
        <p:spPr>
          <a:xfrm>
            <a:off x="4827960" y="1764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1" name="CustomShape 60"/>
          <p:cNvSpPr/>
          <p:nvPr/>
        </p:nvSpPr>
        <p:spPr>
          <a:xfrm>
            <a:off x="4827960" y="1764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932" name="Image 2" descr="preencoded.png"/>
          <p:cNvPicPr/>
          <p:nvPr/>
        </p:nvPicPr>
        <p:blipFill>
          <a:blip r:embed="rId3"/>
          <a:stretch/>
        </p:blipFill>
        <p:spPr>
          <a:xfrm>
            <a:off x="5193720" y="1792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933" name="CustomShape 61"/>
          <p:cNvSpPr/>
          <p:nvPr/>
        </p:nvSpPr>
        <p:spPr>
          <a:xfrm>
            <a:off x="5486400" y="1710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Tool Calling &amp; Integration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34" name="CustomShape 62"/>
          <p:cNvSpPr/>
          <p:nvPr/>
        </p:nvSpPr>
        <p:spPr>
          <a:xfrm>
            <a:off x="5486400" y="1929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LLM-callable functions; structured interface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935" name="CustomShape 63"/>
          <p:cNvSpPr/>
          <p:nvPr/>
        </p:nvSpPr>
        <p:spPr>
          <a:xfrm>
            <a:off x="4809600" y="2221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6" name="CustomShape 64"/>
          <p:cNvSpPr/>
          <p:nvPr/>
        </p:nvSpPr>
        <p:spPr>
          <a:xfrm>
            <a:off x="4827960" y="2331720"/>
            <a:ext cx="292320" cy="29232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7" name="CustomShape 65"/>
          <p:cNvSpPr/>
          <p:nvPr/>
        </p:nvSpPr>
        <p:spPr>
          <a:xfrm>
            <a:off x="4827960" y="2331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938" name="Image 3" descr="preencoded.png"/>
          <p:cNvPicPr/>
          <p:nvPr/>
        </p:nvPicPr>
        <p:blipFill>
          <a:blip r:embed="rId4"/>
          <a:stretch/>
        </p:blipFill>
        <p:spPr>
          <a:xfrm>
            <a:off x="5193720" y="2359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939" name="CustomShape 66"/>
          <p:cNvSpPr/>
          <p:nvPr/>
        </p:nvSpPr>
        <p:spPr>
          <a:xfrm>
            <a:off x="5486400" y="2277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Function Calling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40" name="CustomShape 67"/>
          <p:cNvSpPr/>
          <p:nvPr/>
        </p:nvSpPr>
        <p:spPr>
          <a:xfrm>
            <a:off x="5486400" y="2496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Schema definition; parameter validation; returns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941" name="CustomShape 68"/>
          <p:cNvSpPr/>
          <p:nvPr/>
        </p:nvSpPr>
        <p:spPr>
          <a:xfrm>
            <a:off x="4809600" y="2788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2" name="CustomShape 69"/>
          <p:cNvSpPr/>
          <p:nvPr/>
        </p:nvSpPr>
        <p:spPr>
          <a:xfrm>
            <a:off x="4827960" y="2898720"/>
            <a:ext cx="292320" cy="292320"/>
          </a:xfrm>
          <a:prstGeom prst="ellipse">
            <a:avLst/>
          </a:prstGeom>
          <a:solidFill>
            <a:srgbClr val="34d399"/>
          </a:solidFill>
          <a:ln w="12600">
            <a:solidFill>
              <a:srgbClr val="34d39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3" name="CustomShape 70"/>
          <p:cNvSpPr/>
          <p:nvPr/>
        </p:nvSpPr>
        <p:spPr>
          <a:xfrm>
            <a:off x="4827960" y="2898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4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944" name="Image 4" descr="preencoded.png"/>
          <p:cNvPicPr/>
          <p:nvPr/>
        </p:nvPicPr>
        <p:blipFill>
          <a:blip r:embed="rId5"/>
          <a:stretch/>
        </p:blipFill>
        <p:spPr>
          <a:xfrm>
            <a:off x="5193720" y="2926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945" name="CustomShape 71"/>
          <p:cNvSpPr/>
          <p:nvPr/>
        </p:nvSpPr>
        <p:spPr>
          <a:xfrm>
            <a:off x="5486400" y="2843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Memory Systems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46" name="CustomShape 72"/>
          <p:cNvSpPr/>
          <p:nvPr/>
        </p:nvSpPr>
        <p:spPr>
          <a:xfrm>
            <a:off x="5486400" y="3063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Conversation history; state management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947" name="CustomShape 73"/>
          <p:cNvSpPr/>
          <p:nvPr/>
        </p:nvSpPr>
        <p:spPr>
          <a:xfrm>
            <a:off x="4809600" y="3355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8" name="CustomShape 74"/>
          <p:cNvSpPr/>
          <p:nvPr/>
        </p:nvSpPr>
        <p:spPr>
          <a:xfrm>
            <a:off x="4827960" y="3465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9" name="CustomShape 75"/>
          <p:cNvSpPr/>
          <p:nvPr/>
        </p:nvSpPr>
        <p:spPr>
          <a:xfrm>
            <a:off x="4827960" y="3465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5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950" name="Image 5" descr="preencoded.png"/>
          <p:cNvPicPr/>
          <p:nvPr/>
        </p:nvPicPr>
        <p:blipFill>
          <a:blip r:embed="rId6"/>
          <a:stretch/>
        </p:blipFill>
        <p:spPr>
          <a:xfrm>
            <a:off x="5193720" y="3493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951" name="CustomShape 76"/>
          <p:cNvSpPr/>
          <p:nvPr/>
        </p:nvSpPr>
        <p:spPr>
          <a:xfrm>
            <a:off x="5486400" y="3410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ReAct Framework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52" name="CustomShape 77"/>
          <p:cNvSpPr/>
          <p:nvPr/>
        </p:nvSpPr>
        <p:spPr>
          <a:xfrm>
            <a:off x="5486400" y="3630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Reasoning + Acting for complex task solving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953" name="CustomShape 78"/>
          <p:cNvSpPr/>
          <p:nvPr/>
        </p:nvSpPr>
        <p:spPr>
          <a:xfrm>
            <a:off x="4809600" y="3922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4" name="CustomShape 79"/>
          <p:cNvSpPr/>
          <p:nvPr/>
        </p:nvSpPr>
        <p:spPr>
          <a:xfrm>
            <a:off x="4827960" y="4032360"/>
            <a:ext cx="292320" cy="29232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5" name="CustomShape 80"/>
          <p:cNvSpPr/>
          <p:nvPr/>
        </p:nvSpPr>
        <p:spPr>
          <a:xfrm>
            <a:off x="4827960" y="403236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6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956" name="Image 6" descr="preencoded.png"/>
          <p:cNvPicPr/>
          <p:nvPr/>
        </p:nvPicPr>
        <p:blipFill>
          <a:blip r:embed="rId7"/>
          <a:stretch/>
        </p:blipFill>
        <p:spPr>
          <a:xfrm>
            <a:off x="5193720" y="4060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957" name="CustomShape 81"/>
          <p:cNvSpPr/>
          <p:nvPr/>
        </p:nvSpPr>
        <p:spPr>
          <a:xfrm>
            <a:off x="5486400" y="3977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Personal AI Assistants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958" name="CustomShape 82"/>
          <p:cNvSpPr/>
          <p:nvPr/>
        </p:nvSpPr>
        <p:spPr>
          <a:xfrm>
            <a:off x="5486400" y="4197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Enterprise &amp; consumer intelligent agents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959" name="CustomShape 83"/>
          <p:cNvSpPr/>
          <p:nvPr/>
        </p:nvSpPr>
        <p:spPr>
          <a:xfrm>
            <a:off x="4809600" y="4260960"/>
            <a:ext cx="4004640" cy="566640"/>
          </a:xfrm>
          <a:prstGeom prst="rect">
            <a:avLst/>
          </a:prstGeom>
          <a:solidFill>
            <a:srgbClr val="007f85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0" name="CustomShape 84"/>
          <p:cNvSpPr/>
          <p:nvPr/>
        </p:nvSpPr>
        <p:spPr>
          <a:xfrm>
            <a:off x="4809600" y="4260960"/>
            <a:ext cx="4004640" cy="56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4a727"/>
                </a:solidFill>
                <a:latin typeface="Trebuchet MS"/>
                <a:ea typeface="Trebuchet MS"/>
              </a:rPr>
              <a:t>NEXT →  </a:t>
            </a: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Day 5: Production AI Engineering Basics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61" name="CustomShape 85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4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3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4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Trebuchet MS"/>
                <a:ea typeface="Trebuchet MS"/>
              </a:rPr>
              <a:t>DAY 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65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Production AI Engineering Basics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966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7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68" name="CustomShape 7"/>
          <p:cNvSpPr/>
          <p:nvPr/>
        </p:nvSpPr>
        <p:spPr>
          <a:xfrm>
            <a:off x="164520" y="749880"/>
            <a:ext cx="5284800" cy="804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9" name="CustomShape 8"/>
          <p:cNvSpPr/>
          <p:nvPr/>
        </p:nvSpPr>
        <p:spPr>
          <a:xfrm>
            <a:off x="164520" y="749880"/>
            <a:ext cx="63720" cy="804240"/>
          </a:xfrm>
          <a:prstGeom prst="rect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70" name="Image 0" descr="preencoded.png"/>
          <p:cNvPicPr/>
          <p:nvPr/>
        </p:nvPicPr>
        <p:blipFill>
          <a:blip r:embed="rId1"/>
          <a:stretch/>
        </p:blipFill>
        <p:spPr>
          <a:xfrm>
            <a:off x="301680" y="95112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971" name="CustomShape 9"/>
          <p:cNvSpPr/>
          <p:nvPr/>
        </p:nvSpPr>
        <p:spPr>
          <a:xfrm>
            <a:off x="713160" y="82296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6b6b"/>
                </a:solidFill>
                <a:latin typeface="Trebuchet MS"/>
                <a:ea typeface="Trebuchet MS"/>
              </a:rPr>
              <a:t>API Development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72" name="CustomShape 10"/>
          <p:cNvSpPr/>
          <p:nvPr/>
        </p:nvSpPr>
        <p:spPr>
          <a:xfrm>
            <a:off x="713160" y="1088280"/>
            <a:ext cx="278856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FastAPI fundamentals &amp; async programming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High-performance REST API development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973" name="CustomShape 11"/>
          <p:cNvSpPr/>
          <p:nvPr/>
        </p:nvSpPr>
        <p:spPr>
          <a:xfrm>
            <a:off x="3538800" y="97848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4" name="CustomShape 12"/>
          <p:cNvSpPr/>
          <p:nvPr/>
        </p:nvSpPr>
        <p:spPr>
          <a:xfrm>
            <a:off x="3538800" y="97848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Entry point to production systems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975" name="CustomShape 13"/>
          <p:cNvSpPr/>
          <p:nvPr/>
        </p:nvSpPr>
        <p:spPr>
          <a:xfrm>
            <a:off x="164520" y="1609200"/>
            <a:ext cx="5284800" cy="804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6" name="CustomShape 14"/>
          <p:cNvSpPr/>
          <p:nvPr/>
        </p:nvSpPr>
        <p:spPr>
          <a:xfrm>
            <a:off x="164520" y="1609200"/>
            <a:ext cx="63720" cy="804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77" name="Image 1" descr="preencoded.png"/>
          <p:cNvPicPr/>
          <p:nvPr/>
        </p:nvPicPr>
        <p:blipFill>
          <a:blip r:embed="rId2"/>
          <a:stretch/>
        </p:blipFill>
        <p:spPr>
          <a:xfrm>
            <a:off x="301680" y="181044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978" name="CustomShape 15"/>
          <p:cNvSpPr/>
          <p:nvPr/>
        </p:nvSpPr>
        <p:spPr>
          <a:xfrm>
            <a:off x="713160" y="168264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Production Readiness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79" name="CustomShape 16"/>
          <p:cNvSpPr/>
          <p:nvPr/>
        </p:nvSpPr>
        <p:spPr>
          <a:xfrm>
            <a:off x="713160" y="1947600"/>
            <a:ext cx="278856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Streaming responses for real-time UX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Comprehensive logging &amp; error handling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980" name="CustomShape 17"/>
          <p:cNvSpPr/>
          <p:nvPr/>
        </p:nvSpPr>
        <p:spPr>
          <a:xfrm>
            <a:off x="3538800" y="183780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1" name="CustomShape 18"/>
          <p:cNvSpPr/>
          <p:nvPr/>
        </p:nvSpPr>
        <p:spPr>
          <a:xfrm>
            <a:off x="3538800" y="183780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Enterprise reliability &amp; auditing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982" name="CustomShape 19"/>
          <p:cNvSpPr/>
          <p:nvPr/>
        </p:nvSpPr>
        <p:spPr>
          <a:xfrm>
            <a:off x="164520" y="2468880"/>
            <a:ext cx="5284800" cy="804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3" name="CustomShape 20"/>
          <p:cNvSpPr/>
          <p:nvPr/>
        </p:nvSpPr>
        <p:spPr>
          <a:xfrm>
            <a:off x="164520" y="2468880"/>
            <a:ext cx="63720" cy="804240"/>
          </a:xfrm>
          <a:prstGeom prst="rect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84" name="Image 2" descr="preencoded.png"/>
          <p:cNvPicPr/>
          <p:nvPr/>
        </p:nvPicPr>
        <p:blipFill>
          <a:blip r:embed="rId3"/>
          <a:stretch/>
        </p:blipFill>
        <p:spPr>
          <a:xfrm>
            <a:off x="301680" y="267012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985" name="CustomShape 21"/>
          <p:cNvSpPr/>
          <p:nvPr/>
        </p:nvSpPr>
        <p:spPr>
          <a:xfrm>
            <a:off x="713160" y="254196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6b6b"/>
                </a:solidFill>
                <a:latin typeface="Trebuchet MS"/>
                <a:ea typeface="Trebuchet MS"/>
              </a:rPr>
              <a:t>AI Operations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86" name="CustomShape 22"/>
          <p:cNvSpPr/>
          <p:nvPr/>
        </p:nvSpPr>
        <p:spPr>
          <a:xfrm>
            <a:off x="713160" y="2807280"/>
            <a:ext cx="278856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AI observability &amp; monitoring systems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Performance tracking &amp; diagnostics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987" name="CustomShape 23"/>
          <p:cNvSpPr/>
          <p:nvPr/>
        </p:nvSpPr>
        <p:spPr>
          <a:xfrm>
            <a:off x="3538800" y="269748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8" name="CustomShape 24"/>
          <p:cNvSpPr/>
          <p:nvPr/>
        </p:nvSpPr>
        <p:spPr>
          <a:xfrm>
            <a:off x="3538800" y="269748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Production AI visibility &amp; control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989" name="CustomShape 25"/>
          <p:cNvSpPr/>
          <p:nvPr/>
        </p:nvSpPr>
        <p:spPr>
          <a:xfrm>
            <a:off x="164520" y="3328560"/>
            <a:ext cx="5284800" cy="804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0" name="CustomShape 26"/>
          <p:cNvSpPr/>
          <p:nvPr/>
        </p:nvSpPr>
        <p:spPr>
          <a:xfrm>
            <a:off x="164520" y="3328560"/>
            <a:ext cx="63720" cy="80424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91" name="Image 3" descr="preencoded.png"/>
          <p:cNvPicPr/>
          <p:nvPr/>
        </p:nvPicPr>
        <p:blipFill>
          <a:blip r:embed="rId4"/>
          <a:stretch/>
        </p:blipFill>
        <p:spPr>
          <a:xfrm>
            <a:off x="301680" y="352944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992" name="CustomShape 27"/>
          <p:cNvSpPr/>
          <p:nvPr/>
        </p:nvSpPr>
        <p:spPr>
          <a:xfrm>
            <a:off x="713160" y="340164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c2cb"/>
                </a:solidFill>
                <a:latin typeface="Trebuchet MS"/>
                <a:ea typeface="Trebuchet MS"/>
              </a:rPr>
              <a:t>Infrastructure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93" name="CustomShape 28"/>
          <p:cNvSpPr/>
          <p:nvPr/>
        </p:nvSpPr>
        <p:spPr>
          <a:xfrm>
            <a:off x="713160" y="3666600"/>
            <a:ext cx="278856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Docker containerization basics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Redis caching · Scalability concepts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994" name="CustomShape 29"/>
          <p:cNvSpPr/>
          <p:nvPr/>
        </p:nvSpPr>
        <p:spPr>
          <a:xfrm>
            <a:off x="3538800" y="355716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5" name="CustomShape 30"/>
          <p:cNvSpPr/>
          <p:nvPr/>
        </p:nvSpPr>
        <p:spPr>
          <a:xfrm>
            <a:off x="3538800" y="355716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Cloud-native deployment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996" name="CustomShape 31"/>
          <p:cNvSpPr/>
          <p:nvPr/>
        </p:nvSpPr>
        <p:spPr>
          <a:xfrm>
            <a:off x="164520" y="4187880"/>
            <a:ext cx="5284800" cy="804240"/>
          </a:xfrm>
          <a:prstGeom prst="rect">
            <a:avLst/>
          </a:prstGeom>
          <a:solidFill>
            <a:srgbClr val="132338"/>
          </a:solidFill>
          <a:ln w="1008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7" name="CustomShape 32"/>
          <p:cNvSpPr/>
          <p:nvPr/>
        </p:nvSpPr>
        <p:spPr>
          <a:xfrm>
            <a:off x="164520" y="4187880"/>
            <a:ext cx="63720" cy="80424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998" name="Image 4" descr="preencoded.png"/>
          <p:cNvPicPr/>
          <p:nvPr/>
        </p:nvPicPr>
        <p:blipFill>
          <a:blip r:embed="rId5"/>
          <a:stretch/>
        </p:blipFill>
        <p:spPr>
          <a:xfrm>
            <a:off x="301680" y="4389120"/>
            <a:ext cx="292320" cy="292320"/>
          </a:xfrm>
          <a:prstGeom prst="rect">
            <a:avLst/>
          </a:prstGeom>
          <a:ln>
            <a:noFill/>
          </a:ln>
        </p:spPr>
      </p:pic>
      <p:sp>
        <p:nvSpPr>
          <p:cNvPr id="999" name="CustomShape 33"/>
          <p:cNvSpPr/>
          <p:nvPr/>
        </p:nvSpPr>
        <p:spPr>
          <a:xfrm>
            <a:off x="713160" y="4260960"/>
            <a:ext cx="26514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4a727"/>
                </a:solidFill>
                <a:latin typeface="Trebuchet MS"/>
                <a:ea typeface="Trebuchet MS"/>
              </a:rPr>
              <a:t>Evaluation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00" name="CustomShape 34"/>
          <p:cNvSpPr/>
          <p:nvPr/>
        </p:nvSpPr>
        <p:spPr>
          <a:xfrm>
            <a:off x="713160" y="4526280"/>
            <a:ext cx="2788560" cy="438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AI evaluation fundamentals</a:t>
            </a:r>
            <a:endParaRPr b="0" lang="en-IN" sz="85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850" spc="-1" strike="noStrike">
                <a:solidFill>
                  <a:srgbClr val="e8f4f8"/>
                </a:solidFill>
                <a:latin typeface="Calibri"/>
                <a:ea typeface="Calibri"/>
              </a:rPr>
              <a:t>Response quality &amp; reliability metrics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01" name="CustomShape 35"/>
          <p:cNvSpPr/>
          <p:nvPr/>
        </p:nvSpPr>
        <p:spPr>
          <a:xfrm>
            <a:off x="3538800" y="4416480"/>
            <a:ext cx="1846800" cy="319680"/>
          </a:xfrm>
          <a:prstGeom prst="rect">
            <a:avLst/>
          </a:prstGeom>
          <a:solidFill>
            <a:srgbClr val="1c3354"/>
          </a:solidFill>
          <a:ln w="90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2" name="CustomShape 36"/>
          <p:cNvSpPr/>
          <p:nvPr/>
        </p:nvSpPr>
        <p:spPr>
          <a:xfrm>
            <a:off x="3538800" y="4416480"/>
            <a:ext cx="1846800" cy="3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Measure &amp; improve AI performance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03" name="CustomShape 37"/>
          <p:cNvSpPr/>
          <p:nvPr/>
        </p:nvSpPr>
        <p:spPr>
          <a:xfrm>
            <a:off x="5614560" y="749880"/>
            <a:ext cx="3364560" cy="43156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4" name="CustomShape 38"/>
          <p:cNvSpPr/>
          <p:nvPr/>
        </p:nvSpPr>
        <p:spPr>
          <a:xfrm>
            <a:off x="5614560" y="804600"/>
            <a:ext cx="336456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48" strike="noStrike">
                <a:solidFill>
                  <a:srgbClr val="ff6b6b"/>
                </a:solidFill>
                <a:latin typeface="Trebuchet MS"/>
                <a:ea typeface="Trebuchet MS"/>
              </a:rPr>
              <a:t>PRODUCTION AI STACK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05" name="CustomShape 39"/>
          <p:cNvSpPr/>
          <p:nvPr/>
        </p:nvSpPr>
        <p:spPr>
          <a:xfrm>
            <a:off x="5970960" y="113400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6" name="CustomShape 40"/>
          <p:cNvSpPr/>
          <p:nvPr/>
        </p:nvSpPr>
        <p:spPr>
          <a:xfrm>
            <a:off x="5952600" y="127116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7" name="CustomShape 41"/>
          <p:cNvSpPr/>
          <p:nvPr/>
        </p:nvSpPr>
        <p:spPr>
          <a:xfrm>
            <a:off x="6172200" y="1170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Client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08" name="CustomShape 42"/>
          <p:cNvSpPr/>
          <p:nvPr/>
        </p:nvSpPr>
        <p:spPr>
          <a:xfrm>
            <a:off x="6172200" y="1380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Web / Mobile / CLI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09" name="CustomShape 43"/>
          <p:cNvSpPr/>
          <p:nvPr/>
        </p:nvSpPr>
        <p:spPr>
          <a:xfrm>
            <a:off x="7269480" y="157284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0" name="CustomShape 44"/>
          <p:cNvSpPr/>
          <p:nvPr/>
        </p:nvSpPr>
        <p:spPr>
          <a:xfrm>
            <a:off x="5970960" y="1700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f6b6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1" name="CustomShape 45"/>
          <p:cNvSpPr/>
          <p:nvPr/>
        </p:nvSpPr>
        <p:spPr>
          <a:xfrm>
            <a:off x="5952600" y="1837800"/>
            <a:ext cx="164160" cy="164160"/>
          </a:xfrm>
          <a:prstGeom prst="ellipse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2" name="CustomShape 46"/>
          <p:cNvSpPr/>
          <p:nvPr/>
        </p:nvSpPr>
        <p:spPr>
          <a:xfrm>
            <a:off x="6172200" y="1737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FastAPI Server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13" name="CustomShape 47"/>
          <p:cNvSpPr/>
          <p:nvPr/>
        </p:nvSpPr>
        <p:spPr>
          <a:xfrm>
            <a:off x="6172200" y="1947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REST endpoints · async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14" name="CustomShape 48"/>
          <p:cNvSpPr/>
          <p:nvPr/>
        </p:nvSpPr>
        <p:spPr>
          <a:xfrm>
            <a:off x="7269480" y="213984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5" name="CustomShape 49"/>
          <p:cNvSpPr/>
          <p:nvPr/>
        </p:nvSpPr>
        <p:spPr>
          <a:xfrm>
            <a:off x="5970960" y="2267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6" name="CustomShape 50"/>
          <p:cNvSpPr/>
          <p:nvPr/>
        </p:nvSpPr>
        <p:spPr>
          <a:xfrm>
            <a:off x="5952600" y="240480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7" name="CustomShape 51"/>
          <p:cNvSpPr/>
          <p:nvPr/>
        </p:nvSpPr>
        <p:spPr>
          <a:xfrm>
            <a:off x="6172200" y="2304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Service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18" name="CustomShape 52"/>
          <p:cNvSpPr/>
          <p:nvPr/>
        </p:nvSpPr>
        <p:spPr>
          <a:xfrm>
            <a:off x="6172200" y="2514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Groq / OpenAI / Self-hosted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19" name="CustomShape 53"/>
          <p:cNvSpPr/>
          <p:nvPr/>
        </p:nvSpPr>
        <p:spPr>
          <a:xfrm>
            <a:off x="7269480" y="2706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0" name="CustomShape 54"/>
          <p:cNvSpPr/>
          <p:nvPr/>
        </p:nvSpPr>
        <p:spPr>
          <a:xfrm>
            <a:off x="5970960" y="2834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1" name="CustomShape 55"/>
          <p:cNvSpPr/>
          <p:nvPr/>
        </p:nvSpPr>
        <p:spPr>
          <a:xfrm>
            <a:off x="5952600" y="2971800"/>
            <a:ext cx="164160" cy="16416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2" name="CustomShape 56"/>
          <p:cNvSpPr/>
          <p:nvPr/>
        </p:nvSpPr>
        <p:spPr>
          <a:xfrm>
            <a:off x="6172200" y="287136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Response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23" name="CustomShape 57"/>
          <p:cNvSpPr/>
          <p:nvPr/>
        </p:nvSpPr>
        <p:spPr>
          <a:xfrm>
            <a:off x="6172200" y="3081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JSON · Streaming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24" name="CustomShape 58"/>
          <p:cNvSpPr/>
          <p:nvPr/>
        </p:nvSpPr>
        <p:spPr>
          <a:xfrm>
            <a:off x="7269480" y="3273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5" name="CustomShape 59"/>
          <p:cNvSpPr/>
          <p:nvPr/>
        </p:nvSpPr>
        <p:spPr>
          <a:xfrm>
            <a:off x="5970960" y="3401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6" name="CustomShape 60"/>
          <p:cNvSpPr/>
          <p:nvPr/>
        </p:nvSpPr>
        <p:spPr>
          <a:xfrm>
            <a:off x="5952600" y="353880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7" name="CustomShape 61"/>
          <p:cNvSpPr/>
          <p:nvPr/>
        </p:nvSpPr>
        <p:spPr>
          <a:xfrm>
            <a:off x="6172200" y="343800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Logging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28" name="CustomShape 62"/>
          <p:cNvSpPr/>
          <p:nvPr/>
        </p:nvSpPr>
        <p:spPr>
          <a:xfrm>
            <a:off x="6172200" y="364860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Request · Response · Error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29" name="CustomShape 63"/>
          <p:cNvSpPr/>
          <p:nvPr/>
        </p:nvSpPr>
        <p:spPr>
          <a:xfrm>
            <a:off x="7269480" y="3840480"/>
            <a:ext cx="54360" cy="9108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0" name="CustomShape 64"/>
          <p:cNvSpPr/>
          <p:nvPr/>
        </p:nvSpPr>
        <p:spPr>
          <a:xfrm>
            <a:off x="5970960" y="3968640"/>
            <a:ext cx="265140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1" name="CustomShape 65"/>
          <p:cNvSpPr/>
          <p:nvPr/>
        </p:nvSpPr>
        <p:spPr>
          <a:xfrm>
            <a:off x="5952600" y="410580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2" name="CustomShape 66"/>
          <p:cNvSpPr/>
          <p:nvPr/>
        </p:nvSpPr>
        <p:spPr>
          <a:xfrm>
            <a:off x="6172200" y="4005000"/>
            <a:ext cx="24138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Monitoring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33" name="CustomShape 67"/>
          <p:cNvSpPr/>
          <p:nvPr/>
        </p:nvSpPr>
        <p:spPr>
          <a:xfrm>
            <a:off x="6172200" y="4215240"/>
            <a:ext cx="24138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Metrics · Alerts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34" name="CustomShape 68"/>
          <p:cNvSpPr/>
          <p:nvPr/>
        </p:nvSpPr>
        <p:spPr>
          <a:xfrm>
            <a:off x="5815440" y="4663440"/>
            <a:ext cx="2706120" cy="237240"/>
          </a:xfrm>
          <a:prstGeom prst="rect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5" name="CustomShape 69"/>
          <p:cNvSpPr/>
          <p:nvPr/>
        </p:nvSpPr>
        <p:spPr>
          <a:xfrm>
            <a:off x="5815440" y="4663440"/>
            <a:ext cx="270612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fffff"/>
                </a:solidFill>
                <a:latin typeface="Trebuchet MS"/>
                <a:ea typeface="Trebuchet MS"/>
              </a:rPr>
              <a:t>✓  </a:t>
            </a:r>
            <a:r>
              <a:rPr b="1" lang="en-US" sz="780" spc="-1" strike="noStrike">
                <a:solidFill>
                  <a:srgbClr val="ffffff"/>
                </a:solidFill>
                <a:latin typeface="Trebuchet MS"/>
                <a:ea typeface="Trebuchet MS"/>
              </a:rPr>
              <a:t>Scalable · Observable · Enterprise-Ready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036" name="CustomShape 70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5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8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9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40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Practical Labs &amp; Hands-On Learning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041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2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43" name="CustomShape 7"/>
          <p:cNvSpPr/>
          <p:nvPr/>
        </p:nvSpPr>
        <p:spPr>
          <a:xfrm>
            <a:off x="164520" y="749880"/>
            <a:ext cx="4278960" cy="212112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4" name="CustomShape 8"/>
          <p:cNvSpPr/>
          <p:nvPr/>
        </p:nvSpPr>
        <p:spPr>
          <a:xfrm>
            <a:off x="164520" y="74988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5" name="CustomShape 9"/>
          <p:cNvSpPr/>
          <p:nvPr/>
        </p:nvSpPr>
        <p:spPr>
          <a:xfrm>
            <a:off x="164520" y="749880"/>
            <a:ext cx="566640" cy="255600"/>
          </a:xfrm>
          <a:prstGeom prst="rect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6" name="CustomShape 10"/>
          <p:cNvSpPr/>
          <p:nvPr/>
        </p:nvSpPr>
        <p:spPr>
          <a:xfrm>
            <a:off x="164520" y="749880"/>
            <a:ext cx="5666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1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47" name="CustomShape 11"/>
          <p:cNvSpPr/>
          <p:nvPr/>
        </p:nvSpPr>
        <p:spPr>
          <a:xfrm>
            <a:off x="786240" y="749880"/>
            <a:ext cx="34560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AI API Creation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1048" name="Image 0" descr="preencoded.png"/>
          <p:cNvPicPr/>
          <p:nvPr/>
        </p:nvPicPr>
        <p:blipFill>
          <a:blip r:embed="rId1"/>
          <a:stretch/>
        </p:blipFill>
        <p:spPr>
          <a:xfrm>
            <a:off x="255960" y="1152000"/>
            <a:ext cx="328680" cy="328680"/>
          </a:xfrm>
          <a:prstGeom prst="rect">
            <a:avLst/>
          </a:prstGeom>
          <a:ln>
            <a:noFill/>
          </a:ln>
        </p:spPr>
      </p:pic>
      <p:sp>
        <p:nvSpPr>
          <p:cNvPr id="1049" name="CustomShape 12"/>
          <p:cNvSpPr/>
          <p:nvPr/>
        </p:nvSpPr>
        <p:spPr>
          <a:xfrm>
            <a:off x="640080" y="1078920"/>
            <a:ext cx="3547440" cy="164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ff6b6b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Build REST API endpoints using FastAPI framework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ff6b6b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Endpoint design · async functions · request handling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FastAPI = high-performance, production-ready API framework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1050" name="CustomShape 13"/>
          <p:cNvSpPr/>
          <p:nvPr/>
        </p:nvSpPr>
        <p:spPr>
          <a:xfrm>
            <a:off x="164520" y="3054240"/>
            <a:ext cx="4278960" cy="212112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1" name="CustomShape 14"/>
          <p:cNvSpPr/>
          <p:nvPr/>
        </p:nvSpPr>
        <p:spPr>
          <a:xfrm>
            <a:off x="164520" y="3054240"/>
            <a:ext cx="427896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2" name="CustomShape 15"/>
          <p:cNvSpPr/>
          <p:nvPr/>
        </p:nvSpPr>
        <p:spPr>
          <a:xfrm>
            <a:off x="164520" y="3054240"/>
            <a:ext cx="566640" cy="25560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3" name="CustomShape 16"/>
          <p:cNvSpPr/>
          <p:nvPr/>
        </p:nvSpPr>
        <p:spPr>
          <a:xfrm>
            <a:off x="164520" y="3054240"/>
            <a:ext cx="56664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0d1b2a"/>
                </a:solidFill>
                <a:latin typeface="Trebuchet MS"/>
                <a:ea typeface="Trebuchet MS"/>
              </a:rPr>
              <a:t>Lab 2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054" name="CustomShape 17"/>
          <p:cNvSpPr/>
          <p:nvPr/>
        </p:nvSpPr>
        <p:spPr>
          <a:xfrm>
            <a:off x="786240" y="3054240"/>
            <a:ext cx="3456000" cy="25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Trebuchet MS"/>
                <a:ea typeface="Trebuchet MS"/>
              </a:rPr>
              <a:t>Streaming Response API</a:t>
            </a:r>
            <a:endParaRPr b="0" lang="en-IN" sz="1050" spc="-1" strike="noStrike">
              <a:latin typeface="Arial"/>
            </a:endParaRPr>
          </a:p>
        </p:txBody>
      </p:sp>
      <p:pic>
        <p:nvPicPr>
          <p:cNvPr id="1055" name="Image 1" descr="preencoded.png"/>
          <p:cNvPicPr/>
          <p:nvPr/>
        </p:nvPicPr>
        <p:blipFill>
          <a:blip r:embed="rId2"/>
          <a:stretch/>
        </p:blipFill>
        <p:spPr>
          <a:xfrm>
            <a:off x="255960" y="3456360"/>
            <a:ext cx="328680" cy="328680"/>
          </a:xfrm>
          <a:prstGeom prst="rect">
            <a:avLst/>
          </a:prstGeom>
          <a:ln>
            <a:noFill/>
          </a:ln>
        </p:spPr>
      </p:pic>
      <p:sp>
        <p:nvSpPr>
          <p:cNvPr id="1056" name="CustomShape 18"/>
          <p:cNvSpPr/>
          <p:nvPr/>
        </p:nvSpPr>
        <p:spPr>
          <a:xfrm>
            <a:off x="640080" y="3383280"/>
            <a:ext cx="3547440" cy="1645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Objective: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Implement token-by-token response streaming</a:t>
            </a:r>
            <a:endParaRPr b="0" lang="en-IN" sz="880" spc="-1" strike="noStrike">
              <a:latin typeface="Arial"/>
            </a:endParaRPr>
          </a:p>
          <a:p>
            <a:r>
              <a:rPr b="1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Implemented:  </a:t>
            </a:r>
            <a:r>
              <a:rPr b="0" lang="en-US" sz="880" spc="-1" strike="noStrike">
                <a:solidFill>
                  <a:srgbClr val="e8f4f8"/>
                </a:solidFill>
                <a:latin typeface="Calibri"/>
                <a:ea typeface="Calibri"/>
              </a:rPr>
              <a:t>Server-Sent Events · chunked responses · real-time delivery</a:t>
            </a:r>
            <a:endParaRPr b="0" lang="en-IN" sz="88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✦ </a:t>
            </a:r>
            <a:r>
              <a:rPr b="0" lang="en-US" sz="880" spc="-1" strike="noStrike">
                <a:solidFill>
                  <a:srgbClr val="f4a727"/>
                </a:solidFill>
                <a:latin typeface="Calibri"/>
                <a:ea typeface="Calibri"/>
              </a:rPr>
              <a:t>Key Learning:  </a:t>
            </a:r>
            <a:r>
              <a:rPr b="0" i="1" lang="en-US" sz="880" spc="-1" strike="noStrike">
                <a:solidFill>
                  <a:srgbClr val="9bb5c8"/>
                </a:solidFill>
                <a:latin typeface="Calibri"/>
                <a:ea typeface="Calibri"/>
              </a:rPr>
              <a:t>Streaming = responsive UX · lower latency · better perceived performance</a:t>
            </a:r>
            <a:endParaRPr b="0" lang="en-IN" sz="880" spc="-1" strike="noStrike">
              <a:latin typeface="Arial"/>
            </a:endParaRPr>
          </a:p>
        </p:txBody>
      </p:sp>
      <p:sp>
        <p:nvSpPr>
          <p:cNvPr id="1057" name="CustomShape 19"/>
          <p:cNvSpPr/>
          <p:nvPr/>
        </p:nvSpPr>
        <p:spPr>
          <a:xfrm>
            <a:off x="16452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8" name="CustomShape 20"/>
          <p:cNvSpPr/>
          <p:nvPr/>
        </p:nvSpPr>
        <p:spPr>
          <a:xfrm>
            <a:off x="16452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f6b6b"/>
                </a:solidFill>
                <a:latin typeface="Trebuchet MS"/>
                <a:ea typeface="Trebuchet MS"/>
              </a:rPr>
              <a:t>API Development Workflow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059" name="CustomShape 21"/>
          <p:cNvSpPr/>
          <p:nvPr/>
        </p:nvSpPr>
        <p:spPr>
          <a:xfrm>
            <a:off x="221292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0" name="CustomShape 22"/>
          <p:cNvSpPr/>
          <p:nvPr/>
        </p:nvSpPr>
        <p:spPr>
          <a:xfrm>
            <a:off x="221292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00c2cb"/>
                </a:solidFill>
                <a:latin typeface="Trebuchet MS"/>
                <a:ea typeface="Trebuchet MS"/>
              </a:rPr>
              <a:t>Request/Response Architecture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061" name="CustomShape 23"/>
          <p:cNvSpPr/>
          <p:nvPr/>
        </p:nvSpPr>
        <p:spPr>
          <a:xfrm>
            <a:off x="426096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2" name="CustomShape 24"/>
          <p:cNvSpPr/>
          <p:nvPr/>
        </p:nvSpPr>
        <p:spPr>
          <a:xfrm>
            <a:off x="426096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f4a727"/>
                </a:solidFill>
                <a:latin typeface="Trebuchet MS"/>
                <a:ea typeface="Trebuchet MS"/>
              </a:rPr>
              <a:t>Real-Time Response Streaming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063" name="CustomShape 25"/>
          <p:cNvSpPr/>
          <p:nvPr/>
        </p:nvSpPr>
        <p:spPr>
          <a:xfrm>
            <a:off x="6309360" y="4663440"/>
            <a:ext cx="1956600" cy="237240"/>
          </a:xfrm>
          <a:prstGeom prst="rect">
            <a:avLst/>
          </a:prstGeom>
          <a:solidFill>
            <a:srgbClr val="1c3354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4" name="CustomShape 26"/>
          <p:cNvSpPr/>
          <p:nvPr/>
        </p:nvSpPr>
        <p:spPr>
          <a:xfrm>
            <a:off x="6309360" y="4663440"/>
            <a:ext cx="19566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" spc="-1" strike="noStrike">
                <a:solidFill>
                  <a:srgbClr val="a78bfa"/>
                </a:solidFill>
                <a:latin typeface="Trebuchet MS"/>
                <a:ea typeface="Trebuchet MS"/>
              </a:rPr>
              <a:t>Production Engineering Practices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1065" name="CustomShape 27"/>
          <p:cNvSpPr/>
          <p:nvPr/>
        </p:nvSpPr>
        <p:spPr>
          <a:xfrm>
            <a:off x="4608720" y="749880"/>
            <a:ext cx="4370400" cy="38584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6" name="CustomShape 28"/>
          <p:cNvSpPr/>
          <p:nvPr/>
        </p:nvSpPr>
        <p:spPr>
          <a:xfrm>
            <a:off x="4608720" y="804600"/>
            <a:ext cx="437040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7" strike="noStrike">
                <a:solidFill>
                  <a:srgbClr val="ff6b6b"/>
                </a:solidFill>
                <a:latin typeface="Trebuchet MS"/>
                <a:ea typeface="Trebuchet MS"/>
              </a:rPr>
              <a:t>API REQUEST / RESPONSE FLOW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067" name="CustomShape 29"/>
          <p:cNvSpPr/>
          <p:nvPr/>
        </p:nvSpPr>
        <p:spPr>
          <a:xfrm>
            <a:off x="5230440" y="111564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8" name="CustomShape 30"/>
          <p:cNvSpPr/>
          <p:nvPr/>
        </p:nvSpPr>
        <p:spPr>
          <a:xfrm>
            <a:off x="5212080" y="125280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9" name="CustomShape 31"/>
          <p:cNvSpPr/>
          <p:nvPr/>
        </p:nvSpPr>
        <p:spPr>
          <a:xfrm>
            <a:off x="5449680" y="115200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Client Request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70" name="CustomShape 32"/>
          <p:cNvSpPr/>
          <p:nvPr/>
        </p:nvSpPr>
        <p:spPr>
          <a:xfrm>
            <a:off x="5449680" y="136260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HTTP POST to /chat endpoint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71" name="CustomShape 33"/>
          <p:cNvSpPr/>
          <p:nvPr/>
        </p:nvSpPr>
        <p:spPr>
          <a:xfrm>
            <a:off x="6766560" y="155448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2" name="CustomShape 34"/>
          <p:cNvSpPr/>
          <p:nvPr/>
        </p:nvSpPr>
        <p:spPr>
          <a:xfrm>
            <a:off x="5230440" y="166428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f6b6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3" name="CustomShape 35"/>
          <p:cNvSpPr/>
          <p:nvPr/>
        </p:nvSpPr>
        <p:spPr>
          <a:xfrm>
            <a:off x="5212080" y="1801440"/>
            <a:ext cx="164160" cy="164160"/>
          </a:xfrm>
          <a:prstGeom prst="ellipse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4" name="CustomShape 36"/>
          <p:cNvSpPr/>
          <p:nvPr/>
        </p:nvSpPr>
        <p:spPr>
          <a:xfrm>
            <a:off x="5449680" y="170064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FastAPI Processing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75" name="CustomShape 37"/>
          <p:cNvSpPr/>
          <p:nvPr/>
        </p:nvSpPr>
        <p:spPr>
          <a:xfrm>
            <a:off x="5449680" y="191124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Route → validate → parse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76" name="CustomShape 38"/>
          <p:cNvSpPr/>
          <p:nvPr/>
        </p:nvSpPr>
        <p:spPr>
          <a:xfrm>
            <a:off x="6766560" y="210312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7" name="CustomShape 39"/>
          <p:cNvSpPr/>
          <p:nvPr/>
        </p:nvSpPr>
        <p:spPr>
          <a:xfrm>
            <a:off x="5230440" y="221292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8" name="CustomShape 40"/>
          <p:cNvSpPr/>
          <p:nvPr/>
        </p:nvSpPr>
        <p:spPr>
          <a:xfrm>
            <a:off x="5212080" y="235008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9" name="CustomShape 41"/>
          <p:cNvSpPr/>
          <p:nvPr/>
        </p:nvSpPr>
        <p:spPr>
          <a:xfrm>
            <a:off x="5449680" y="224928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 Invocation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80" name="CustomShape 42"/>
          <p:cNvSpPr/>
          <p:nvPr/>
        </p:nvSpPr>
        <p:spPr>
          <a:xfrm>
            <a:off x="5449680" y="245988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Call Groq API with prompt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81" name="CustomShape 43"/>
          <p:cNvSpPr/>
          <p:nvPr/>
        </p:nvSpPr>
        <p:spPr>
          <a:xfrm>
            <a:off x="6766560" y="265176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2" name="CustomShape 44"/>
          <p:cNvSpPr/>
          <p:nvPr/>
        </p:nvSpPr>
        <p:spPr>
          <a:xfrm>
            <a:off x="5230440" y="276156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3" name="CustomShape 45"/>
          <p:cNvSpPr/>
          <p:nvPr/>
        </p:nvSpPr>
        <p:spPr>
          <a:xfrm>
            <a:off x="5212080" y="2898720"/>
            <a:ext cx="164160" cy="164160"/>
          </a:xfrm>
          <a:prstGeom prst="ellipse">
            <a:avLst/>
          </a:prstGeom>
          <a:solidFill>
            <a:srgbClr val="29b6a8"/>
          </a:solidFill>
          <a:ln w="1260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4" name="CustomShape 46"/>
          <p:cNvSpPr/>
          <p:nvPr/>
        </p:nvSpPr>
        <p:spPr>
          <a:xfrm>
            <a:off x="5449680" y="279792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Token Generation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85" name="CustomShape 47"/>
          <p:cNvSpPr/>
          <p:nvPr/>
        </p:nvSpPr>
        <p:spPr>
          <a:xfrm>
            <a:off x="5449680" y="300852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LLM streams response tokens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86" name="CustomShape 48"/>
          <p:cNvSpPr/>
          <p:nvPr/>
        </p:nvSpPr>
        <p:spPr>
          <a:xfrm>
            <a:off x="6766560" y="320040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7" name="CustomShape 49"/>
          <p:cNvSpPr/>
          <p:nvPr/>
        </p:nvSpPr>
        <p:spPr>
          <a:xfrm>
            <a:off x="5230440" y="331020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8" name="CustomShape 50"/>
          <p:cNvSpPr/>
          <p:nvPr/>
        </p:nvSpPr>
        <p:spPr>
          <a:xfrm>
            <a:off x="5212080" y="3447360"/>
            <a:ext cx="164160" cy="16416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9" name="CustomShape 51"/>
          <p:cNvSpPr/>
          <p:nvPr/>
        </p:nvSpPr>
        <p:spPr>
          <a:xfrm>
            <a:off x="5449680" y="334656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Response Streaming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90" name="CustomShape 52"/>
          <p:cNvSpPr/>
          <p:nvPr/>
        </p:nvSpPr>
        <p:spPr>
          <a:xfrm>
            <a:off x="5449680" y="355716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Send chunks to client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91" name="CustomShape 53"/>
          <p:cNvSpPr/>
          <p:nvPr/>
        </p:nvSpPr>
        <p:spPr>
          <a:xfrm>
            <a:off x="6766560" y="3749040"/>
            <a:ext cx="54360" cy="727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2" name="CustomShape 54"/>
          <p:cNvSpPr/>
          <p:nvPr/>
        </p:nvSpPr>
        <p:spPr>
          <a:xfrm>
            <a:off x="5230440" y="3858840"/>
            <a:ext cx="3126960" cy="4384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  <a:effectLst>
            <a:outerShdw algn="bl" blurRad="63500" dir="16200000" dist="255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3" name="CustomShape 55"/>
          <p:cNvSpPr/>
          <p:nvPr/>
        </p:nvSpPr>
        <p:spPr>
          <a:xfrm>
            <a:off x="5212080" y="3996000"/>
            <a:ext cx="164160" cy="16416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4" name="CustomShape 56"/>
          <p:cNvSpPr/>
          <p:nvPr/>
        </p:nvSpPr>
        <p:spPr>
          <a:xfrm>
            <a:off x="5449680" y="3895200"/>
            <a:ext cx="287100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Logging &amp; Monitoring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095" name="CustomShape 57"/>
          <p:cNvSpPr/>
          <p:nvPr/>
        </p:nvSpPr>
        <p:spPr>
          <a:xfrm>
            <a:off x="5449680" y="4105800"/>
            <a:ext cx="2871000" cy="15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60" spc="-1" strike="noStrike">
                <a:solidFill>
                  <a:srgbClr val="9bb5c8"/>
                </a:solidFill>
                <a:latin typeface="Calibri"/>
                <a:ea typeface="Calibri"/>
              </a:rPr>
              <a:t>Record metrics &amp; errors</a:t>
            </a:r>
            <a:endParaRPr b="0" lang="en-IN" sz="760" spc="-1" strike="noStrike">
              <a:latin typeface="Arial"/>
            </a:endParaRPr>
          </a:p>
        </p:txBody>
      </p:sp>
      <p:sp>
        <p:nvSpPr>
          <p:cNvPr id="1096" name="CustomShape 58"/>
          <p:cNvSpPr/>
          <p:nvPr/>
        </p:nvSpPr>
        <p:spPr>
          <a:xfrm>
            <a:off x="4791600" y="4407480"/>
            <a:ext cx="4004640" cy="18252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7" name="CustomShape 59"/>
          <p:cNvSpPr/>
          <p:nvPr/>
        </p:nvSpPr>
        <p:spPr>
          <a:xfrm>
            <a:off x="4791600" y="4407480"/>
            <a:ext cx="4004640" cy="18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8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Production-Grade AI API Response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098" name="CustomShape 60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5 of 5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CustomShape 1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0" name="CustomShape 2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1" name="CustomShape 3"/>
          <p:cNvSpPr/>
          <p:nvPr/>
        </p:nvSpPr>
        <p:spPr>
          <a:xfrm>
            <a:off x="0" y="0"/>
            <a:ext cx="100548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PROJECT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02" name="CustomShape 4"/>
          <p:cNvSpPr/>
          <p:nvPr/>
        </p:nvSpPr>
        <p:spPr>
          <a:xfrm>
            <a:off x="1097280" y="0"/>
            <a:ext cx="6400440" cy="65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Trebuchet MS"/>
                <a:ea typeface="Trebuchet MS"/>
              </a:rPr>
              <a:t>Mini Project – Production-Ready Chatbot API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1103" name="CustomShape 5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4" name="CustomShape 6"/>
          <p:cNvSpPr/>
          <p:nvPr/>
        </p:nvSpPr>
        <p:spPr>
          <a:xfrm>
            <a:off x="7589520" y="91440"/>
            <a:ext cx="1416960" cy="475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GenAI Training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05" name="CustomShape 7"/>
          <p:cNvSpPr/>
          <p:nvPr/>
        </p:nvSpPr>
        <p:spPr>
          <a:xfrm>
            <a:off x="164520" y="749880"/>
            <a:ext cx="4315680" cy="138960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6" name="CustomShape 8"/>
          <p:cNvSpPr/>
          <p:nvPr/>
        </p:nvSpPr>
        <p:spPr>
          <a:xfrm>
            <a:off x="164520" y="749880"/>
            <a:ext cx="54360" cy="1389600"/>
          </a:xfrm>
          <a:prstGeom prst="rect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07" name="Image 0" descr="preencoded.png"/>
          <p:cNvPicPr/>
          <p:nvPr/>
        </p:nvPicPr>
        <p:blipFill>
          <a:blip r:embed="rId1"/>
          <a:stretch/>
        </p:blipFill>
        <p:spPr>
          <a:xfrm>
            <a:off x="292680" y="822960"/>
            <a:ext cx="328680" cy="328680"/>
          </a:xfrm>
          <a:prstGeom prst="rect">
            <a:avLst/>
          </a:prstGeom>
          <a:ln>
            <a:noFill/>
          </a:ln>
        </p:spPr>
      </p:pic>
      <p:sp>
        <p:nvSpPr>
          <p:cNvPr id="1108" name="CustomShape 9"/>
          <p:cNvSpPr/>
          <p:nvPr/>
        </p:nvSpPr>
        <p:spPr>
          <a:xfrm>
            <a:off x="676800" y="777240"/>
            <a:ext cx="36572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78bfa"/>
                </a:solidFill>
                <a:latin typeface="Trebuchet MS"/>
                <a:ea typeface="Trebuchet MS"/>
              </a:rPr>
              <a:t>Project Overview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09" name="CustomShape 10"/>
          <p:cNvSpPr/>
          <p:nvPr/>
        </p:nvSpPr>
        <p:spPr>
          <a:xfrm>
            <a:off x="676800" y="1024200"/>
            <a:ext cx="3657240" cy="1005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Production-ready Chatbot API using FastAPI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REST endpoints · input validation · error handling</a:t>
            </a:r>
            <a:endParaRPr b="0" lang="en-IN" sz="900" spc="-1" strike="noStrike">
              <a:latin typeface="Arial"/>
            </a:endParaRPr>
          </a:p>
          <a:p>
            <a:pPr marL="343080" indent="-342720">
              <a:lnSpc>
                <a:spcPct val="100000"/>
              </a:lnSpc>
              <a:buClr>
                <a:srgbClr val="e8f4f8"/>
              </a:buClr>
              <a:buFont typeface="Symbol" charset="2"/>
              <a:buChar char=""/>
            </a:pPr>
            <a:r>
              <a:rPr b="0" lang="en-US" sz="900" spc="-1" strike="noStrike">
                <a:solidFill>
                  <a:srgbClr val="e8f4f8"/>
                </a:solidFill>
                <a:latin typeface="Calibri"/>
                <a:ea typeface="Calibri"/>
              </a:rPr>
              <a:t>Tested via Swagger UI · JSON responses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10" name="CustomShape 11"/>
          <p:cNvSpPr/>
          <p:nvPr/>
        </p:nvSpPr>
        <p:spPr>
          <a:xfrm>
            <a:off x="164520" y="2212920"/>
            <a:ext cx="4315680" cy="14259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1" name="CustomShape 12"/>
          <p:cNvSpPr/>
          <p:nvPr/>
        </p:nvSpPr>
        <p:spPr>
          <a:xfrm>
            <a:off x="164520" y="2212920"/>
            <a:ext cx="54360" cy="1425960"/>
          </a:xfrm>
          <a:prstGeom prst="rect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2" name="CustomShape 13"/>
          <p:cNvSpPr/>
          <p:nvPr/>
        </p:nvSpPr>
        <p:spPr>
          <a:xfrm>
            <a:off x="292680" y="2240280"/>
            <a:ext cx="4114440" cy="237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2cb"/>
                </a:solidFill>
                <a:latin typeface="Trebuchet MS"/>
                <a:ea typeface="Trebuchet MS"/>
              </a:rPr>
              <a:t>API Architecture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3" name="CustomShape 14"/>
          <p:cNvSpPr/>
          <p:nvPr/>
        </p:nvSpPr>
        <p:spPr>
          <a:xfrm>
            <a:off x="311040" y="255132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4" name="CustomShape 15"/>
          <p:cNvSpPr/>
          <p:nvPr/>
        </p:nvSpPr>
        <p:spPr>
          <a:xfrm>
            <a:off x="311040" y="255132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User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1115" name="CustomShape 16"/>
          <p:cNvSpPr/>
          <p:nvPr/>
        </p:nvSpPr>
        <p:spPr>
          <a:xfrm>
            <a:off x="667440" y="2697480"/>
            <a:ext cx="5436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6" name="CustomShape 17"/>
          <p:cNvSpPr/>
          <p:nvPr/>
        </p:nvSpPr>
        <p:spPr>
          <a:xfrm>
            <a:off x="731520" y="255132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7" name="CustomShape 18"/>
          <p:cNvSpPr/>
          <p:nvPr/>
        </p:nvSpPr>
        <p:spPr>
          <a:xfrm>
            <a:off x="731520" y="255132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POST /chat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1118" name="CustomShape 19"/>
          <p:cNvSpPr/>
          <p:nvPr/>
        </p:nvSpPr>
        <p:spPr>
          <a:xfrm>
            <a:off x="1088280" y="2697480"/>
            <a:ext cx="5436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9" name="CustomShape 20"/>
          <p:cNvSpPr/>
          <p:nvPr/>
        </p:nvSpPr>
        <p:spPr>
          <a:xfrm>
            <a:off x="1152000" y="255132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0" name="CustomShape 21"/>
          <p:cNvSpPr/>
          <p:nvPr/>
        </p:nvSpPr>
        <p:spPr>
          <a:xfrm>
            <a:off x="1152000" y="255132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FastAPI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1121" name="CustomShape 22"/>
          <p:cNvSpPr/>
          <p:nvPr/>
        </p:nvSpPr>
        <p:spPr>
          <a:xfrm>
            <a:off x="1508760" y="2697480"/>
            <a:ext cx="5436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2" name="CustomShape 23"/>
          <p:cNvSpPr/>
          <p:nvPr/>
        </p:nvSpPr>
        <p:spPr>
          <a:xfrm>
            <a:off x="1572840" y="255132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29b6a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3" name="CustomShape 24"/>
          <p:cNvSpPr/>
          <p:nvPr/>
        </p:nvSpPr>
        <p:spPr>
          <a:xfrm>
            <a:off x="1572840" y="255132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Validate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1124" name="CustomShape 25"/>
          <p:cNvSpPr/>
          <p:nvPr/>
        </p:nvSpPr>
        <p:spPr>
          <a:xfrm>
            <a:off x="1929240" y="2697480"/>
            <a:ext cx="5436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5" name="CustomShape 26"/>
          <p:cNvSpPr/>
          <p:nvPr/>
        </p:nvSpPr>
        <p:spPr>
          <a:xfrm>
            <a:off x="1993320" y="255132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6" name="CustomShape 27"/>
          <p:cNvSpPr/>
          <p:nvPr/>
        </p:nvSpPr>
        <p:spPr>
          <a:xfrm>
            <a:off x="1993320" y="255132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LLM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1127" name="CustomShape 28"/>
          <p:cNvSpPr/>
          <p:nvPr/>
        </p:nvSpPr>
        <p:spPr>
          <a:xfrm>
            <a:off x="2350080" y="2697480"/>
            <a:ext cx="5436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8" name="CustomShape 29"/>
          <p:cNvSpPr/>
          <p:nvPr/>
        </p:nvSpPr>
        <p:spPr>
          <a:xfrm>
            <a:off x="2414160" y="255132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9" name="CustomShape 30"/>
          <p:cNvSpPr/>
          <p:nvPr/>
        </p:nvSpPr>
        <p:spPr>
          <a:xfrm>
            <a:off x="2414160" y="255132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JSON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1130" name="CustomShape 31"/>
          <p:cNvSpPr/>
          <p:nvPr/>
        </p:nvSpPr>
        <p:spPr>
          <a:xfrm>
            <a:off x="2770560" y="2697480"/>
            <a:ext cx="54360" cy="3636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1" name="CustomShape 32"/>
          <p:cNvSpPr/>
          <p:nvPr/>
        </p:nvSpPr>
        <p:spPr>
          <a:xfrm>
            <a:off x="2834640" y="2551320"/>
            <a:ext cx="347040" cy="328680"/>
          </a:xfrm>
          <a:prstGeom prst="rect">
            <a:avLst/>
          </a:prstGeom>
          <a:solidFill>
            <a:srgbClr val="1c3354"/>
          </a:solidFill>
          <a:ln w="1908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2" name="CustomShape 33"/>
          <p:cNvSpPr/>
          <p:nvPr/>
        </p:nvSpPr>
        <p:spPr>
          <a:xfrm>
            <a:off x="2834640" y="2551320"/>
            <a:ext cx="347040" cy="328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20" spc="-1" strike="noStrike">
                <a:solidFill>
                  <a:srgbClr val="ffffff"/>
                </a:solidFill>
                <a:latin typeface="Trebuchet MS"/>
                <a:ea typeface="Trebuchet MS"/>
              </a:rPr>
              <a:t>Response</a:t>
            </a:r>
            <a:endParaRPr b="0" lang="en-IN" sz="620" spc="-1" strike="noStrike">
              <a:latin typeface="Arial"/>
            </a:endParaRPr>
          </a:p>
        </p:txBody>
      </p:sp>
      <p:sp>
        <p:nvSpPr>
          <p:cNvPr id="1133" name="CustomShape 34"/>
          <p:cNvSpPr/>
          <p:nvPr/>
        </p:nvSpPr>
        <p:spPr>
          <a:xfrm>
            <a:off x="255960" y="2953440"/>
            <a:ext cx="4160160" cy="164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730" spc="-1" strike="noStrike">
                <a:solidFill>
                  <a:srgbClr val="9bb5c8"/>
                </a:solidFill>
                <a:latin typeface="Calibri"/>
                <a:ea typeface="Calibri"/>
              </a:rPr>
              <a:t>↑  </a:t>
            </a:r>
            <a:r>
              <a:rPr b="0" i="1" lang="en-US" sz="730" spc="-1" strike="noStrike">
                <a:solidFill>
                  <a:srgbClr val="9bb5c8"/>
                </a:solidFill>
                <a:latin typeface="Calibri"/>
                <a:ea typeface="Calibri"/>
              </a:rPr>
              <a:t>Full API lifecycle: request → validation → processing → response</a:t>
            </a:r>
            <a:endParaRPr b="0" lang="en-IN" sz="730" spc="-1" strike="noStrike">
              <a:latin typeface="Arial"/>
            </a:endParaRPr>
          </a:p>
        </p:txBody>
      </p:sp>
      <p:sp>
        <p:nvSpPr>
          <p:cNvPr id="1134" name="CustomShape 35"/>
          <p:cNvSpPr/>
          <p:nvPr/>
        </p:nvSpPr>
        <p:spPr>
          <a:xfrm>
            <a:off x="164520" y="3648600"/>
            <a:ext cx="4315680" cy="124308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5" name="CustomShape 36"/>
          <p:cNvSpPr/>
          <p:nvPr/>
        </p:nvSpPr>
        <p:spPr>
          <a:xfrm>
            <a:off x="164520" y="3648600"/>
            <a:ext cx="54360" cy="1243080"/>
          </a:xfrm>
          <a:prstGeom prst="rect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6" name="CustomShape 37"/>
          <p:cNvSpPr/>
          <p:nvPr/>
        </p:nvSpPr>
        <p:spPr>
          <a:xfrm>
            <a:off x="292680" y="3675960"/>
            <a:ext cx="411444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4a727"/>
                </a:solidFill>
                <a:latin typeface="Trebuchet MS"/>
                <a:ea typeface="Trebuchet MS"/>
              </a:rPr>
              <a:t>Challenges &amp; Solutions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7" name="CustomShape 38"/>
          <p:cNvSpPr/>
          <p:nvPr/>
        </p:nvSpPr>
        <p:spPr>
          <a:xfrm>
            <a:off x="255960" y="3913560"/>
            <a:ext cx="413280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8" name="CustomShape 39"/>
          <p:cNvSpPr/>
          <p:nvPr/>
        </p:nvSpPr>
        <p:spPr>
          <a:xfrm>
            <a:off x="311040" y="3931920"/>
            <a:ext cx="14626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API design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39" name="CustomShape 40"/>
          <p:cNvSpPr/>
          <p:nvPr/>
        </p:nvSpPr>
        <p:spPr>
          <a:xfrm>
            <a:off x="1810440" y="3986640"/>
            <a:ext cx="36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0" name="CustomShape 41"/>
          <p:cNvSpPr/>
          <p:nvPr/>
        </p:nvSpPr>
        <p:spPr>
          <a:xfrm>
            <a:off x="1901880" y="3931920"/>
            <a:ext cx="23770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RESTful principles · endpoint planning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41" name="CustomShape 42"/>
          <p:cNvSpPr/>
          <p:nvPr/>
        </p:nvSpPr>
        <p:spPr>
          <a:xfrm>
            <a:off x="255960" y="4206240"/>
            <a:ext cx="4132800" cy="255600"/>
          </a:xfrm>
          <a:prstGeom prst="rect">
            <a:avLst/>
          </a:prstGeom>
          <a:solidFill>
            <a:srgbClr val="0d1b2a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2" name="CustomShape 43"/>
          <p:cNvSpPr/>
          <p:nvPr/>
        </p:nvSpPr>
        <p:spPr>
          <a:xfrm>
            <a:off x="311040" y="4224600"/>
            <a:ext cx="14626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Input validation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43" name="CustomShape 44"/>
          <p:cNvSpPr/>
          <p:nvPr/>
        </p:nvSpPr>
        <p:spPr>
          <a:xfrm>
            <a:off x="1810440" y="4279320"/>
            <a:ext cx="36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4" name="CustomShape 45"/>
          <p:cNvSpPr/>
          <p:nvPr/>
        </p:nvSpPr>
        <p:spPr>
          <a:xfrm>
            <a:off x="1901880" y="4224600"/>
            <a:ext cx="23770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Pydantic models · type checking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45" name="CustomShape 46"/>
          <p:cNvSpPr/>
          <p:nvPr/>
        </p:nvSpPr>
        <p:spPr>
          <a:xfrm>
            <a:off x="255960" y="4498920"/>
            <a:ext cx="4132800" cy="255600"/>
          </a:xfrm>
          <a:prstGeom prst="rect">
            <a:avLst/>
          </a:prstGeom>
          <a:solidFill>
            <a:srgbClr val="1c3354"/>
          </a:solidFill>
          <a:ln w="12600">
            <a:solidFill>
              <a:srgbClr val="393f4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6" name="CustomShape 47"/>
          <p:cNvSpPr/>
          <p:nvPr/>
        </p:nvSpPr>
        <p:spPr>
          <a:xfrm>
            <a:off x="311040" y="4517280"/>
            <a:ext cx="14626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4a727"/>
                </a:solidFill>
                <a:latin typeface="Calibri"/>
                <a:ea typeface="Calibri"/>
              </a:rPr>
              <a:t>Error handling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47" name="CustomShape 48"/>
          <p:cNvSpPr/>
          <p:nvPr/>
        </p:nvSpPr>
        <p:spPr>
          <a:xfrm>
            <a:off x="1810440" y="4572000"/>
            <a:ext cx="36360" cy="109440"/>
          </a:xfrm>
          <a:prstGeom prst="rect">
            <a:avLst/>
          </a:prstGeom>
          <a:solidFill>
            <a:srgbClr val="007f85"/>
          </a:solidFill>
          <a:ln w="12600">
            <a:solidFill>
              <a:srgbClr val="007f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8" name="CustomShape 49"/>
          <p:cNvSpPr/>
          <p:nvPr/>
        </p:nvSpPr>
        <p:spPr>
          <a:xfrm>
            <a:off x="1901880" y="4517280"/>
            <a:ext cx="237708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HTTP exceptions · structured errors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49" name="CustomShape 50"/>
          <p:cNvSpPr/>
          <p:nvPr/>
        </p:nvSpPr>
        <p:spPr>
          <a:xfrm>
            <a:off x="4645080" y="749880"/>
            <a:ext cx="4334040" cy="4151160"/>
          </a:xfrm>
          <a:prstGeom prst="rect">
            <a:avLst/>
          </a:prstGeom>
          <a:solidFill>
            <a:srgbClr val="132338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0" name="CustomShape 51"/>
          <p:cNvSpPr/>
          <p:nvPr/>
        </p:nvSpPr>
        <p:spPr>
          <a:xfrm>
            <a:off x="4645080" y="749880"/>
            <a:ext cx="4334040" cy="27396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1" name="CustomShape 52"/>
          <p:cNvSpPr/>
          <p:nvPr/>
        </p:nvSpPr>
        <p:spPr>
          <a:xfrm>
            <a:off x="4645080" y="749880"/>
            <a:ext cx="4334040" cy="27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8" strike="noStrike">
                <a:solidFill>
                  <a:srgbClr val="00c2cb"/>
                </a:solidFill>
                <a:latin typeface="Trebuchet MS"/>
                <a:ea typeface="Trebuchet MS"/>
              </a:rPr>
              <a:t>KEY TAKEAWAYS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52" name="CustomShape 53"/>
          <p:cNvSpPr/>
          <p:nvPr/>
        </p:nvSpPr>
        <p:spPr>
          <a:xfrm>
            <a:off x="4809600" y="108828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3" name="CustomShape 54"/>
          <p:cNvSpPr/>
          <p:nvPr/>
        </p:nvSpPr>
        <p:spPr>
          <a:xfrm>
            <a:off x="4827960" y="1197720"/>
            <a:ext cx="292320" cy="292320"/>
          </a:xfrm>
          <a:prstGeom prst="ellipse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4" name="CustomShape 55"/>
          <p:cNvSpPr/>
          <p:nvPr/>
        </p:nvSpPr>
        <p:spPr>
          <a:xfrm>
            <a:off x="4827960" y="1197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1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155" name="Image 1" descr="preencoded.png"/>
          <p:cNvPicPr/>
          <p:nvPr/>
        </p:nvPicPr>
        <p:blipFill>
          <a:blip r:embed="rId2"/>
          <a:stretch/>
        </p:blipFill>
        <p:spPr>
          <a:xfrm>
            <a:off x="5193720" y="122544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1156" name="CustomShape 56"/>
          <p:cNvSpPr/>
          <p:nvPr/>
        </p:nvSpPr>
        <p:spPr>
          <a:xfrm>
            <a:off x="5486400" y="1143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FastAPI Development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57" name="CustomShape 57"/>
          <p:cNvSpPr/>
          <p:nvPr/>
        </p:nvSpPr>
        <p:spPr>
          <a:xfrm>
            <a:off x="5486400" y="136260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High-perf async Python framework for APIs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158" name="CustomShape 58"/>
          <p:cNvSpPr/>
          <p:nvPr/>
        </p:nvSpPr>
        <p:spPr>
          <a:xfrm>
            <a:off x="4809600" y="1654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9" name="CustomShape 59"/>
          <p:cNvSpPr/>
          <p:nvPr/>
        </p:nvSpPr>
        <p:spPr>
          <a:xfrm>
            <a:off x="4827960" y="1764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0" name="CustomShape 60"/>
          <p:cNvSpPr/>
          <p:nvPr/>
        </p:nvSpPr>
        <p:spPr>
          <a:xfrm>
            <a:off x="4827960" y="1764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2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161" name="Image 2" descr="preencoded.png"/>
          <p:cNvPicPr/>
          <p:nvPr/>
        </p:nvPicPr>
        <p:blipFill>
          <a:blip r:embed="rId3"/>
          <a:stretch/>
        </p:blipFill>
        <p:spPr>
          <a:xfrm>
            <a:off x="5193720" y="1792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1162" name="CustomShape 61"/>
          <p:cNvSpPr/>
          <p:nvPr/>
        </p:nvSpPr>
        <p:spPr>
          <a:xfrm>
            <a:off x="5486400" y="1710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Async Concepts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63" name="CustomShape 62"/>
          <p:cNvSpPr/>
          <p:nvPr/>
        </p:nvSpPr>
        <p:spPr>
          <a:xfrm>
            <a:off x="5486400" y="1929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Non-blocking I/O; concurrent request handling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164" name="CustomShape 63"/>
          <p:cNvSpPr/>
          <p:nvPr/>
        </p:nvSpPr>
        <p:spPr>
          <a:xfrm>
            <a:off x="4809600" y="2221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5" name="CustomShape 64"/>
          <p:cNvSpPr/>
          <p:nvPr/>
        </p:nvSpPr>
        <p:spPr>
          <a:xfrm>
            <a:off x="4827960" y="2331720"/>
            <a:ext cx="292320" cy="292320"/>
          </a:xfrm>
          <a:prstGeom prst="ellipse">
            <a:avLst/>
          </a:prstGeom>
          <a:solidFill>
            <a:srgbClr val="f4a727"/>
          </a:solidFill>
          <a:ln w="12600">
            <a:solidFill>
              <a:srgbClr val="f4a72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6" name="CustomShape 65"/>
          <p:cNvSpPr/>
          <p:nvPr/>
        </p:nvSpPr>
        <p:spPr>
          <a:xfrm>
            <a:off x="4827960" y="2331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3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167" name="Image 3" descr="preencoded.png"/>
          <p:cNvPicPr/>
          <p:nvPr/>
        </p:nvPicPr>
        <p:blipFill>
          <a:blip r:embed="rId4"/>
          <a:stretch/>
        </p:blipFill>
        <p:spPr>
          <a:xfrm>
            <a:off x="5193720" y="2359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1168" name="CustomShape 66"/>
          <p:cNvSpPr/>
          <p:nvPr/>
        </p:nvSpPr>
        <p:spPr>
          <a:xfrm>
            <a:off x="5486400" y="227700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Streaming APIs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69" name="CustomShape 67"/>
          <p:cNvSpPr/>
          <p:nvPr/>
        </p:nvSpPr>
        <p:spPr>
          <a:xfrm>
            <a:off x="5486400" y="2496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Token-by-token responses; real-time delivery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170" name="CustomShape 68"/>
          <p:cNvSpPr/>
          <p:nvPr/>
        </p:nvSpPr>
        <p:spPr>
          <a:xfrm>
            <a:off x="4809600" y="2788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1" name="CustomShape 69"/>
          <p:cNvSpPr/>
          <p:nvPr/>
        </p:nvSpPr>
        <p:spPr>
          <a:xfrm>
            <a:off x="4827960" y="2898720"/>
            <a:ext cx="292320" cy="292320"/>
          </a:xfrm>
          <a:prstGeom prst="ellipse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2" name="CustomShape 70"/>
          <p:cNvSpPr/>
          <p:nvPr/>
        </p:nvSpPr>
        <p:spPr>
          <a:xfrm>
            <a:off x="4827960" y="2898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4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173" name="Image 4" descr="preencoded.png"/>
          <p:cNvPicPr/>
          <p:nvPr/>
        </p:nvPicPr>
        <p:blipFill>
          <a:blip r:embed="rId5"/>
          <a:stretch/>
        </p:blipFill>
        <p:spPr>
          <a:xfrm>
            <a:off x="5193720" y="2926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1174" name="CustomShape 71"/>
          <p:cNvSpPr/>
          <p:nvPr/>
        </p:nvSpPr>
        <p:spPr>
          <a:xfrm>
            <a:off x="5486400" y="2843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Error Handling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75" name="CustomShape 72"/>
          <p:cNvSpPr/>
          <p:nvPr/>
        </p:nvSpPr>
        <p:spPr>
          <a:xfrm>
            <a:off x="5486400" y="3063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Structured errors; meaningful HTTP codes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176" name="CustomShape 73"/>
          <p:cNvSpPr/>
          <p:nvPr/>
        </p:nvSpPr>
        <p:spPr>
          <a:xfrm>
            <a:off x="4809600" y="3355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7" name="CustomShape 74"/>
          <p:cNvSpPr/>
          <p:nvPr/>
        </p:nvSpPr>
        <p:spPr>
          <a:xfrm>
            <a:off x="4827960" y="3465720"/>
            <a:ext cx="292320" cy="292320"/>
          </a:xfrm>
          <a:prstGeom prst="ellipse">
            <a:avLst/>
          </a:prstGeom>
          <a:solidFill>
            <a:srgbClr val="00c2cb"/>
          </a:solidFill>
          <a:ln w="12600">
            <a:solidFill>
              <a:srgbClr val="00c2c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8" name="CustomShape 75"/>
          <p:cNvSpPr/>
          <p:nvPr/>
        </p:nvSpPr>
        <p:spPr>
          <a:xfrm>
            <a:off x="4827960" y="346572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5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179" name="Image 5" descr="preencoded.png"/>
          <p:cNvPicPr/>
          <p:nvPr/>
        </p:nvPicPr>
        <p:blipFill>
          <a:blip r:embed="rId6"/>
          <a:stretch/>
        </p:blipFill>
        <p:spPr>
          <a:xfrm>
            <a:off x="5193720" y="3493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1180" name="CustomShape 76"/>
          <p:cNvSpPr/>
          <p:nvPr/>
        </p:nvSpPr>
        <p:spPr>
          <a:xfrm>
            <a:off x="5486400" y="3410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AI Deployment Basics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81" name="CustomShape 77"/>
          <p:cNvSpPr/>
          <p:nvPr/>
        </p:nvSpPr>
        <p:spPr>
          <a:xfrm>
            <a:off x="5486400" y="3630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Server setup; API lifecycle management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182" name="CustomShape 78"/>
          <p:cNvSpPr/>
          <p:nvPr/>
        </p:nvSpPr>
        <p:spPr>
          <a:xfrm>
            <a:off x="4809600" y="3922920"/>
            <a:ext cx="4004640" cy="529920"/>
          </a:xfrm>
          <a:prstGeom prst="rect">
            <a:avLst/>
          </a:prstGeom>
          <a:solidFill>
            <a:srgbClr val="1c3354"/>
          </a:solidFill>
          <a:ln w="12600">
            <a:solidFill>
              <a:srgbClr val="1c335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3" name="CustomShape 79"/>
          <p:cNvSpPr/>
          <p:nvPr/>
        </p:nvSpPr>
        <p:spPr>
          <a:xfrm>
            <a:off x="4827960" y="4032360"/>
            <a:ext cx="292320" cy="292320"/>
          </a:xfrm>
          <a:prstGeom prst="ellipse">
            <a:avLst/>
          </a:prstGeom>
          <a:solidFill>
            <a:srgbClr val="a78bfa"/>
          </a:solidFill>
          <a:ln w="126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4" name="CustomShape 80"/>
          <p:cNvSpPr/>
          <p:nvPr/>
        </p:nvSpPr>
        <p:spPr>
          <a:xfrm>
            <a:off x="4827960" y="4032360"/>
            <a:ext cx="292320" cy="29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d1b2a"/>
                </a:solidFill>
                <a:latin typeface="Trebuchet MS"/>
                <a:ea typeface="Trebuchet MS"/>
              </a:rPr>
              <a:t>6</a:t>
            </a:r>
            <a:endParaRPr b="0" lang="en-IN" sz="900" spc="-1" strike="noStrike">
              <a:latin typeface="Arial"/>
            </a:endParaRPr>
          </a:p>
        </p:txBody>
      </p:sp>
      <p:pic>
        <p:nvPicPr>
          <p:cNvPr id="1185" name="Image 6" descr="preencoded.png"/>
          <p:cNvPicPr/>
          <p:nvPr/>
        </p:nvPicPr>
        <p:blipFill>
          <a:blip r:embed="rId7"/>
          <a:stretch/>
        </p:blipFill>
        <p:spPr>
          <a:xfrm>
            <a:off x="5193720" y="4060080"/>
            <a:ext cx="219240" cy="219240"/>
          </a:xfrm>
          <a:prstGeom prst="rect">
            <a:avLst/>
          </a:prstGeom>
          <a:ln>
            <a:noFill/>
          </a:ln>
        </p:spPr>
      </p:pic>
      <p:sp>
        <p:nvSpPr>
          <p:cNvPr id="1186" name="CustomShape 81"/>
          <p:cNvSpPr/>
          <p:nvPr/>
        </p:nvSpPr>
        <p:spPr>
          <a:xfrm>
            <a:off x="5486400" y="3977640"/>
            <a:ext cx="3273120" cy="219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Trebuchet MS"/>
                <a:ea typeface="Trebuchet MS"/>
              </a:rPr>
              <a:t>Production AI Engineering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87" name="CustomShape 82"/>
          <p:cNvSpPr/>
          <p:nvPr/>
        </p:nvSpPr>
        <p:spPr>
          <a:xfrm>
            <a:off x="5486400" y="4197240"/>
            <a:ext cx="327312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9bb5c8"/>
                </a:solidFill>
                <a:latin typeface="Calibri"/>
                <a:ea typeface="Calibri"/>
              </a:rPr>
              <a:t>End-to-end: design, build, test, deploy</a:t>
            </a:r>
            <a:endParaRPr b="0" lang="en-IN" sz="780" spc="-1" strike="noStrike">
              <a:latin typeface="Arial"/>
            </a:endParaRPr>
          </a:p>
        </p:txBody>
      </p:sp>
      <p:sp>
        <p:nvSpPr>
          <p:cNvPr id="1188" name="CustomShape 83"/>
          <p:cNvSpPr/>
          <p:nvPr/>
        </p:nvSpPr>
        <p:spPr>
          <a:xfrm>
            <a:off x="4809600" y="4260960"/>
            <a:ext cx="4004640" cy="566640"/>
          </a:xfrm>
          <a:prstGeom prst="rect">
            <a:avLst/>
          </a:prstGeom>
          <a:solidFill>
            <a:srgbClr val="ff6b6b"/>
          </a:solidFill>
          <a:ln w="126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9" name="CustomShape 84"/>
          <p:cNvSpPr/>
          <p:nvPr/>
        </p:nvSpPr>
        <p:spPr>
          <a:xfrm>
            <a:off x="4809600" y="4260960"/>
            <a:ext cx="4004640" cy="566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✓  </a:t>
            </a:r>
            <a:r>
              <a:rPr b="1" lang="en-US" sz="1000" spc="-1" strike="noStrike">
                <a:solidFill>
                  <a:srgbClr val="ffffff"/>
                </a:solidFill>
                <a:latin typeface="Trebuchet MS"/>
                <a:ea typeface="Trebuchet MS"/>
              </a:rPr>
              <a:t>TRAINING SERIES COMPLETED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e8f4f8"/>
                </a:solidFill>
                <a:latin typeface="Calibri"/>
                <a:ea typeface="Calibri"/>
              </a:rPr>
              <a:t>Foundations → APIs → RAG → Agents → Production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190" name="CustomShape 85"/>
          <p:cNvSpPr/>
          <p:nvPr/>
        </p:nvSpPr>
        <p:spPr>
          <a:xfrm>
            <a:off x="0" y="4974480"/>
            <a:ext cx="9143640" cy="168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9bb5c8"/>
                </a:solidFill>
                <a:latin typeface="Calibri"/>
                <a:ea typeface="Calibri"/>
              </a:rPr>
              <a:t>GenAI Engineering Training Series  ·  Session 5 of 5 – FINAL</a:t>
            </a:r>
            <a:endParaRPr b="0" lang="en-IN" sz="7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LibreOffice/6.4.7.2$Linux_X86_64 LibreOffice_project/40$Build-2</Applicat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2026-06-04T11:13:11Z</dcterms:created>
  <dc:creator>PptxGenJS</dc:creator>
  <dc:description/>
  <dc:language>en-IN</dc:language>
  <cp:lastModifiedBy/>
  <dcterms:modified xsi:type="dcterms:W3CDTF">2026-06-09T10:49:07Z</dcterms:modified>
  <cp:revision>2</cp:revision>
  <dc:subject>PptxGenJS Presentation</dc:subject>
  <dc:title>GenAI Engineering Training – Day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3</vt:i4>
  </property>
  <property fmtid="{D5CDD505-2E9C-101B-9397-08002B2CF9AE}" pid="9" name="PresentationFormat">
    <vt:lpwstr>On-screen Show (16:9)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3</vt:i4>
  </property>
</Properties>
</file>